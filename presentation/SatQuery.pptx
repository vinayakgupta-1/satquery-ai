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680fc33-2a69-5334-0f13-96b0c8cc5966}">
          <p14:sldIdLst>
            <p14:sldId id="256"/>
            <p14:sldId id="257"/>
          </p14:sldIdLst>
        </p14:section>
        <p14:section name="Context" id="{d0031bc3-bb83-70cf-d409-008ddbfa8798}">
          <p14:sldIdLst>
            <p14:sldId id="258"/>
            <p14:sldId id="259"/>
            <p14:sldId id="260"/>
            <p14:sldId id="261"/>
          </p14:sldIdLst>
        </p14:section>
        <p14:section name="Solution" id="{13857af6-e157-c8b8-b47f-38527ad66312}">
          <p14:sldIdLst>
            <p14:sldId id="262"/>
            <p14:sldId id="263"/>
            <p14:sldId id="264"/>
          </p14:sldIdLst>
        </p14:section>
        <p14:section name="Build" id="{d495da7a-fc25-6a8e-9bbc-db473cf82876}">
          <p14:sldIdLst>
            <p14:sldId id="265"/>
            <p14:sldId id="266"/>
          </p14:sldIdLst>
        </p14:section>
        <p14:section name="Outcomes" id="{d14209fb-c17c-7512-ec09-b5ceccfc3130}">
          <p14:sldIdLst>
            <p14:sldId id="267"/>
            <p14:sldId id="268"/>
          </p14:sldIdLst>
        </p14:section>
        <p14:section name="Close" id="{5ddd9f97-de2a-90e2-b60d-4b5bff6ac9c3}">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25C"/>
                </a:solidFill>
                <a:latin typeface="+mn-lt"/>
              </a:defRPr>
            </a:pPr>
            <a:r>
              <a:rPr sz="1500" b="0" i="0" u="none" strike="noStrike">
                <a:solidFill>
                  <a:srgbClr val="14325C"/>
                </a:solidFill>
                <a:latin typeface="+mn-lt"/>
              </a:rPr>
              <a:t>RSVQA-LR accuracy, 500 test questions</a:t>
            </a:r>
          </a:p>
        </c:rich>
      </c:tx>
      <c:layout/>
      <c:overlay val="0"/>
    </c:title>
    <c:autoTitleDeleted val="0"/>
    <c:plotArea>
      <c:layout/>
      <c:barChart>
        <c:barDir val="bar"/>
        <c:grouping val="clustered"/>
        <c:varyColors val="0"/>
        <c:ser>
          <c:idx val="0"/>
          <c:order val="0"/>
          <c:tx>
            <c:strRef>
              <c:f>Sheet1!$B$1</c:f>
              <c:strCache>
                <c:ptCount val="1"/>
                <c:pt idx="0">
                  <c:v>Base Qwen2-VL-2B</c:v>
                </c:pt>
              </c:strCache>
            </c:strRef>
          </c:tx>
          <c:spPr>
            <a:solidFill>
              <a:srgbClr val="C9D1DB"/>
            </a:solidFill>
            <a:effectLst/>
          </c:spPr>
          <c:invertIfNegative val="0"/>
          <c:dLbls>
            <c:numFmt formatCode="0.0&quot;%&quot;" sourceLinked="0"/>
            <c:txPr>
              <a:bodyPr/>
              <a:lstStyle/>
              <a:p>
                <a:pPr>
                  <a:defRPr b="0" i="0" strike="noStrike" sz="1200" u="none">
                    <a:solidFill>
                      <a:srgbClr val="475262"/>
                    </a:solidFill>
                    <a:latin typeface="+mn-lt"/>
                  </a:defRPr>
                </a:pPr>
              </a:p>
            </c:txPr>
            <c:showLegendKey val="0"/>
            <c:showVal val="1"/>
            <c:showCatName val="0"/>
            <c:showSerName val="0"/>
            <c:showPercent val="0"/>
            <c:showBubbleSize val="0"/>
            <c:showLeaderLines val="0"/>
          </c:dLbls>
          <c:cat>
            <c:multiLvlStrRef>
              <c:f>Sheet1!$A$2:$A$5</c:f>
              <c:multiLvlStrCache>
                <c:ptCount val="4"/>
                <c:lvl>
                  <c:pt idx="0">
                    <c:v>Presence</c:v>
                  </c:pt>
                  <c:pt idx="1">
                    <c:v>Comparison</c:v>
                  </c:pt>
                  <c:pt idx="2">
                    <c:v>Rural or urban</c:v>
                  </c:pt>
                  <c:pt idx="3">
                    <c:v>Overall</c:v>
                  </c:pt>
                </c:lvl>
              </c:multiLvlStrCache>
            </c:multiLvlStrRef>
          </c:cat>
          <c:val>
            <c:numRef>
              <c:f>Sheet1!$B$2:$B$5</c:f>
              <c:numCache>
                <c:formatCode>General</c:formatCode>
                <c:ptCount val="4"/>
                <c:pt idx="0">
                  <c:v>47.3</c:v>
                </c:pt>
                <c:pt idx="1">
                  <c:v>65.9</c:v>
                </c:pt>
                <c:pt idx="2">
                  <c:v>66.7</c:v>
                </c:pt>
                <c:pt idx="3">
                  <c:v>58.4</c:v>
                </c:pt>
              </c:numCache>
            </c:numRef>
          </c:val>
        </c:ser>
        <c:ser>
          <c:idx val="1"/>
          <c:order val="1"/>
          <c:tx>
            <c:strRef>
              <c:f>Sheet1!$C$1</c:f>
              <c:strCache>
                <c:ptCount val="1"/>
                <c:pt idx="0">
                  <c:v>Fine-tuned with LoRA</c:v>
                </c:pt>
              </c:strCache>
            </c:strRef>
          </c:tx>
          <c:spPr>
            <a:solidFill>
              <a:srgbClr val="1D4E89"/>
            </a:solidFill>
            <a:effectLst/>
          </c:spPr>
          <c:invertIfNegative val="0"/>
          <c:dLbls>
            <c:numFmt formatCode="0.0&quot;%&quot;" sourceLinked="0"/>
            <c:txPr>
              <a:bodyPr/>
              <a:lstStyle/>
              <a:p>
                <a:pPr>
                  <a:defRPr b="0" i="0" strike="noStrike" sz="1200" u="none">
                    <a:solidFill>
                      <a:srgbClr val="475262"/>
                    </a:solidFill>
                    <a:latin typeface="+mn-lt"/>
                  </a:defRPr>
                </a:pPr>
              </a:p>
            </c:txPr>
            <c:showLegendKey val="0"/>
            <c:showVal val="1"/>
            <c:showCatName val="0"/>
            <c:showSerName val="0"/>
            <c:showPercent val="0"/>
            <c:showBubbleSize val="0"/>
            <c:showLeaderLines val="0"/>
          </c:dLbls>
          <c:cat>
            <c:multiLvlStrRef>
              <c:f>Sheet1!$A$2:$A$5</c:f>
              <c:multiLvlStrCache>
                <c:ptCount val="4"/>
                <c:lvl>
                  <c:pt idx="0">
                    <c:v>Presence</c:v>
                  </c:pt>
                  <c:pt idx="1">
                    <c:v>Comparison</c:v>
                  </c:pt>
                  <c:pt idx="2">
                    <c:v>Rural or urban</c:v>
                  </c:pt>
                  <c:pt idx="3">
                    <c:v>Overall</c:v>
                  </c:pt>
                </c:lvl>
              </c:multiLvlStrCache>
            </c:multiLvlStrRef>
          </c:cat>
          <c:val>
            <c:numRef>
              <c:f>Sheet1!$C$2:$C$5</c:f>
              <c:numCache>
                <c:formatCode>General</c:formatCode>
                <c:ptCount val="4"/>
                <c:pt idx="0">
                  <c:v>94</c:v>
                </c:pt>
                <c:pt idx="1">
                  <c:v>88.1</c:v>
                </c:pt>
                <c:pt idx="2">
                  <c:v>83.3</c:v>
                </c:pt>
                <c:pt idx="3">
                  <c:v>90.4</c:v>
                </c:pt>
              </c:numCache>
            </c:numRef>
          </c:val>
        </c:ser>
        <c:dLbls>
          <c:numFmt formatCode="0.0&quot;%&quot;" sourceLinked="0"/>
          <c:txPr>
            <a:bodyPr/>
            <a:lstStyle/>
            <a:p>
              <a:pPr>
                <a:defRPr b="0" i="0" strike="noStrike" sz="1200" u="none">
                  <a:solidFill>
                    <a:srgbClr val="47526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7202C"/>
                </a:solidFill>
                <a:latin typeface="+mn-lt"/>
              </a:defRPr>
            </a:pPr>
            <a:endParaRPr lang="en-US"/>
          </a:p>
        </c:txPr>
        <c:crossAx val="2094734552"/>
        <c:crosses val="autoZero"/>
        <c:auto val="1"/>
        <c:lblAlgn val="ctr"/>
        <c:noMultiLvlLbl val="1"/>
      </c:catAx>
      <c:valAx>
        <c:axId val="2094734552"/>
        <c:scaling>
          <c:orientation val="minMax"/>
          <c:max val="10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7526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statement number. The image is a real Sentinel-2 scene of Chilika Lake that SatQuery found and downloaded by itself when asked about the lake. SatQuery AI lets anyone ask a question about a place in plain language and get a verified satellite analysis back; it is live at the address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presentation follows the standard project format: context and problem first, then the proposed system and how it was built, then measured results, limits and the conclusion. The strip on the right is SatQuery’s flood map of Kochi.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data from the European Copernicus programme is open and frequent, but using it needs expertise: choosing a sensor, bands, an index and a threshold. SatQuery AI removes that barrier. The map is a real output: asked “How healthy is the vegetation around Pune?”, SatQuery fetched a Sentinel-2 scene and computed NDVI, a mean of 0.388. Green is dense vegetation; beige is built-up or bare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boxed sentence with the official wording of SIH26167 if it is required. The four barriers explain why simply attaching a chatbot to satellite images is not enough: the answer must come from measurement, on the right data,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maps to a part of the architecture: understanding, acquisition, the tool registry, validation, the fine-tuned vision-language model, and the grounded answer. All six are implemented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GIS gives correct numbers but needs an expert for every step, including searching for and downloading scenes. General-purpose chatbots accept plain questions but only look at a picture; they do not compute indices or report how reliable they are. Research models for remote-sensing VQA, trained on benchmarks such as RSVQA, answer fixed question types on prepared tiles. SatQuery AI combines the strengths of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is the separation of roles. The language model helps read the question, but it cannot run arbitrary code: tools come from a controlled registry, and a deterministic validator checks the imagery first. A reasoning error therefore becomes a precise refusal, never a confident wrong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passes through the same six steps. Understanding can use a hosted model or offline keyword rules, so the system still works without an AI key. Validation happens before execution, so an impossible request, such as NDVI on a radar image, is refused with a reason. In the worked example, radar sees through monsoon cloud; flooding is measured as new water compared with April, so rivers and the sea are not counted as flood.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accepts a single optical or radar image, an optical and radar pair, a before and after pair, or no image at all, in which case imagery is fetched for the named place. Stage 2 reads the question. Stage 3 plans and routes. Stage 4 has two engines: 4A, the vision-language model, in orange, and 4B, the deterministic remote-sensing tools, in blue; change-VQA uses both, measuring first and describing second. Stage 5 validates and scores confidence, and Stage 6 returns the answer with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used is free or open source. The deterministic analysis is plain Python on top of rasterio and NumPy. Hosted models run on Groq’s free tier; our own fine-tuned model was trained on a free Kaggle GPU and runs on a 4 GB laptop GPU in 4-bit precision. Imagery needs no account: Planetary Computer serves Sentinel data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system in six phases. First the backbone: a staged pipeline and a controlled tool registry. Second, the deterministic remote-sensing tools, tested on two raster back ends. Third, the hosted language and vision models, with offline rules so the system works without an AI key. Fourth, automatic imagery, so users never have to upload files. Fifth, our own fine-tuned model, trained on a free Kaggle GPU. Sixth, the web workspace, Docker packaging, continuous integration and public deployment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raised accuracy on the same 500 RSVQA-LR test questions from 58.4 to 90.4 percent; presence questions improved the most, from 47.3 to 94.0 percent. Training took about 55 minutes on one free Kaggle T4 GPU. Compressed to 4-bit, the model still scored 89.0 percent on 100 of the questions on an ordinary laptop GPU. The three maps are real answers from the system: Kochi flooding in August 2024 measured against a dry-season reference; vegetation health around Pune; and vegetation change around Hosur between 2019 and 2025, loss in orange and gain in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limits are mostly about budget, not design. A paid model quota, a GPU server and a paid training budget remove the first, second and fourth. BigEarthNet’s VQA edition has about 15 million questions, too large for a free Kaggle session. ISRO products need a Bhoonidhi account; the radar code already handles RISAT compact-polarisation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SatQuery AI makes satellite analysis available to people who are not remote-sensing experts, without giving up rigour. Answers come from validated, deterministic tools where measurement is possible and from a fine-tuned, benchmarked vision model where description is needed, and every answer shows its evidence. The image is SatQuery’s own flood map of Kochi.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is the benchmark used for fine-tuning and evaluation. [2] and [3] are the base model and the fine-tuning method. [4] to [6] define the spectral indices NDVI, NDWI and NDBI. [7] is the automatic threshold used for radar water mapping, and [8] measures agreement between optical and radar water maps in the fusion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If time allows, open the live system and ask a question such as “Find areas affected by flooding in Kochi in August 2024”. The first request after a quiet period can take about a minute while the free server wakes up, so open it a few minutes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imag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188720"/>
            <a:ext cx="5303520" cy="914400"/>
          </a:xfrm>
          <a:prstGeom prst="rect">
            <a:avLst/>
          </a:prstGeom>
          <a:noFill/>
          <a:ln/>
        </p:spPr>
        <p:txBody>
          <a:bodyPr wrap="square" rtlCol="0"/>
          <a:lstStyle>
            <a:lvl1pPr algn="l" indent="0" marL="0">
              <a:buNone/>
              <a:defRPr lang="en-US" sz="6000" b="1" dirty="0">
                <a:solidFill>
                  <a:schemeClr val="tx2"/>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812902" y="6236208"/>
            <a:ext cx="5486400" cy="274320"/>
          </a:xfrm>
          <a:prstGeom prst="rect">
            <a:avLst/>
          </a:prstGeom>
          <a:noFill/>
          <a:ln/>
        </p:spPr>
        <p:txBody>
          <a:bodyPr wrap="square" lIns="0" tIns="0" rIns="0" bIns="0" rtlCol="0" anchor="ctr"/>
          <a:lstStyle/>
          <a:p>
            <a:pPr indent="0" marL="0">
              <a:buNone/>
            </a:pPr>
            <a:r>
              <a:rPr lang="en-US" sz="1100" dirty="0">
                <a:solidFill>
                  <a:schemeClr val="accent4"/>
                </a:solidFill>
              </a:rPr>
              <a:t>SatQuery AI · Smart India Hackathon 2026</a:t>
            </a:r>
            <a:endParaRPr lang="en-US" sz="11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beside imag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539496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1097280"/>
            <a:ext cx="5394960" cy="13716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812902" y="6236208"/>
            <a:ext cx="4023360" cy="274320"/>
          </a:xfrm>
          <a:prstGeom prst="rect">
            <a:avLst/>
          </a:prstGeom>
          <a:noFill/>
          <a:ln/>
        </p:spPr>
        <p:txBody>
          <a:bodyPr wrap="square" lIns="0" tIns="0" rIns="0" bIns="0" rtlCol="0" anchor="ctr"/>
          <a:lstStyle/>
          <a:p>
            <a:pPr indent="0" marL="0">
              <a:buNone/>
            </a:pPr>
            <a:r>
              <a:rPr lang="en-US" sz="1100" dirty="0">
                <a:solidFill>
                  <a:schemeClr val="accent4"/>
                </a:solidFill>
              </a:rPr>
              <a:t>SatQuery AI · Smart India Hackathon 2026</a:t>
            </a:r>
            <a:endParaRPr lang="en-US" sz="1100" dirty="0"/>
          </a:p>
        </p:txBody>
      </p:sp>
      <p:sp>
        <p:nvSpPr>
          <p:cNvPr id="25" name="Slide Number Placeholder 0"/>
          <p:cNvSpPr>
            <a:spLocks noGrp="1"/>
          </p:cNvSpPr>
          <p:nvPr>
            <p:ph type="sldNum" sz="quarter" idx="4294967295"/>
          </p:nvPr>
        </p:nvSpPr>
        <p:spPr>
          <a:xfrm>
            <a:off x="571500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atquery-ai-s55c.onrender.com" TargetMode="External"/><Relationship Id="rId1" Type="http://schemas.openxmlformats.org/officeDocument/2006/relationships/image" Target="../media/image-1-1.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e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jpeg"/><Relationship Id="rId3" Type="http://schemas.openxmlformats.org/officeDocument/2006/relationships/image" Target="../media/image-12-2.jpeg"/><Relationship Id="rId4" Type="http://schemas.openxmlformats.org/officeDocument/2006/relationships/image" Target="../media/image-12-3.jpe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satquery-ai-s55c.onrender.com" TargetMode="External"/><Relationship Id="rId5" Type="http://schemas.openxmlformats.org/officeDocument/2006/relationships/hyperlink" Target="https://github.com/VinayakGupta-1/SatQuery-AI" TargetMode="External"/><Relationship Id="rId1" Type="http://schemas.openxmlformats.org/officeDocument/2006/relationships/image" Target="../media/image-16-1.jpeg"/><Relationship Id="rId2" Type="http://schemas.openxmlformats.org/officeDocument/2006/relationships/image" Target="../media/image-16-2.png"/><Relationship Id="rId4" Type="http://schemas.openxmlformats.org/officeDocument/2006/relationships/image" Target="../media/image-16-3.png"/><Relationship Id="rId6" Type="http://schemas.openxmlformats.org/officeDocument/2006/relationships/image" Target="../media/image-16-4.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Sentinel-2 true-colour image of Chilika Lake, Odisha, fetched by SatQuery">    </p:cNvPr>
          <p:cNvPicPr>
            <a:picLocks noChangeAspect="1"/>
          </p:cNvPicPr>
          <p:nvPr/>
        </p:nvPicPr>
        <p:blipFill>
          <a:blip r:embed="rId1"/>
          <a:stretch>
            <a:fillRect/>
          </a:stretch>
        </p:blipFill>
        <p:spPr>
          <a:xfrm>
            <a:off x="6705295" y="0"/>
            <a:ext cx="5486400" cy="6858000"/>
          </a:xfrm>
          <a:prstGeom prst="rect">
            <a:avLst/>
          </a:prstGeom>
        </p:spPr>
      </p:pic>
      <p:sp>
        <p:nvSpPr>
          <p:cNvPr id="3" name="Text 0"/>
          <p:cNvSpPr txBox="1"/>
          <p:nvPr/>
        </p:nvSpPr>
        <p:spPr>
          <a:xfrm>
            <a:off x="812902" y="812902"/>
            <a:ext cx="5394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SIH 2026 · PROBLEM STATEMENT SIH26167</a:t>
            </a:r>
            <a:endParaRPr lang="en-US" sz="1200" dirty="0"/>
          </a:p>
        </p:txBody>
      </p:sp>
      <p:sp>
        <p:nvSpPr>
          <p:cNvPr id="4" name="Text 0"/>
          <p:cNvSpPr/>
          <p:nvPr>
            <p:ph idx="100" type="title" hasCustomPrompt="1"/>
          </p:nvPr>
        </p:nvSpPr>
        <p:spPr>
          <a:xfrm>
            <a:off x="812902" y="1188720"/>
            <a:ext cx="5303520" cy="914400"/>
          </a:xfrm>
          <a:prstGeom prst="rect">
            <a:avLst/>
          </a:prstGeom>
          <a:noFill/>
          <a:ln/>
        </p:spPr>
        <p:txBody>
          <a:bodyPr wrap="square" lIns="0" tIns="0" rIns="0" bIns="0" rtlCol="0" anchor="t"/>
          <a:lstStyle/>
          <a:p>
            <a:pPr algn="l" indent="0" marL="0">
              <a:buNone/>
            </a:pPr>
            <a:r>
              <a:rPr lang="en-US" sz="6000" b="1" dirty="0">
                <a:solidFill>
                  <a:schemeClr val="tx2"/>
                </a:solidFill>
              </a:rPr>
              <a:t>SatQuery AI</a:t>
            </a:r>
            <a:endParaRPr lang="en-US" sz="6000" dirty="0"/>
          </a:p>
        </p:txBody>
      </p:sp>
      <p:sp>
        <p:nvSpPr>
          <p:cNvPr id="5" name="Text 2"/>
          <p:cNvSpPr txBox="1"/>
          <p:nvPr/>
        </p:nvSpPr>
        <p:spPr>
          <a:xfrm>
            <a:off x="812902" y="2194560"/>
            <a:ext cx="5303520" cy="822960"/>
          </a:xfrm>
          <a:prstGeom prst="rect">
            <a:avLst/>
          </a:prstGeom>
          <a:noFill/>
          <a:ln/>
        </p:spPr>
        <p:txBody>
          <a:bodyPr wrap="square" lIns="0" tIns="0" rIns="0" bIns="0" rtlCol="0" anchor="t"/>
          <a:lstStyle/>
          <a:p>
            <a:pPr indent="0" marL="0">
              <a:buNone/>
            </a:pPr>
            <a:r>
              <a:rPr lang="en-US" sz="2200" dirty="0">
                <a:solidFill>
                  <a:schemeClr val="accent3"/>
                </a:solidFill>
              </a:rPr>
              <a:t>Natural-language question answering over satellite imagery</a:t>
            </a:r>
            <a:endParaRPr lang="en-US" sz="2200" dirty="0"/>
          </a:p>
        </p:txBody>
      </p:sp>
      <p:sp>
        <p:nvSpPr>
          <p:cNvPr id="6" name="Text 3"/>
          <p:cNvSpPr txBox="1"/>
          <p:nvPr/>
        </p:nvSpPr>
        <p:spPr>
          <a:xfrm>
            <a:off x="812902" y="4297680"/>
            <a:ext cx="5303520" cy="256032"/>
          </a:xfrm>
          <a:prstGeom prst="rect">
            <a:avLst/>
          </a:prstGeom>
          <a:noFill/>
          <a:ln/>
        </p:spPr>
        <p:txBody>
          <a:bodyPr wrap="square" lIns="0" tIns="0" rIns="0" bIns="0" rtlCol="0" anchor="t"/>
          <a:lstStyle/>
          <a:p>
            <a:pPr indent="0" marL="0">
              <a:buNone/>
            </a:pPr>
            <a:r>
              <a:rPr lang="en-US" sz="1200" b="1" spc="100" kern="0" dirty="0">
                <a:solidFill>
                  <a:schemeClr val="accent4"/>
                </a:solidFill>
              </a:rPr>
              <a:t>PRESENTED BY</a:t>
            </a:r>
            <a:endParaRPr lang="en-US" sz="1200" dirty="0"/>
          </a:p>
        </p:txBody>
      </p:sp>
      <p:sp>
        <p:nvSpPr>
          <p:cNvPr id="7" name="Text 4"/>
          <p:cNvSpPr txBox="1"/>
          <p:nvPr/>
        </p:nvSpPr>
        <p:spPr>
          <a:xfrm>
            <a:off x="812902" y="4572000"/>
            <a:ext cx="5303520" cy="320040"/>
          </a:xfrm>
          <a:prstGeom prst="rect">
            <a:avLst/>
          </a:prstGeom>
          <a:noFill/>
          <a:ln/>
        </p:spPr>
        <p:txBody>
          <a:bodyPr wrap="square" lIns="0" tIns="0" rIns="0" bIns="0" rtlCol="0" anchor="t"/>
          <a:lstStyle/>
          <a:p>
            <a:pPr indent="0" marL="0">
              <a:buNone/>
            </a:pPr>
            <a:r>
              <a:rPr lang="en-US" sz="1600" dirty="0">
                <a:solidFill>
                  <a:schemeClr val="tx1"/>
                </a:solidFill>
              </a:rPr>
              <a:t>[Team name] · [Member names]</a:t>
            </a:r>
            <a:endParaRPr lang="en-US" sz="1600" dirty="0"/>
          </a:p>
        </p:txBody>
      </p:sp>
      <p:sp>
        <p:nvSpPr>
          <p:cNvPr id="8" name="Text 5"/>
          <p:cNvSpPr txBox="1"/>
          <p:nvPr/>
        </p:nvSpPr>
        <p:spPr>
          <a:xfrm>
            <a:off x="812902" y="4919472"/>
            <a:ext cx="5303520" cy="274320"/>
          </a:xfrm>
          <a:prstGeom prst="rect">
            <a:avLst/>
          </a:prstGeom>
          <a:noFill/>
          <a:ln/>
        </p:spPr>
        <p:txBody>
          <a:bodyPr wrap="square" lIns="0" tIns="0" rIns="0" bIns="0" rtlCol="0" anchor="t"/>
          <a:lstStyle/>
          <a:p>
            <a:pPr indent="0" marL="0">
              <a:buNone/>
            </a:pPr>
            <a:r>
              <a:rPr lang="en-US" sz="1300" dirty="0">
                <a:solidFill>
                  <a:schemeClr val="accent3"/>
                </a:solidFill>
              </a:rPr>
              <a:t>[Institution] · Guide: [Guide name] · [Date]</a:t>
            </a:r>
            <a:endParaRPr lang="en-US" sz="1300" dirty="0"/>
          </a:p>
        </p:txBody>
      </p:sp>
      <p:sp>
        <p:nvSpPr>
          <p:cNvPr id="9" name="Text 6"/>
          <p:cNvSpPr txBox="1"/>
          <p:nvPr/>
        </p:nvSpPr>
        <p:spPr>
          <a:xfrm>
            <a:off x="812902" y="5394960"/>
            <a:ext cx="5303520" cy="256032"/>
          </a:xfrm>
          <a:prstGeom prst="rect">
            <a:avLst/>
          </a:prstGeom>
          <a:noFill/>
          <a:ln/>
        </p:spPr>
        <p:txBody>
          <a:bodyPr wrap="square" lIns="0" tIns="0" rIns="0" bIns="0" rtlCol="0" anchor="t"/>
          <a:lstStyle/>
          <a:p>
            <a:pPr indent="0" marL="0">
              <a:buNone/>
            </a:pPr>
            <a:r>
              <a:rPr lang="en-US" sz="1200" b="1" spc="100" kern="0" dirty="0">
                <a:solidFill>
                  <a:schemeClr val="accent4"/>
                </a:solidFill>
              </a:rPr>
              <a:t>LIVE SYSTEM</a:t>
            </a:r>
            <a:endParaRPr lang="en-US" sz="1200" dirty="0"/>
          </a:p>
        </p:txBody>
      </p:sp>
      <p:sp>
        <p:nvSpPr>
          <p:cNvPr id="10" name="Text 7">
            <a:hlinkClick r:id="rId2" tooltip=""/>
          </p:cNvPr>
          <p:cNvSpPr txBox="1"/>
          <p:nvPr/>
        </p:nvSpPr>
        <p:spPr>
          <a:xfrm>
            <a:off x="812902" y="5669280"/>
            <a:ext cx="5303520" cy="320040"/>
          </a:xfrm>
          <a:prstGeom prst="rect">
            <a:avLst/>
          </a:prstGeom>
          <a:noFill/>
          <a:ln/>
        </p:spPr>
        <p:txBody>
          <a:bodyPr wrap="square" lIns="0" tIns="0" rIns="0" bIns="0" rtlCol="0" anchor="t"/>
          <a:lstStyle/>
          <a:p>
            <a:pPr indent="0" marL="0">
              <a:buNone/>
            </a:pPr>
            <a:r>
              <a:rPr lang="en-US" sz="16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satquery-ai-s55c.onrender.com</a:t>
            </a:r>
            <a:endParaRPr lang="en-US" sz="1600" dirty="0"/>
          </a:p>
        </p:txBody>
      </p:sp>
      <p:sp>
        <p:nvSpPr>
          <p:cNvPr id="11" name="Image caption"/>
          <p:cNvSpPr txBox="1"/>
          <p:nvPr/>
        </p:nvSpPr>
        <p:spPr>
          <a:xfrm>
            <a:off x="6909206" y="6172200"/>
            <a:ext cx="3566160" cy="384048"/>
          </a:xfrm>
          <a:prstGeom prst="roundRect">
            <a:avLst>
              <a:gd name="adj" fmla="val 14286"/>
            </a:avLst>
          </a:prstGeom>
          <a:solidFill>
            <a:schemeClr val="tx2">
              <a:alpha val="90000"/>
            </a:schemeClr>
          </a:solidFill>
          <a:ln/>
        </p:spPr>
        <p:txBody>
          <a:bodyPr wrap="square" lIns="0" tIns="0" rIns="0" bIns="0" rtlCol="0" anchor="ctr"/>
          <a:lstStyle/>
          <a:p>
            <a:pPr algn="ctr" indent="0" marL="0">
              <a:buNone/>
            </a:pPr>
            <a:r>
              <a:rPr lang="en-US" sz="1200" dirty="0">
                <a:solidFill>
                  <a:schemeClr val="bg1"/>
                </a:solidFill>
              </a:rPr>
              <a:t>Chilika Lake · Sentinel-2 via SatQuery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5394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02 · TABLE OF CONTENTS</a:t>
            </a:r>
            <a:endParaRPr lang="en-US" sz="1200" dirty="0"/>
          </a:p>
        </p:txBody>
      </p:sp>
      <p:sp>
        <p:nvSpPr>
          <p:cNvPr id="3" name="Text 0"/>
          <p:cNvSpPr/>
          <p:nvPr>
            <p:ph idx="101" type="title" hasCustomPrompt="1"/>
          </p:nvPr>
        </p:nvSpPr>
        <p:spPr>
          <a:xfrm>
            <a:off x="812902" y="1097280"/>
            <a:ext cx="5394960" cy="1371600"/>
          </a:xfrm>
          <a:prstGeom prst="rect">
            <a:avLst/>
          </a:prstGeom>
          <a:noFill/>
          <a:ln/>
        </p:spPr>
        <p:txBody>
          <a:bodyPr wrap="square" lIns="0" tIns="0" rIns="0" bIns="0" rtlCol="0" anchor="t"/>
          <a:lstStyle/>
          <a:p>
            <a:pPr algn="l" indent="0" marL="0">
              <a:buNone/>
            </a:pPr>
            <a:r>
              <a:rPr lang="en-US" sz="2800" b="1" dirty="0">
                <a:solidFill>
                  <a:schemeClr val="tx2"/>
                </a:solidFill>
              </a:rPr>
              <a:t>Contents</a:t>
            </a:r>
            <a:endParaRPr lang="en-US" sz="2800" dirty="0"/>
          </a:p>
        </p:txBody>
      </p:sp>
      <p:pic>
        <p:nvPicPr>
          <p:cNvPr id="4" name="Flood map strip" descr="preencoded.png">    </p:cNvPr>
          <p:cNvPicPr>
            <a:picLocks noChangeAspect="1"/>
          </p:cNvPicPr>
          <p:nvPr/>
        </p:nvPicPr>
        <p:blipFill>
          <a:blip r:embed="rId1"/>
          <a:stretch>
            <a:fillRect/>
          </a:stretch>
        </p:blipFill>
        <p:spPr>
          <a:xfrm>
            <a:off x="9549994" y="0"/>
            <a:ext cx="2641702" cy="6858000"/>
          </a:xfrm>
          <a:prstGeom prst="rect">
            <a:avLst/>
          </a:prstGeom>
        </p:spPr>
      </p:pic>
      <p:sp>
        <p:nvSpPr>
          <p:cNvPr id="5" name="Text 2"/>
          <p:cNvSpPr txBox="1"/>
          <p:nvPr/>
        </p:nvSpPr>
        <p:spPr>
          <a:xfrm>
            <a:off x="812902" y="1856232"/>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03</a:t>
            </a:r>
            <a:endParaRPr lang="en-US" sz="2000" dirty="0"/>
          </a:p>
        </p:txBody>
      </p:sp>
      <p:sp>
        <p:nvSpPr>
          <p:cNvPr id="6" name="Text 3"/>
          <p:cNvSpPr txBox="1"/>
          <p:nvPr/>
        </p:nvSpPr>
        <p:spPr>
          <a:xfrm>
            <a:off x="1452982" y="1901952"/>
            <a:ext cx="3429000" cy="347472"/>
          </a:xfrm>
          <a:prstGeom prst="rect">
            <a:avLst/>
          </a:prstGeom>
          <a:noFill/>
          <a:ln/>
        </p:spPr>
        <p:txBody>
          <a:bodyPr wrap="square" lIns="0" tIns="0" rIns="0" bIns="0" rtlCol="0" anchor="t"/>
          <a:lstStyle/>
          <a:p>
            <a:pPr indent="0" marL="0">
              <a:buNone/>
            </a:pPr>
            <a:r>
              <a:rPr lang="en-US" sz="1600" dirty="0">
                <a:solidFill>
                  <a:schemeClr val="tx1"/>
                </a:solidFill>
              </a:rPr>
              <a:t>Introduction</a:t>
            </a:r>
            <a:endParaRPr lang="en-US" sz="1600" dirty="0"/>
          </a:p>
        </p:txBody>
      </p:sp>
      <p:sp>
        <p:nvSpPr>
          <p:cNvPr id="7" name="Row rule"/>
          <p:cNvSpPr/>
          <p:nvPr/>
        </p:nvSpPr>
        <p:spPr>
          <a:xfrm>
            <a:off x="812902" y="2313432"/>
            <a:ext cx="4069080" cy="0"/>
          </a:xfrm>
          <a:prstGeom prst="line">
            <a:avLst/>
          </a:prstGeom>
          <a:noFill/>
          <a:ln w="9525">
            <a:solidFill>
              <a:srgbClr val="E1E5EA"/>
            </a:solidFill>
            <a:prstDash val="solid"/>
          </a:ln>
        </p:spPr>
      </p:sp>
      <p:sp>
        <p:nvSpPr>
          <p:cNvPr id="8" name="Text 5"/>
          <p:cNvSpPr txBox="1"/>
          <p:nvPr/>
        </p:nvSpPr>
        <p:spPr>
          <a:xfrm>
            <a:off x="812902" y="2423160"/>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04</a:t>
            </a:r>
            <a:endParaRPr lang="en-US" sz="2000" dirty="0"/>
          </a:p>
        </p:txBody>
      </p:sp>
      <p:sp>
        <p:nvSpPr>
          <p:cNvPr id="9" name="Text 6"/>
          <p:cNvSpPr txBox="1"/>
          <p:nvPr/>
        </p:nvSpPr>
        <p:spPr>
          <a:xfrm>
            <a:off x="1452982" y="2468880"/>
            <a:ext cx="3429000" cy="347472"/>
          </a:xfrm>
          <a:prstGeom prst="rect">
            <a:avLst/>
          </a:prstGeom>
          <a:noFill/>
          <a:ln/>
        </p:spPr>
        <p:txBody>
          <a:bodyPr wrap="square" lIns="0" tIns="0" rIns="0" bIns="0" rtlCol="0" anchor="t"/>
          <a:lstStyle/>
          <a:p>
            <a:pPr indent="0" marL="0">
              <a:buNone/>
            </a:pPr>
            <a:r>
              <a:rPr lang="en-US" sz="1600" dirty="0">
                <a:solidFill>
                  <a:schemeClr val="tx1"/>
                </a:solidFill>
              </a:rPr>
              <a:t>Problem Statement</a:t>
            </a:r>
            <a:endParaRPr lang="en-US" sz="1600" dirty="0"/>
          </a:p>
        </p:txBody>
      </p:sp>
      <p:sp>
        <p:nvSpPr>
          <p:cNvPr id="10" name="Row rule"/>
          <p:cNvSpPr/>
          <p:nvPr/>
        </p:nvSpPr>
        <p:spPr>
          <a:xfrm>
            <a:off x="812902" y="2880360"/>
            <a:ext cx="4069080" cy="0"/>
          </a:xfrm>
          <a:prstGeom prst="line">
            <a:avLst/>
          </a:prstGeom>
          <a:noFill/>
          <a:ln w="9525">
            <a:solidFill>
              <a:srgbClr val="E1E5EA"/>
            </a:solidFill>
            <a:prstDash val="solid"/>
          </a:ln>
        </p:spPr>
      </p:sp>
      <p:sp>
        <p:nvSpPr>
          <p:cNvPr id="11" name="Text 8"/>
          <p:cNvSpPr txBox="1"/>
          <p:nvPr/>
        </p:nvSpPr>
        <p:spPr>
          <a:xfrm>
            <a:off x="812902" y="2990088"/>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05</a:t>
            </a:r>
            <a:endParaRPr lang="en-US" sz="2000" dirty="0"/>
          </a:p>
        </p:txBody>
      </p:sp>
      <p:sp>
        <p:nvSpPr>
          <p:cNvPr id="12" name="Text 9"/>
          <p:cNvSpPr txBox="1"/>
          <p:nvPr/>
        </p:nvSpPr>
        <p:spPr>
          <a:xfrm>
            <a:off x="1452982" y="3035808"/>
            <a:ext cx="3429000" cy="347472"/>
          </a:xfrm>
          <a:prstGeom prst="rect">
            <a:avLst/>
          </a:prstGeom>
          <a:noFill/>
          <a:ln/>
        </p:spPr>
        <p:txBody>
          <a:bodyPr wrap="square" lIns="0" tIns="0" rIns="0" bIns="0" rtlCol="0" anchor="t"/>
          <a:lstStyle/>
          <a:p>
            <a:pPr indent="0" marL="0">
              <a:buNone/>
            </a:pPr>
            <a:r>
              <a:rPr lang="en-US" sz="1600" dirty="0">
                <a:solidFill>
                  <a:schemeClr val="tx1"/>
                </a:solidFill>
              </a:rPr>
              <a:t>Objectives</a:t>
            </a:r>
            <a:endParaRPr lang="en-US" sz="1600" dirty="0"/>
          </a:p>
        </p:txBody>
      </p:sp>
      <p:sp>
        <p:nvSpPr>
          <p:cNvPr id="13" name="Row rule"/>
          <p:cNvSpPr/>
          <p:nvPr/>
        </p:nvSpPr>
        <p:spPr>
          <a:xfrm>
            <a:off x="812902" y="3447288"/>
            <a:ext cx="4069080" cy="0"/>
          </a:xfrm>
          <a:prstGeom prst="line">
            <a:avLst/>
          </a:prstGeom>
          <a:noFill/>
          <a:ln w="9525">
            <a:solidFill>
              <a:srgbClr val="E1E5EA"/>
            </a:solidFill>
            <a:prstDash val="solid"/>
          </a:ln>
        </p:spPr>
      </p:sp>
      <p:sp>
        <p:nvSpPr>
          <p:cNvPr id="14" name="Text 11"/>
          <p:cNvSpPr txBox="1"/>
          <p:nvPr/>
        </p:nvSpPr>
        <p:spPr>
          <a:xfrm>
            <a:off x="812902" y="3557016"/>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06</a:t>
            </a:r>
            <a:endParaRPr lang="en-US" sz="2000" dirty="0"/>
          </a:p>
        </p:txBody>
      </p:sp>
      <p:sp>
        <p:nvSpPr>
          <p:cNvPr id="15" name="Text 12"/>
          <p:cNvSpPr txBox="1"/>
          <p:nvPr/>
        </p:nvSpPr>
        <p:spPr>
          <a:xfrm>
            <a:off x="1452982" y="3602736"/>
            <a:ext cx="3429000" cy="347472"/>
          </a:xfrm>
          <a:prstGeom prst="rect">
            <a:avLst/>
          </a:prstGeom>
          <a:noFill/>
          <a:ln/>
        </p:spPr>
        <p:txBody>
          <a:bodyPr wrap="square" lIns="0" tIns="0" rIns="0" bIns="0" rtlCol="0" anchor="t"/>
          <a:lstStyle/>
          <a:p>
            <a:pPr indent="0" marL="0">
              <a:buNone/>
            </a:pPr>
            <a:r>
              <a:rPr lang="en-US" sz="1600" dirty="0">
                <a:solidFill>
                  <a:schemeClr val="tx1"/>
                </a:solidFill>
              </a:rPr>
              <a:t>Existing System</a:t>
            </a:r>
            <a:endParaRPr lang="en-US" sz="1600" dirty="0"/>
          </a:p>
        </p:txBody>
      </p:sp>
      <p:sp>
        <p:nvSpPr>
          <p:cNvPr id="16" name="Row rule"/>
          <p:cNvSpPr/>
          <p:nvPr/>
        </p:nvSpPr>
        <p:spPr>
          <a:xfrm>
            <a:off x="812902" y="4014216"/>
            <a:ext cx="4069080" cy="0"/>
          </a:xfrm>
          <a:prstGeom prst="line">
            <a:avLst/>
          </a:prstGeom>
          <a:noFill/>
          <a:ln w="9525">
            <a:solidFill>
              <a:srgbClr val="E1E5EA"/>
            </a:solidFill>
            <a:prstDash val="solid"/>
          </a:ln>
        </p:spPr>
      </p:sp>
      <p:sp>
        <p:nvSpPr>
          <p:cNvPr id="17" name="Text 14"/>
          <p:cNvSpPr txBox="1"/>
          <p:nvPr/>
        </p:nvSpPr>
        <p:spPr>
          <a:xfrm>
            <a:off x="812902" y="4123944"/>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07</a:t>
            </a:r>
            <a:endParaRPr lang="en-US" sz="2000" dirty="0"/>
          </a:p>
        </p:txBody>
      </p:sp>
      <p:sp>
        <p:nvSpPr>
          <p:cNvPr id="18" name="Text 15"/>
          <p:cNvSpPr txBox="1"/>
          <p:nvPr/>
        </p:nvSpPr>
        <p:spPr>
          <a:xfrm>
            <a:off x="1452982" y="4169664"/>
            <a:ext cx="3429000" cy="347472"/>
          </a:xfrm>
          <a:prstGeom prst="rect">
            <a:avLst/>
          </a:prstGeom>
          <a:noFill/>
          <a:ln/>
        </p:spPr>
        <p:txBody>
          <a:bodyPr wrap="square" lIns="0" tIns="0" rIns="0" bIns="0" rtlCol="0" anchor="t"/>
          <a:lstStyle/>
          <a:p>
            <a:pPr indent="0" marL="0">
              <a:buNone/>
            </a:pPr>
            <a:r>
              <a:rPr lang="en-US" sz="1600" dirty="0">
                <a:solidFill>
                  <a:schemeClr val="tx1"/>
                </a:solidFill>
              </a:rPr>
              <a:t>Proposed System</a:t>
            </a:r>
            <a:endParaRPr lang="en-US" sz="1600" dirty="0"/>
          </a:p>
        </p:txBody>
      </p:sp>
      <p:sp>
        <p:nvSpPr>
          <p:cNvPr id="19" name="Row rule"/>
          <p:cNvSpPr/>
          <p:nvPr/>
        </p:nvSpPr>
        <p:spPr>
          <a:xfrm>
            <a:off x="812902" y="4581144"/>
            <a:ext cx="4069080" cy="0"/>
          </a:xfrm>
          <a:prstGeom prst="line">
            <a:avLst/>
          </a:prstGeom>
          <a:noFill/>
          <a:ln w="9525">
            <a:solidFill>
              <a:srgbClr val="E1E5EA"/>
            </a:solidFill>
            <a:prstDash val="solid"/>
          </a:ln>
        </p:spPr>
      </p:sp>
      <p:sp>
        <p:nvSpPr>
          <p:cNvPr id="20" name="Text 17"/>
          <p:cNvSpPr txBox="1"/>
          <p:nvPr/>
        </p:nvSpPr>
        <p:spPr>
          <a:xfrm>
            <a:off x="812902" y="4690872"/>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08</a:t>
            </a:r>
            <a:endParaRPr lang="en-US" sz="2000" dirty="0"/>
          </a:p>
        </p:txBody>
      </p:sp>
      <p:sp>
        <p:nvSpPr>
          <p:cNvPr id="21" name="Text 18"/>
          <p:cNvSpPr txBox="1"/>
          <p:nvPr/>
        </p:nvSpPr>
        <p:spPr>
          <a:xfrm>
            <a:off x="1452982" y="4736592"/>
            <a:ext cx="3429000" cy="347472"/>
          </a:xfrm>
          <a:prstGeom prst="rect">
            <a:avLst/>
          </a:prstGeom>
          <a:noFill/>
          <a:ln/>
        </p:spPr>
        <p:txBody>
          <a:bodyPr wrap="square" lIns="0" tIns="0" rIns="0" bIns="0" rtlCol="0" anchor="t"/>
          <a:lstStyle/>
          <a:p>
            <a:pPr indent="0" marL="0">
              <a:buNone/>
            </a:pPr>
            <a:r>
              <a:rPr lang="en-US" sz="1600" dirty="0">
                <a:solidFill>
                  <a:schemeClr val="tx1"/>
                </a:solidFill>
              </a:rPr>
              <a:t>Methodology</a:t>
            </a:r>
            <a:endParaRPr lang="en-US" sz="1600" dirty="0"/>
          </a:p>
        </p:txBody>
      </p:sp>
      <p:sp>
        <p:nvSpPr>
          <p:cNvPr id="22" name="Row rule"/>
          <p:cNvSpPr/>
          <p:nvPr/>
        </p:nvSpPr>
        <p:spPr>
          <a:xfrm>
            <a:off x="812902" y="5148072"/>
            <a:ext cx="4069080" cy="0"/>
          </a:xfrm>
          <a:prstGeom prst="line">
            <a:avLst/>
          </a:prstGeom>
          <a:noFill/>
          <a:ln w="9525">
            <a:solidFill>
              <a:srgbClr val="E1E5EA"/>
            </a:solidFill>
            <a:prstDash val="solid"/>
          </a:ln>
        </p:spPr>
      </p:sp>
      <p:sp>
        <p:nvSpPr>
          <p:cNvPr id="23" name="Text 20"/>
          <p:cNvSpPr txBox="1"/>
          <p:nvPr/>
        </p:nvSpPr>
        <p:spPr>
          <a:xfrm>
            <a:off x="812902" y="5257800"/>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09</a:t>
            </a:r>
            <a:endParaRPr lang="en-US" sz="2000" dirty="0"/>
          </a:p>
        </p:txBody>
      </p:sp>
      <p:sp>
        <p:nvSpPr>
          <p:cNvPr id="24" name="Text 21"/>
          <p:cNvSpPr txBox="1"/>
          <p:nvPr/>
        </p:nvSpPr>
        <p:spPr>
          <a:xfrm>
            <a:off x="1452982" y="5303520"/>
            <a:ext cx="3429000" cy="347472"/>
          </a:xfrm>
          <a:prstGeom prst="rect">
            <a:avLst/>
          </a:prstGeom>
          <a:noFill/>
          <a:ln/>
        </p:spPr>
        <p:txBody>
          <a:bodyPr wrap="square" lIns="0" tIns="0" rIns="0" bIns="0" rtlCol="0" anchor="t"/>
          <a:lstStyle/>
          <a:p>
            <a:pPr indent="0" marL="0">
              <a:buNone/>
            </a:pPr>
            <a:r>
              <a:rPr lang="en-US" sz="1600" dirty="0">
                <a:solidFill>
                  <a:schemeClr val="tx1"/>
                </a:solidFill>
              </a:rPr>
              <a:t>System Design / Architecture</a:t>
            </a:r>
            <a:endParaRPr lang="en-US" sz="1600" dirty="0"/>
          </a:p>
        </p:txBody>
      </p:sp>
      <p:sp>
        <p:nvSpPr>
          <p:cNvPr id="25" name="Row rule"/>
          <p:cNvSpPr/>
          <p:nvPr/>
        </p:nvSpPr>
        <p:spPr>
          <a:xfrm>
            <a:off x="812902" y="5715000"/>
            <a:ext cx="4069080" cy="0"/>
          </a:xfrm>
          <a:prstGeom prst="line">
            <a:avLst/>
          </a:prstGeom>
          <a:noFill/>
          <a:ln w="9525">
            <a:solidFill>
              <a:srgbClr val="E1E5EA"/>
            </a:solidFill>
            <a:prstDash val="solid"/>
          </a:ln>
        </p:spPr>
      </p:sp>
      <p:sp>
        <p:nvSpPr>
          <p:cNvPr id="26" name="Text 23"/>
          <p:cNvSpPr txBox="1"/>
          <p:nvPr/>
        </p:nvSpPr>
        <p:spPr>
          <a:xfrm>
            <a:off x="5156302" y="1856232"/>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10</a:t>
            </a:r>
            <a:endParaRPr lang="en-US" sz="2000" dirty="0"/>
          </a:p>
        </p:txBody>
      </p:sp>
      <p:sp>
        <p:nvSpPr>
          <p:cNvPr id="27" name="Text 24"/>
          <p:cNvSpPr txBox="1"/>
          <p:nvPr/>
        </p:nvSpPr>
        <p:spPr>
          <a:xfrm>
            <a:off x="5796382" y="1901952"/>
            <a:ext cx="3429000" cy="347472"/>
          </a:xfrm>
          <a:prstGeom prst="rect">
            <a:avLst/>
          </a:prstGeom>
          <a:noFill/>
          <a:ln/>
        </p:spPr>
        <p:txBody>
          <a:bodyPr wrap="square" lIns="0" tIns="0" rIns="0" bIns="0" rtlCol="0" anchor="t"/>
          <a:lstStyle/>
          <a:p>
            <a:pPr indent="0" marL="0">
              <a:buNone/>
            </a:pPr>
            <a:r>
              <a:rPr lang="en-US" sz="1600" dirty="0">
                <a:solidFill>
                  <a:schemeClr val="tx1"/>
                </a:solidFill>
              </a:rPr>
              <a:t>Tools and Technologies</a:t>
            </a:r>
            <a:endParaRPr lang="en-US" sz="1600" dirty="0"/>
          </a:p>
        </p:txBody>
      </p:sp>
      <p:sp>
        <p:nvSpPr>
          <p:cNvPr id="28" name="Row rule"/>
          <p:cNvSpPr/>
          <p:nvPr/>
        </p:nvSpPr>
        <p:spPr>
          <a:xfrm>
            <a:off x="5156302" y="2313432"/>
            <a:ext cx="4069080" cy="0"/>
          </a:xfrm>
          <a:prstGeom prst="line">
            <a:avLst/>
          </a:prstGeom>
          <a:noFill/>
          <a:ln w="9525">
            <a:solidFill>
              <a:srgbClr val="E1E5EA"/>
            </a:solidFill>
            <a:prstDash val="solid"/>
          </a:ln>
        </p:spPr>
      </p:sp>
      <p:sp>
        <p:nvSpPr>
          <p:cNvPr id="29" name="Text 26"/>
          <p:cNvSpPr txBox="1"/>
          <p:nvPr/>
        </p:nvSpPr>
        <p:spPr>
          <a:xfrm>
            <a:off x="5156302" y="2423160"/>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11</a:t>
            </a:r>
            <a:endParaRPr lang="en-US" sz="2000" dirty="0"/>
          </a:p>
        </p:txBody>
      </p:sp>
      <p:sp>
        <p:nvSpPr>
          <p:cNvPr id="30" name="Text 27"/>
          <p:cNvSpPr txBox="1"/>
          <p:nvPr/>
        </p:nvSpPr>
        <p:spPr>
          <a:xfrm>
            <a:off x="5796382" y="2468880"/>
            <a:ext cx="3429000" cy="347472"/>
          </a:xfrm>
          <a:prstGeom prst="rect">
            <a:avLst/>
          </a:prstGeom>
          <a:noFill/>
          <a:ln/>
        </p:spPr>
        <p:txBody>
          <a:bodyPr wrap="square" lIns="0" tIns="0" rIns="0" bIns="0" rtlCol="0" anchor="t"/>
          <a:lstStyle/>
          <a:p>
            <a:pPr indent="0" marL="0">
              <a:buNone/>
            </a:pPr>
            <a:r>
              <a:rPr lang="en-US" sz="1600" dirty="0">
                <a:solidFill>
                  <a:schemeClr val="tx1"/>
                </a:solidFill>
              </a:rPr>
              <a:t>Implementation</a:t>
            </a:r>
            <a:endParaRPr lang="en-US" sz="1600" dirty="0"/>
          </a:p>
        </p:txBody>
      </p:sp>
      <p:sp>
        <p:nvSpPr>
          <p:cNvPr id="31" name="Row rule"/>
          <p:cNvSpPr/>
          <p:nvPr/>
        </p:nvSpPr>
        <p:spPr>
          <a:xfrm>
            <a:off x="5156302" y="2880360"/>
            <a:ext cx="4069080" cy="0"/>
          </a:xfrm>
          <a:prstGeom prst="line">
            <a:avLst/>
          </a:prstGeom>
          <a:noFill/>
          <a:ln w="9525">
            <a:solidFill>
              <a:srgbClr val="E1E5EA"/>
            </a:solidFill>
            <a:prstDash val="solid"/>
          </a:ln>
        </p:spPr>
      </p:sp>
      <p:sp>
        <p:nvSpPr>
          <p:cNvPr id="32" name="Text 29"/>
          <p:cNvSpPr txBox="1"/>
          <p:nvPr/>
        </p:nvSpPr>
        <p:spPr>
          <a:xfrm>
            <a:off x="5156302" y="2990088"/>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12</a:t>
            </a:r>
            <a:endParaRPr lang="en-US" sz="2000" dirty="0"/>
          </a:p>
        </p:txBody>
      </p:sp>
      <p:sp>
        <p:nvSpPr>
          <p:cNvPr id="33" name="Text 30"/>
          <p:cNvSpPr txBox="1"/>
          <p:nvPr/>
        </p:nvSpPr>
        <p:spPr>
          <a:xfrm>
            <a:off x="5796382" y="3035808"/>
            <a:ext cx="3429000" cy="347472"/>
          </a:xfrm>
          <a:prstGeom prst="rect">
            <a:avLst/>
          </a:prstGeom>
          <a:noFill/>
          <a:ln/>
        </p:spPr>
        <p:txBody>
          <a:bodyPr wrap="square" lIns="0" tIns="0" rIns="0" bIns="0" rtlCol="0" anchor="t"/>
          <a:lstStyle/>
          <a:p>
            <a:pPr indent="0" marL="0">
              <a:buNone/>
            </a:pPr>
            <a:r>
              <a:rPr lang="en-US" sz="1600" dirty="0">
                <a:solidFill>
                  <a:schemeClr val="tx1"/>
                </a:solidFill>
              </a:rPr>
              <a:t>Results and Discussion</a:t>
            </a:r>
            <a:endParaRPr lang="en-US" sz="1600" dirty="0"/>
          </a:p>
        </p:txBody>
      </p:sp>
      <p:sp>
        <p:nvSpPr>
          <p:cNvPr id="34" name="Row rule"/>
          <p:cNvSpPr/>
          <p:nvPr/>
        </p:nvSpPr>
        <p:spPr>
          <a:xfrm>
            <a:off x="5156302" y="3447288"/>
            <a:ext cx="4069080" cy="0"/>
          </a:xfrm>
          <a:prstGeom prst="line">
            <a:avLst/>
          </a:prstGeom>
          <a:noFill/>
          <a:ln w="9525">
            <a:solidFill>
              <a:srgbClr val="E1E5EA"/>
            </a:solidFill>
            <a:prstDash val="solid"/>
          </a:ln>
        </p:spPr>
      </p:sp>
      <p:sp>
        <p:nvSpPr>
          <p:cNvPr id="35" name="Text 32"/>
          <p:cNvSpPr txBox="1"/>
          <p:nvPr/>
        </p:nvSpPr>
        <p:spPr>
          <a:xfrm>
            <a:off x="5156302" y="3557016"/>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13</a:t>
            </a:r>
            <a:endParaRPr lang="en-US" sz="2000" dirty="0"/>
          </a:p>
        </p:txBody>
      </p:sp>
      <p:sp>
        <p:nvSpPr>
          <p:cNvPr id="36" name="Text 33"/>
          <p:cNvSpPr txBox="1"/>
          <p:nvPr/>
        </p:nvSpPr>
        <p:spPr>
          <a:xfrm>
            <a:off x="5796382" y="3602736"/>
            <a:ext cx="3429000" cy="347472"/>
          </a:xfrm>
          <a:prstGeom prst="rect">
            <a:avLst/>
          </a:prstGeom>
          <a:noFill/>
          <a:ln/>
        </p:spPr>
        <p:txBody>
          <a:bodyPr wrap="square" lIns="0" tIns="0" rIns="0" bIns="0" rtlCol="0" anchor="t"/>
          <a:lstStyle/>
          <a:p>
            <a:pPr indent="0" marL="0">
              <a:buNone/>
            </a:pPr>
            <a:r>
              <a:rPr lang="en-US" sz="1600" dirty="0">
                <a:solidFill>
                  <a:schemeClr val="tx1"/>
                </a:solidFill>
              </a:rPr>
              <a:t>Limitations and Future Scope</a:t>
            </a:r>
            <a:endParaRPr lang="en-US" sz="1600" dirty="0"/>
          </a:p>
        </p:txBody>
      </p:sp>
      <p:sp>
        <p:nvSpPr>
          <p:cNvPr id="37" name="Row rule"/>
          <p:cNvSpPr/>
          <p:nvPr/>
        </p:nvSpPr>
        <p:spPr>
          <a:xfrm>
            <a:off x="5156302" y="4014216"/>
            <a:ext cx="4069080" cy="0"/>
          </a:xfrm>
          <a:prstGeom prst="line">
            <a:avLst/>
          </a:prstGeom>
          <a:noFill/>
          <a:ln w="9525">
            <a:solidFill>
              <a:srgbClr val="E1E5EA"/>
            </a:solidFill>
            <a:prstDash val="solid"/>
          </a:ln>
        </p:spPr>
      </p:sp>
      <p:sp>
        <p:nvSpPr>
          <p:cNvPr id="38" name="Text 35"/>
          <p:cNvSpPr txBox="1"/>
          <p:nvPr/>
        </p:nvSpPr>
        <p:spPr>
          <a:xfrm>
            <a:off x="5156302" y="4123944"/>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14</a:t>
            </a:r>
            <a:endParaRPr lang="en-US" sz="2000" dirty="0"/>
          </a:p>
        </p:txBody>
      </p:sp>
      <p:sp>
        <p:nvSpPr>
          <p:cNvPr id="39" name="Text 36"/>
          <p:cNvSpPr txBox="1"/>
          <p:nvPr/>
        </p:nvSpPr>
        <p:spPr>
          <a:xfrm>
            <a:off x="5796382" y="4169664"/>
            <a:ext cx="3429000" cy="347472"/>
          </a:xfrm>
          <a:prstGeom prst="rect">
            <a:avLst/>
          </a:prstGeom>
          <a:noFill/>
          <a:ln/>
        </p:spPr>
        <p:txBody>
          <a:bodyPr wrap="square" lIns="0" tIns="0" rIns="0" bIns="0" rtlCol="0" anchor="t"/>
          <a:lstStyle/>
          <a:p>
            <a:pPr indent="0" marL="0">
              <a:buNone/>
            </a:pPr>
            <a:r>
              <a:rPr lang="en-US" sz="1600" dirty="0">
                <a:solidFill>
                  <a:schemeClr val="tx1"/>
                </a:solidFill>
              </a:rPr>
              <a:t>Conclusion</a:t>
            </a:r>
            <a:endParaRPr lang="en-US" sz="1600" dirty="0"/>
          </a:p>
        </p:txBody>
      </p:sp>
      <p:sp>
        <p:nvSpPr>
          <p:cNvPr id="40" name="Row rule"/>
          <p:cNvSpPr/>
          <p:nvPr/>
        </p:nvSpPr>
        <p:spPr>
          <a:xfrm>
            <a:off x="5156302" y="4581144"/>
            <a:ext cx="4069080" cy="0"/>
          </a:xfrm>
          <a:prstGeom prst="line">
            <a:avLst/>
          </a:prstGeom>
          <a:noFill/>
          <a:ln w="9525">
            <a:solidFill>
              <a:srgbClr val="E1E5EA"/>
            </a:solidFill>
            <a:prstDash val="solid"/>
          </a:ln>
        </p:spPr>
      </p:sp>
      <p:sp>
        <p:nvSpPr>
          <p:cNvPr id="41" name="Text 38"/>
          <p:cNvSpPr txBox="1"/>
          <p:nvPr/>
        </p:nvSpPr>
        <p:spPr>
          <a:xfrm>
            <a:off x="5156302" y="4690872"/>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15</a:t>
            </a:r>
            <a:endParaRPr lang="en-US" sz="2000" dirty="0"/>
          </a:p>
        </p:txBody>
      </p:sp>
      <p:sp>
        <p:nvSpPr>
          <p:cNvPr id="42" name="Text 39"/>
          <p:cNvSpPr txBox="1"/>
          <p:nvPr/>
        </p:nvSpPr>
        <p:spPr>
          <a:xfrm>
            <a:off x="5796382" y="4736592"/>
            <a:ext cx="3429000" cy="347472"/>
          </a:xfrm>
          <a:prstGeom prst="rect">
            <a:avLst/>
          </a:prstGeom>
          <a:noFill/>
          <a:ln/>
        </p:spPr>
        <p:txBody>
          <a:bodyPr wrap="square" lIns="0" tIns="0" rIns="0" bIns="0" rtlCol="0" anchor="t"/>
          <a:lstStyle/>
          <a:p>
            <a:pPr indent="0" marL="0">
              <a:buNone/>
            </a:pPr>
            <a:r>
              <a:rPr lang="en-US" sz="1600" dirty="0">
                <a:solidFill>
                  <a:schemeClr val="tx1"/>
                </a:solidFill>
              </a:rPr>
              <a:t>References</a:t>
            </a:r>
            <a:endParaRPr lang="en-US" sz="1600" dirty="0"/>
          </a:p>
        </p:txBody>
      </p:sp>
      <p:sp>
        <p:nvSpPr>
          <p:cNvPr id="43" name="Row rule"/>
          <p:cNvSpPr/>
          <p:nvPr/>
        </p:nvSpPr>
        <p:spPr>
          <a:xfrm>
            <a:off x="5156302" y="5148072"/>
            <a:ext cx="4069080" cy="0"/>
          </a:xfrm>
          <a:prstGeom prst="line">
            <a:avLst/>
          </a:prstGeom>
          <a:noFill/>
          <a:ln w="9525">
            <a:solidFill>
              <a:srgbClr val="E1E5EA"/>
            </a:solidFill>
            <a:prstDash val="solid"/>
          </a:ln>
        </p:spPr>
      </p:sp>
      <p:sp>
        <p:nvSpPr>
          <p:cNvPr id="44" name="Text 41"/>
          <p:cNvSpPr txBox="1"/>
          <p:nvPr/>
        </p:nvSpPr>
        <p:spPr>
          <a:xfrm>
            <a:off x="5156302" y="5257800"/>
            <a:ext cx="548640" cy="384048"/>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16</a:t>
            </a:r>
            <a:endParaRPr lang="en-US" sz="2000" dirty="0"/>
          </a:p>
        </p:txBody>
      </p:sp>
      <p:sp>
        <p:nvSpPr>
          <p:cNvPr id="45" name="Text 42"/>
          <p:cNvSpPr txBox="1"/>
          <p:nvPr/>
        </p:nvSpPr>
        <p:spPr>
          <a:xfrm>
            <a:off x="5796382" y="5303520"/>
            <a:ext cx="3429000" cy="347472"/>
          </a:xfrm>
          <a:prstGeom prst="rect">
            <a:avLst/>
          </a:prstGeom>
          <a:noFill/>
          <a:ln/>
        </p:spPr>
        <p:txBody>
          <a:bodyPr wrap="square" lIns="0" tIns="0" rIns="0" bIns="0" rtlCol="0" anchor="t"/>
          <a:lstStyle/>
          <a:p>
            <a:pPr indent="0" marL="0">
              <a:buNone/>
            </a:pPr>
            <a:r>
              <a:rPr lang="en-US" sz="1600" dirty="0">
                <a:solidFill>
                  <a:schemeClr val="tx1"/>
                </a:solidFill>
              </a:rPr>
              <a:t>Thank You</a:t>
            </a:r>
            <a:endParaRPr lang="en-US" sz="1600" dirty="0"/>
          </a:p>
        </p:txBody>
      </p:sp>
      <p:sp>
        <p:nvSpPr>
          <p:cNvPr id="46" name="Row rule"/>
          <p:cNvSpPr/>
          <p:nvPr/>
        </p:nvSpPr>
        <p:spPr>
          <a:xfrm>
            <a:off x="5156302" y="5715000"/>
            <a:ext cx="4069080" cy="0"/>
          </a:xfrm>
          <a:prstGeom prst="line">
            <a:avLst/>
          </a:prstGeom>
          <a:noFill/>
          <a:ln w="9525">
            <a:solidFill>
              <a:srgbClr val="E1E5EA"/>
            </a:solidFill>
            <a:prstDash val="solid"/>
          </a:ln>
        </p:spPr>
      </p:sp>
      <p:sp>
        <p:nvSpPr>
          <p:cNvPr id="25" name="Slide Number Placeholder 0"/>
          <p:cNvSpPr>
            <a:spLocks noGrp="1"/>
          </p:cNvSpPr>
          <p:nvPr>
            <p:ph type="sldNum" sz="quarter" idx="4294967295"/>
          </p:nvPr>
        </p:nvSpPr>
        <p:spPr>
          <a:xfrm>
            <a:off x="571500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03 · INTRODUCTION</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From open imagery to clear answers</a:t>
            </a:r>
            <a:endParaRPr lang="en-US" sz="3000" dirty="0"/>
          </a:p>
        </p:txBody>
      </p:sp>
      <p:sp>
        <p:nvSpPr>
          <p:cNvPr id="4" name="Text 2"/>
          <p:cNvSpPr txBox="1"/>
          <p:nvPr/>
        </p:nvSpPr>
        <p:spPr>
          <a:xfrm>
            <a:off x="812902" y="1856232"/>
            <a:ext cx="6035040" cy="1143000"/>
          </a:xfrm>
          <a:prstGeom prst="rect">
            <a:avLst/>
          </a:prstGeom>
          <a:noFill/>
          <a:ln/>
        </p:spPr>
        <p:txBody>
          <a:bodyPr wrap="square" lIns="0" tIns="0" rIns="0" bIns="0" rtlCol="0" anchor="t"/>
          <a:lstStyle/>
          <a:p>
            <a:pPr indent="0" marL="0">
              <a:lnSpc>
                <a:spcPct val="110000"/>
              </a:lnSpc>
              <a:buNone/>
            </a:pPr>
            <a:r>
              <a:rPr lang="en-US" sz="2100" dirty="0">
                <a:solidFill>
                  <a:schemeClr val="tx1"/>
                </a:solidFill>
                <a:latin typeface="Cambria" pitchFamily="34" charset="0"/>
                <a:ea typeface="Cambria" pitchFamily="34" charset="-122"/>
                <a:cs typeface="Cambria" pitchFamily="34" charset="-120"/>
              </a:rPr>
              <a:t>The Sentinel satellites image all of India every few days, free of charge. Turning those images into an answer still takes a specialist.</a:t>
            </a:r>
            <a:endParaRPr lang="en-US" sz="2100" dirty="0"/>
          </a:p>
        </p:txBody>
      </p:sp>
      <p:sp>
        <p:nvSpPr>
          <p:cNvPr id="5" name="Step Ask circle"/>
          <p:cNvSpPr/>
          <p:nvPr/>
        </p:nvSpPr>
        <p:spPr>
          <a:xfrm>
            <a:off x="812902" y="3291840"/>
            <a:ext cx="566928" cy="566928"/>
          </a:xfrm>
          <a:prstGeom prst="ellipse">
            <a:avLst/>
          </a:prstGeom>
          <a:solidFill>
            <a:schemeClr val="tx2"/>
          </a:solidFill>
          <a:ln w="12700">
            <a:solidFill>
              <a:schemeClr val="tx2"/>
            </a:solidFill>
            <a:prstDash val="solid"/>
          </a:ln>
        </p:spPr>
      </p:sp>
      <p:pic>
        <p:nvPicPr>
          <p:cNvPr id="6" name="Step Ask icon" descr="preencoded.png">    </p:cNvPr>
          <p:cNvPicPr>
            <a:picLocks noChangeAspect="1"/>
          </p:cNvPicPr>
          <p:nvPr/>
        </p:nvPicPr>
        <p:blipFill>
          <a:blip r:embed="rId1"/>
          <a:stretch>
            <a:fillRect/>
          </a:stretch>
        </p:blipFill>
        <p:spPr>
          <a:xfrm>
            <a:off x="965972" y="3444911"/>
            <a:ext cx="260787" cy="260787"/>
          </a:xfrm>
          <a:prstGeom prst="rect">
            <a:avLst/>
          </a:prstGeom>
        </p:spPr>
      </p:pic>
      <p:sp>
        <p:nvSpPr>
          <p:cNvPr id="7" name="Text 4"/>
          <p:cNvSpPr txBox="1"/>
          <p:nvPr/>
        </p:nvSpPr>
        <p:spPr>
          <a:xfrm>
            <a:off x="1608430" y="3310128"/>
            <a:ext cx="5239512" cy="292608"/>
          </a:xfrm>
          <a:prstGeom prst="rect">
            <a:avLst/>
          </a:prstGeom>
          <a:noFill/>
          <a:ln/>
        </p:spPr>
        <p:txBody>
          <a:bodyPr wrap="square" lIns="0" tIns="0" rIns="0" bIns="0" rtlCol="0" anchor="t"/>
          <a:lstStyle/>
          <a:p>
            <a:pPr indent="0" marL="0">
              <a:buNone/>
            </a:pPr>
            <a:r>
              <a:rPr lang="en-US" sz="1600" b="1" dirty="0">
                <a:solidFill>
                  <a:schemeClr val="tx2"/>
                </a:solidFill>
              </a:rPr>
              <a:t>Ask</a:t>
            </a:r>
            <a:endParaRPr lang="en-US" sz="1600" dirty="0"/>
          </a:p>
        </p:txBody>
      </p:sp>
      <p:sp>
        <p:nvSpPr>
          <p:cNvPr id="8" name="Text 5"/>
          <p:cNvSpPr txBox="1"/>
          <p:nvPr/>
        </p:nvSpPr>
        <p:spPr>
          <a:xfrm>
            <a:off x="1608430" y="3621024"/>
            <a:ext cx="5239512" cy="457200"/>
          </a:xfrm>
          <a:prstGeom prst="rect">
            <a:avLst/>
          </a:prstGeom>
          <a:noFill/>
          <a:ln/>
        </p:spPr>
        <p:txBody>
          <a:bodyPr wrap="square" lIns="0" tIns="0" rIns="0" bIns="0" rtlCol="0" anchor="t"/>
          <a:lstStyle/>
          <a:p>
            <a:pPr indent="0" marL="0">
              <a:buNone/>
            </a:pPr>
            <a:r>
              <a:rPr lang="en-US" sz="1400" dirty="0">
                <a:solidFill>
                  <a:schemeClr val="accent3"/>
                </a:solidFill>
              </a:rPr>
              <a:t>In English or Hindi, naming a place and a period</a:t>
            </a:r>
            <a:endParaRPr lang="en-US" sz="1400" dirty="0"/>
          </a:p>
        </p:txBody>
      </p:sp>
      <p:sp>
        <p:nvSpPr>
          <p:cNvPr id="9" name="Step Fetch circle"/>
          <p:cNvSpPr/>
          <p:nvPr/>
        </p:nvSpPr>
        <p:spPr>
          <a:xfrm>
            <a:off x="812902" y="4160520"/>
            <a:ext cx="566928" cy="566928"/>
          </a:xfrm>
          <a:prstGeom prst="ellipse">
            <a:avLst/>
          </a:prstGeom>
          <a:solidFill>
            <a:schemeClr val="tx2"/>
          </a:solidFill>
          <a:ln w="12700">
            <a:solidFill>
              <a:schemeClr val="tx2"/>
            </a:solidFill>
            <a:prstDash val="solid"/>
          </a:ln>
        </p:spPr>
      </p:sp>
      <p:pic>
        <p:nvPicPr>
          <p:cNvPr id="10" name="Step Fetch icon" descr="preencoded.png">    </p:cNvPr>
          <p:cNvPicPr>
            <a:picLocks noChangeAspect="1"/>
          </p:cNvPicPr>
          <p:nvPr/>
        </p:nvPicPr>
        <p:blipFill>
          <a:blip r:embed="rId2"/>
          <a:stretch>
            <a:fillRect/>
          </a:stretch>
        </p:blipFill>
        <p:spPr>
          <a:xfrm>
            <a:off x="965972" y="4313591"/>
            <a:ext cx="260787" cy="260787"/>
          </a:xfrm>
          <a:prstGeom prst="rect">
            <a:avLst/>
          </a:prstGeom>
        </p:spPr>
      </p:pic>
      <p:sp>
        <p:nvSpPr>
          <p:cNvPr id="11" name="Text 7"/>
          <p:cNvSpPr txBox="1"/>
          <p:nvPr/>
        </p:nvSpPr>
        <p:spPr>
          <a:xfrm>
            <a:off x="1608430" y="4178808"/>
            <a:ext cx="5239512" cy="292608"/>
          </a:xfrm>
          <a:prstGeom prst="rect">
            <a:avLst/>
          </a:prstGeom>
          <a:noFill/>
          <a:ln/>
        </p:spPr>
        <p:txBody>
          <a:bodyPr wrap="square" lIns="0" tIns="0" rIns="0" bIns="0" rtlCol="0" anchor="t"/>
          <a:lstStyle/>
          <a:p>
            <a:pPr indent="0" marL="0">
              <a:buNone/>
            </a:pPr>
            <a:r>
              <a:rPr lang="en-US" sz="1600" b="1" dirty="0">
                <a:solidFill>
                  <a:schemeClr val="tx2"/>
                </a:solidFill>
              </a:rPr>
              <a:t>Fetch</a:t>
            </a:r>
            <a:endParaRPr lang="en-US" sz="1600" dirty="0"/>
          </a:p>
        </p:txBody>
      </p:sp>
      <p:sp>
        <p:nvSpPr>
          <p:cNvPr id="12" name="Text 8"/>
          <p:cNvSpPr txBox="1"/>
          <p:nvPr/>
        </p:nvSpPr>
        <p:spPr>
          <a:xfrm>
            <a:off x="1608430" y="4489704"/>
            <a:ext cx="5239512" cy="457200"/>
          </a:xfrm>
          <a:prstGeom prst="rect">
            <a:avLst/>
          </a:prstGeom>
          <a:noFill/>
          <a:ln/>
        </p:spPr>
        <p:txBody>
          <a:bodyPr wrap="square" lIns="0" tIns="0" rIns="0" bIns="0" rtlCol="0" anchor="t"/>
          <a:lstStyle/>
          <a:p>
            <a:pPr indent="0" marL="0">
              <a:buNone/>
            </a:pPr>
            <a:r>
              <a:rPr lang="en-US" sz="1400" dirty="0">
                <a:solidFill>
                  <a:schemeClr val="accent3"/>
                </a:solidFill>
              </a:rPr>
              <a:t>Sentinel-2 or Sentinel-1 scenes, found automatically</a:t>
            </a:r>
            <a:endParaRPr lang="en-US" sz="1400" dirty="0"/>
          </a:p>
        </p:txBody>
      </p:sp>
      <p:sp>
        <p:nvSpPr>
          <p:cNvPr id="13" name="Step Answer circle"/>
          <p:cNvSpPr/>
          <p:nvPr/>
        </p:nvSpPr>
        <p:spPr>
          <a:xfrm>
            <a:off x="812902" y="5029200"/>
            <a:ext cx="566928" cy="566928"/>
          </a:xfrm>
          <a:prstGeom prst="ellipse">
            <a:avLst/>
          </a:prstGeom>
          <a:solidFill>
            <a:schemeClr val="accent2"/>
          </a:solidFill>
          <a:ln w="12700">
            <a:solidFill>
              <a:schemeClr val="accent2"/>
            </a:solidFill>
            <a:prstDash val="solid"/>
          </a:ln>
        </p:spPr>
      </p:sp>
      <p:pic>
        <p:nvPicPr>
          <p:cNvPr id="14" name="Step Answer icon" descr="preencoded.png">    </p:cNvPr>
          <p:cNvPicPr>
            <a:picLocks noChangeAspect="1"/>
          </p:cNvPicPr>
          <p:nvPr/>
        </p:nvPicPr>
        <p:blipFill>
          <a:blip r:embed="rId3"/>
          <a:stretch>
            <a:fillRect/>
          </a:stretch>
        </p:blipFill>
        <p:spPr>
          <a:xfrm>
            <a:off x="965972" y="5182271"/>
            <a:ext cx="260787" cy="260787"/>
          </a:xfrm>
          <a:prstGeom prst="rect">
            <a:avLst/>
          </a:prstGeom>
        </p:spPr>
      </p:pic>
      <p:sp>
        <p:nvSpPr>
          <p:cNvPr id="15" name="Text 10"/>
          <p:cNvSpPr txBox="1"/>
          <p:nvPr/>
        </p:nvSpPr>
        <p:spPr>
          <a:xfrm>
            <a:off x="1608430" y="5047488"/>
            <a:ext cx="5239512" cy="292608"/>
          </a:xfrm>
          <a:prstGeom prst="rect">
            <a:avLst/>
          </a:prstGeom>
          <a:noFill/>
          <a:ln/>
        </p:spPr>
        <p:txBody>
          <a:bodyPr wrap="square" lIns="0" tIns="0" rIns="0" bIns="0" rtlCol="0" anchor="t"/>
          <a:lstStyle/>
          <a:p>
            <a:pPr indent="0" marL="0">
              <a:buNone/>
            </a:pPr>
            <a:r>
              <a:rPr lang="en-US" sz="1600" b="1" dirty="0">
                <a:solidFill>
                  <a:schemeClr val="tx2"/>
                </a:solidFill>
              </a:rPr>
              <a:t>Answer</a:t>
            </a:r>
            <a:endParaRPr lang="en-US" sz="1600" dirty="0"/>
          </a:p>
        </p:txBody>
      </p:sp>
      <p:sp>
        <p:nvSpPr>
          <p:cNvPr id="16" name="Text 11"/>
          <p:cNvSpPr txBox="1"/>
          <p:nvPr/>
        </p:nvSpPr>
        <p:spPr>
          <a:xfrm>
            <a:off x="1608430" y="5358384"/>
            <a:ext cx="5239512" cy="457200"/>
          </a:xfrm>
          <a:prstGeom prst="rect">
            <a:avLst/>
          </a:prstGeom>
          <a:noFill/>
          <a:ln/>
        </p:spPr>
        <p:txBody>
          <a:bodyPr wrap="square" lIns="0" tIns="0" rIns="0" bIns="0" rtlCol="0" anchor="t"/>
          <a:lstStyle/>
          <a:p>
            <a:pPr indent="0" marL="0">
              <a:buNone/>
            </a:pPr>
            <a:r>
              <a:rPr lang="en-US" sz="1400" dirty="0">
                <a:solidFill>
                  <a:schemeClr val="accent3"/>
                </a:solidFill>
              </a:rPr>
              <a:t>Map, findings, confidence and an execution trace</a:t>
            </a:r>
            <a:endParaRPr lang="en-US" sz="1400" dirty="0"/>
          </a:p>
        </p:txBody>
      </p:sp>
      <p:pic>
        <p:nvPicPr>
          <p:cNvPr id="17" name="NDVI map" descr="Vegetation health (NDVI) map of Pune: green is dense vegetation, beige is built-up or bare land">    </p:cNvPr>
          <p:cNvPicPr>
            <a:picLocks noChangeAspect="1"/>
          </p:cNvPicPr>
          <p:nvPr/>
        </p:nvPicPr>
        <p:blipFill>
          <a:blip r:embed="rId4"/>
          <a:stretch>
            <a:fillRect/>
          </a:stretch>
        </p:blipFill>
        <p:spPr>
          <a:xfrm>
            <a:off x="7670902" y="1856232"/>
            <a:ext cx="3708806" cy="3337560"/>
          </a:xfrm>
          <a:prstGeom prst="rect">
            <a:avLst/>
          </a:prstGeom>
        </p:spPr>
      </p:pic>
      <p:sp>
        <p:nvSpPr>
          <p:cNvPr id="18" name="Text 12"/>
          <p:cNvSpPr txBox="1"/>
          <p:nvPr/>
        </p:nvSpPr>
        <p:spPr>
          <a:xfrm>
            <a:off x="7670902" y="5303520"/>
            <a:ext cx="3708806" cy="457200"/>
          </a:xfrm>
          <a:prstGeom prst="rect">
            <a:avLst/>
          </a:prstGeom>
          <a:noFill/>
          <a:ln/>
        </p:spPr>
        <p:txBody>
          <a:bodyPr wrap="square" lIns="0" tIns="0" rIns="0" bIns="0" rtlCol="0" anchor="t"/>
          <a:lstStyle/>
          <a:p>
            <a:pPr indent="0" marL="0">
              <a:buNone/>
            </a:pPr>
            <a:r>
              <a:rPr lang="en-US" sz="1200" dirty="0">
                <a:solidFill>
                  <a:schemeClr val="accent4"/>
                </a:solidFill>
              </a:rPr>
              <a:t>Vegetation health (NDVI) around Pune, computed by SatQuery from Sentinel-2</a:t>
            </a:r>
            <a:endParaRPr lang="en-US" sz="12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04 · PROBLEM STATEMENT</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Barriers to answering satellite questions</a:t>
            </a:r>
            <a:endParaRPr lang="en-US" sz="3000" dirty="0"/>
          </a:p>
        </p:txBody>
      </p:sp>
      <p:sp>
        <p:nvSpPr>
          <p:cNvPr id="4" name="Problem statement panel"/>
          <p:cNvSpPr/>
          <p:nvPr/>
        </p:nvSpPr>
        <p:spPr>
          <a:xfrm>
            <a:off x="812902" y="1856232"/>
            <a:ext cx="10566806" cy="1371600"/>
          </a:xfrm>
          <a:prstGeom prst="roundRect">
            <a:avLst>
              <a:gd name="adj" fmla="val 8000"/>
            </a:avLst>
          </a:prstGeom>
          <a:solidFill>
            <a:schemeClr val="tx2"/>
          </a:solidFill>
          <a:ln w="12700">
            <a:solidFill>
              <a:schemeClr val="tx2"/>
            </a:solidFill>
            <a:prstDash val="solid"/>
          </a:ln>
        </p:spPr>
      </p:sp>
      <p:sp>
        <p:nvSpPr>
          <p:cNvPr id="5" name="Text 3"/>
          <p:cNvSpPr txBox="1"/>
          <p:nvPr/>
        </p:nvSpPr>
        <p:spPr>
          <a:xfrm>
            <a:off x="1178662" y="2084832"/>
            <a:ext cx="9835286"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SIH26167 · SMART INDIA HACKATHON 2026</a:t>
            </a:r>
            <a:endParaRPr lang="en-US" sz="1200" dirty="0"/>
          </a:p>
        </p:txBody>
      </p:sp>
      <p:sp>
        <p:nvSpPr>
          <p:cNvPr id="6" name="Text 4"/>
          <p:cNvSpPr txBox="1"/>
          <p:nvPr/>
        </p:nvSpPr>
        <p:spPr>
          <a:xfrm>
            <a:off x="1178662" y="2404872"/>
            <a:ext cx="9835286" cy="548640"/>
          </a:xfrm>
          <a:prstGeom prst="rect">
            <a:avLst/>
          </a:prstGeom>
          <a:noFill/>
          <a:ln/>
        </p:spPr>
        <p:txBody>
          <a:bodyPr wrap="square" lIns="0" tIns="0" rIns="0" bIns="0" rtlCol="0" anchor="t"/>
          <a:lstStyle/>
          <a:p>
            <a:pPr indent="0" marL="0">
              <a:buNone/>
            </a:pPr>
            <a:r>
              <a:rPr lang="en-US" sz="2000" dirty="0">
                <a:solidFill>
                  <a:schemeClr val="bg1"/>
                </a:solidFill>
                <a:latin typeface="Cambria" pitchFamily="34" charset="0"/>
                <a:ea typeface="Cambria" pitchFamily="34" charset="-122"/>
                <a:cs typeface="Cambria" pitchFamily="34" charset="-120"/>
              </a:rPr>
              <a:t>Enable users to ask questions about satellite imagery in natural language and receive accurate, explainable answers.</a:t>
            </a:r>
            <a:endParaRPr lang="en-US" sz="2000" dirty="0"/>
          </a:p>
        </p:txBody>
      </p:sp>
      <p:sp>
        <p:nvSpPr>
          <p:cNvPr id="7" name="Challenge card 1"/>
          <p:cNvSpPr/>
          <p:nvPr/>
        </p:nvSpPr>
        <p:spPr>
          <a:xfrm>
            <a:off x="812902" y="3474720"/>
            <a:ext cx="5146243" cy="1097280"/>
          </a:xfrm>
          <a:prstGeom prst="roundRect">
            <a:avLst>
              <a:gd name="adj" fmla="val 10000"/>
            </a:avLst>
          </a:prstGeom>
          <a:solidFill>
            <a:schemeClr val="bg2"/>
          </a:solidFill>
          <a:ln w="12700">
            <a:solidFill>
              <a:schemeClr val="bg2"/>
            </a:solidFill>
            <a:prstDash val="solid"/>
          </a:ln>
        </p:spPr>
      </p:sp>
      <p:sp>
        <p:nvSpPr>
          <p:cNvPr id="8" name="Expertise barrier circle"/>
          <p:cNvSpPr/>
          <p:nvPr/>
        </p:nvSpPr>
        <p:spPr>
          <a:xfrm>
            <a:off x="1087222" y="3730752"/>
            <a:ext cx="585216" cy="585216"/>
          </a:xfrm>
          <a:prstGeom prst="ellipse">
            <a:avLst/>
          </a:prstGeom>
          <a:solidFill>
            <a:schemeClr val="accent5"/>
          </a:solidFill>
          <a:ln w="12700">
            <a:solidFill>
              <a:schemeClr val="accent5"/>
            </a:solidFill>
            <a:prstDash val="solid"/>
          </a:ln>
        </p:spPr>
      </p:sp>
      <p:pic>
        <p:nvPicPr>
          <p:cNvPr id="9" name="Expertise barrier icon" descr="preencoded.png">    </p:cNvPr>
          <p:cNvPicPr>
            <a:picLocks noChangeAspect="1"/>
          </p:cNvPicPr>
          <p:nvPr/>
        </p:nvPicPr>
        <p:blipFill>
          <a:blip r:embed="rId1"/>
          <a:stretch>
            <a:fillRect/>
          </a:stretch>
        </p:blipFill>
        <p:spPr>
          <a:xfrm>
            <a:off x="1245230" y="3888760"/>
            <a:ext cx="269199" cy="269199"/>
          </a:xfrm>
          <a:prstGeom prst="rect">
            <a:avLst/>
          </a:prstGeom>
        </p:spPr>
      </p:pic>
      <p:sp>
        <p:nvSpPr>
          <p:cNvPr id="10" name="Text 7"/>
          <p:cNvSpPr txBox="1"/>
          <p:nvPr/>
        </p:nvSpPr>
        <p:spPr>
          <a:xfrm>
            <a:off x="1901038" y="3749040"/>
            <a:ext cx="3849624" cy="292608"/>
          </a:xfrm>
          <a:prstGeom prst="rect">
            <a:avLst/>
          </a:prstGeom>
          <a:noFill/>
          <a:ln/>
        </p:spPr>
        <p:txBody>
          <a:bodyPr wrap="square" lIns="0" tIns="0" rIns="0" bIns="0" rtlCol="0" anchor="t"/>
          <a:lstStyle/>
          <a:p>
            <a:pPr indent="0" marL="0">
              <a:buNone/>
            </a:pPr>
            <a:r>
              <a:rPr lang="en-US" sz="1600" b="1" dirty="0">
                <a:solidFill>
                  <a:schemeClr val="tx2"/>
                </a:solidFill>
              </a:rPr>
              <a:t>Expertise barrier</a:t>
            </a:r>
            <a:endParaRPr lang="en-US" sz="1600" dirty="0"/>
          </a:p>
        </p:txBody>
      </p:sp>
      <p:sp>
        <p:nvSpPr>
          <p:cNvPr id="11" name="Text 8"/>
          <p:cNvSpPr txBox="1"/>
          <p:nvPr/>
        </p:nvSpPr>
        <p:spPr>
          <a:xfrm>
            <a:off x="1901038" y="4059936"/>
            <a:ext cx="3849624" cy="457200"/>
          </a:xfrm>
          <a:prstGeom prst="rect">
            <a:avLst/>
          </a:prstGeom>
          <a:noFill/>
          <a:ln/>
        </p:spPr>
        <p:txBody>
          <a:bodyPr wrap="square" lIns="0" tIns="0" rIns="0" bIns="0" rtlCol="0" anchor="t"/>
          <a:lstStyle/>
          <a:p>
            <a:pPr indent="0" marL="0">
              <a:buNone/>
            </a:pPr>
            <a:r>
              <a:rPr lang="en-US" sz="1400" dirty="0">
                <a:solidFill>
                  <a:schemeClr val="accent3"/>
                </a:solidFill>
              </a:rPr>
              <a:t>Choosing sensor, bands, index and threshold needs an analyst.</a:t>
            </a:r>
            <a:endParaRPr lang="en-US" sz="1400" dirty="0"/>
          </a:p>
        </p:txBody>
      </p:sp>
      <p:sp>
        <p:nvSpPr>
          <p:cNvPr id="12" name="Challenge card 2"/>
          <p:cNvSpPr/>
          <p:nvPr/>
        </p:nvSpPr>
        <p:spPr>
          <a:xfrm>
            <a:off x="6233465" y="3474720"/>
            <a:ext cx="5146243" cy="1097280"/>
          </a:xfrm>
          <a:prstGeom prst="roundRect">
            <a:avLst>
              <a:gd name="adj" fmla="val 10000"/>
            </a:avLst>
          </a:prstGeom>
          <a:solidFill>
            <a:schemeClr val="bg2"/>
          </a:solidFill>
          <a:ln w="12700">
            <a:solidFill>
              <a:schemeClr val="bg2"/>
            </a:solidFill>
            <a:prstDash val="solid"/>
          </a:ln>
        </p:spPr>
      </p:sp>
      <p:sp>
        <p:nvSpPr>
          <p:cNvPr id="13" name="Data access circle"/>
          <p:cNvSpPr/>
          <p:nvPr/>
        </p:nvSpPr>
        <p:spPr>
          <a:xfrm>
            <a:off x="6507785" y="3730752"/>
            <a:ext cx="585216" cy="585216"/>
          </a:xfrm>
          <a:prstGeom prst="ellipse">
            <a:avLst/>
          </a:prstGeom>
          <a:solidFill>
            <a:schemeClr val="accent5"/>
          </a:solidFill>
          <a:ln w="12700">
            <a:solidFill>
              <a:schemeClr val="accent5"/>
            </a:solidFill>
            <a:prstDash val="solid"/>
          </a:ln>
        </p:spPr>
      </p:sp>
      <p:pic>
        <p:nvPicPr>
          <p:cNvPr id="14" name="Data access icon" descr="preencoded.png">    </p:cNvPr>
          <p:cNvPicPr>
            <a:picLocks noChangeAspect="1"/>
          </p:cNvPicPr>
          <p:nvPr/>
        </p:nvPicPr>
        <p:blipFill>
          <a:blip r:embed="rId2"/>
          <a:stretch>
            <a:fillRect/>
          </a:stretch>
        </p:blipFill>
        <p:spPr>
          <a:xfrm>
            <a:off x="6665793" y="3888760"/>
            <a:ext cx="269199" cy="269199"/>
          </a:xfrm>
          <a:prstGeom prst="rect">
            <a:avLst/>
          </a:prstGeom>
        </p:spPr>
      </p:pic>
      <p:sp>
        <p:nvSpPr>
          <p:cNvPr id="15" name="Text 11"/>
          <p:cNvSpPr txBox="1"/>
          <p:nvPr/>
        </p:nvSpPr>
        <p:spPr>
          <a:xfrm>
            <a:off x="7321601" y="3749040"/>
            <a:ext cx="3849624" cy="292608"/>
          </a:xfrm>
          <a:prstGeom prst="rect">
            <a:avLst/>
          </a:prstGeom>
          <a:noFill/>
          <a:ln/>
        </p:spPr>
        <p:txBody>
          <a:bodyPr wrap="square" lIns="0" tIns="0" rIns="0" bIns="0" rtlCol="0" anchor="t"/>
          <a:lstStyle/>
          <a:p>
            <a:pPr indent="0" marL="0">
              <a:buNone/>
            </a:pPr>
            <a:r>
              <a:rPr lang="en-US" sz="1600" b="1" dirty="0">
                <a:solidFill>
                  <a:schemeClr val="tx2"/>
                </a:solidFill>
              </a:rPr>
              <a:t>Data access</a:t>
            </a:r>
            <a:endParaRPr lang="en-US" sz="1600" dirty="0"/>
          </a:p>
        </p:txBody>
      </p:sp>
      <p:sp>
        <p:nvSpPr>
          <p:cNvPr id="16" name="Text 12"/>
          <p:cNvSpPr txBox="1"/>
          <p:nvPr/>
        </p:nvSpPr>
        <p:spPr>
          <a:xfrm>
            <a:off x="7321601" y="4059936"/>
            <a:ext cx="3849624" cy="457200"/>
          </a:xfrm>
          <a:prstGeom prst="rect">
            <a:avLst/>
          </a:prstGeom>
          <a:noFill/>
          <a:ln/>
        </p:spPr>
        <p:txBody>
          <a:bodyPr wrap="square" lIns="0" tIns="0" rIns="0" bIns="0" rtlCol="0" anchor="t"/>
          <a:lstStyle/>
          <a:p>
            <a:pPr indent="0" marL="0">
              <a:buNone/>
            </a:pPr>
            <a:r>
              <a:rPr lang="en-US" sz="1400" dirty="0">
                <a:solidFill>
                  <a:schemeClr val="accent3"/>
                </a:solidFill>
              </a:rPr>
              <a:t>Finding a cloud-free scene for a place and date is slow, manual work.</a:t>
            </a:r>
            <a:endParaRPr lang="en-US" sz="1400" dirty="0"/>
          </a:p>
        </p:txBody>
      </p:sp>
      <p:sp>
        <p:nvSpPr>
          <p:cNvPr id="17" name="Challenge card 3"/>
          <p:cNvSpPr/>
          <p:nvPr/>
        </p:nvSpPr>
        <p:spPr>
          <a:xfrm>
            <a:off x="812902" y="4709160"/>
            <a:ext cx="5146243" cy="1097280"/>
          </a:xfrm>
          <a:prstGeom prst="roundRect">
            <a:avLst>
              <a:gd name="adj" fmla="val 10000"/>
            </a:avLst>
          </a:prstGeom>
          <a:solidFill>
            <a:schemeClr val="bg2"/>
          </a:solidFill>
          <a:ln w="12700">
            <a:solidFill>
              <a:schemeClr val="bg2"/>
            </a:solidFill>
            <a:prstDash val="solid"/>
          </a:ln>
        </p:spPr>
      </p:sp>
      <p:sp>
        <p:nvSpPr>
          <p:cNvPr id="18" name="Unverified AI answers circle"/>
          <p:cNvSpPr/>
          <p:nvPr/>
        </p:nvSpPr>
        <p:spPr>
          <a:xfrm>
            <a:off x="1087222" y="4965192"/>
            <a:ext cx="585216" cy="585216"/>
          </a:xfrm>
          <a:prstGeom prst="ellipse">
            <a:avLst/>
          </a:prstGeom>
          <a:solidFill>
            <a:schemeClr val="accent6"/>
          </a:solidFill>
          <a:ln w="12700">
            <a:solidFill>
              <a:schemeClr val="accent6"/>
            </a:solidFill>
            <a:prstDash val="solid"/>
          </a:ln>
        </p:spPr>
      </p:sp>
      <p:pic>
        <p:nvPicPr>
          <p:cNvPr id="19" name="Unverified AI answers icon" descr="preencoded.png">    </p:cNvPr>
          <p:cNvPicPr>
            <a:picLocks noChangeAspect="1"/>
          </p:cNvPicPr>
          <p:nvPr/>
        </p:nvPicPr>
        <p:blipFill>
          <a:blip r:embed="rId3"/>
          <a:stretch>
            <a:fillRect/>
          </a:stretch>
        </p:blipFill>
        <p:spPr>
          <a:xfrm>
            <a:off x="1245230" y="5123200"/>
            <a:ext cx="269199" cy="269199"/>
          </a:xfrm>
          <a:prstGeom prst="rect">
            <a:avLst/>
          </a:prstGeom>
        </p:spPr>
      </p:pic>
      <p:sp>
        <p:nvSpPr>
          <p:cNvPr id="20" name="Text 15"/>
          <p:cNvSpPr txBox="1"/>
          <p:nvPr/>
        </p:nvSpPr>
        <p:spPr>
          <a:xfrm>
            <a:off x="1901038" y="4983480"/>
            <a:ext cx="3849624" cy="292608"/>
          </a:xfrm>
          <a:prstGeom prst="rect">
            <a:avLst/>
          </a:prstGeom>
          <a:noFill/>
          <a:ln/>
        </p:spPr>
        <p:txBody>
          <a:bodyPr wrap="square" lIns="0" tIns="0" rIns="0" bIns="0" rtlCol="0" anchor="t"/>
          <a:lstStyle/>
          <a:p>
            <a:pPr indent="0" marL="0">
              <a:buNone/>
            </a:pPr>
            <a:r>
              <a:rPr lang="en-US" sz="1600" b="1" dirty="0">
                <a:solidFill>
                  <a:schemeClr val="tx2"/>
                </a:solidFill>
              </a:rPr>
              <a:t>Unverified AI answers</a:t>
            </a:r>
            <a:endParaRPr lang="en-US" sz="1600" dirty="0"/>
          </a:p>
        </p:txBody>
      </p:sp>
      <p:sp>
        <p:nvSpPr>
          <p:cNvPr id="21" name="Text 16"/>
          <p:cNvSpPr txBox="1"/>
          <p:nvPr/>
        </p:nvSpPr>
        <p:spPr>
          <a:xfrm>
            <a:off x="1901038" y="5294376"/>
            <a:ext cx="3849624" cy="457200"/>
          </a:xfrm>
          <a:prstGeom prst="rect">
            <a:avLst/>
          </a:prstGeom>
          <a:noFill/>
          <a:ln/>
        </p:spPr>
        <p:txBody>
          <a:bodyPr wrap="square" lIns="0" tIns="0" rIns="0" bIns="0" rtlCol="0" anchor="t"/>
          <a:lstStyle/>
          <a:p>
            <a:pPr indent="0" marL="0">
              <a:buNone/>
            </a:pPr>
            <a:r>
              <a:rPr lang="en-US" sz="1400" dirty="0">
                <a:solidFill>
                  <a:schemeClr val="accent3"/>
                </a:solidFill>
              </a:rPr>
              <a:t>Language models can give confident but wrong readings of an image.</a:t>
            </a:r>
            <a:endParaRPr lang="en-US" sz="1400" dirty="0"/>
          </a:p>
        </p:txBody>
      </p:sp>
      <p:sp>
        <p:nvSpPr>
          <p:cNvPr id="22" name="Challenge card 4"/>
          <p:cNvSpPr/>
          <p:nvPr/>
        </p:nvSpPr>
        <p:spPr>
          <a:xfrm>
            <a:off x="6233465" y="4709160"/>
            <a:ext cx="5146243" cy="1097280"/>
          </a:xfrm>
          <a:prstGeom prst="roundRect">
            <a:avLst>
              <a:gd name="adj" fmla="val 10000"/>
            </a:avLst>
          </a:prstGeom>
          <a:solidFill>
            <a:schemeClr val="bg2"/>
          </a:solidFill>
          <a:ln w="12700">
            <a:solidFill>
              <a:schemeClr val="bg2"/>
            </a:solidFill>
            <a:prstDash val="solid"/>
          </a:ln>
        </p:spPr>
      </p:sp>
      <p:sp>
        <p:nvSpPr>
          <p:cNvPr id="23" name="Many data types circle"/>
          <p:cNvSpPr/>
          <p:nvPr/>
        </p:nvSpPr>
        <p:spPr>
          <a:xfrm>
            <a:off x="6507785" y="4965192"/>
            <a:ext cx="585216" cy="585216"/>
          </a:xfrm>
          <a:prstGeom prst="ellipse">
            <a:avLst/>
          </a:prstGeom>
          <a:solidFill>
            <a:schemeClr val="accent5"/>
          </a:solidFill>
          <a:ln w="12700">
            <a:solidFill>
              <a:schemeClr val="accent5"/>
            </a:solidFill>
            <a:prstDash val="solid"/>
          </a:ln>
        </p:spPr>
      </p:sp>
      <p:pic>
        <p:nvPicPr>
          <p:cNvPr id="24" name="Many data types icon" descr="preencoded.png">    </p:cNvPr>
          <p:cNvPicPr>
            <a:picLocks noChangeAspect="1"/>
          </p:cNvPicPr>
          <p:nvPr/>
        </p:nvPicPr>
        <p:blipFill>
          <a:blip r:embed="rId4"/>
          <a:stretch>
            <a:fillRect/>
          </a:stretch>
        </p:blipFill>
        <p:spPr>
          <a:xfrm>
            <a:off x="6665793" y="5123200"/>
            <a:ext cx="269199" cy="269199"/>
          </a:xfrm>
          <a:prstGeom prst="rect">
            <a:avLst/>
          </a:prstGeom>
        </p:spPr>
      </p:pic>
      <p:sp>
        <p:nvSpPr>
          <p:cNvPr id="25" name="Text 19"/>
          <p:cNvSpPr txBox="1"/>
          <p:nvPr/>
        </p:nvSpPr>
        <p:spPr>
          <a:xfrm>
            <a:off x="7321601" y="4983480"/>
            <a:ext cx="3849624" cy="292608"/>
          </a:xfrm>
          <a:prstGeom prst="rect">
            <a:avLst/>
          </a:prstGeom>
          <a:noFill/>
          <a:ln/>
        </p:spPr>
        <p:txBody>
          <a:bodyPr wrap="square" lIns="0" tIns="0" rIns="0" bIns="0" rtlCol="0" anchor="t"/>
          <a:lstStyle/>
          <a:p>
            <a:pPr indent="0" marL="0">
              <a:buNone/>
            </a:pPr>
            <a:r>
              <a:rPr lang="en-US" sz="1600" b="1" dirty="0">
                <a:solidFill>
                  <a:schemeClr val="tx2"/>
                </a:solidFill>
              </a:rPr>
              <a:t>Many data types</a:t>
            </a:r>
            <a:endParaRPr lang="en-US" sz="1600" dirty="0"/>
          </a:p>
        </p:txBody>
      </p:sp>
      <p:sp>
        <p:nvSpPr>
          <p:cNvPr id="26" name="Text 20"/>
          <p:cNvSpPr txBox="1"/>
          <p:nvPr/>
        </p:nvSpPr>
        <p:spPr>
          <a:xfrm>
            <a:off x="7321601" y="5294376"/>
            <a:ext cx="3849624" cy="457200"/>
          </a:xfrm>
          <a:prstGeom prst="rect">
            <a:avLst/>
          </a:prstGeom>
          <a:noFill/>
          <a:ln/>
        </p:spPr>
        <p:txBody>
          <a:bodyPr wrap="square" lIns="0" tIns="0" rIns="0" bIns="0" rtlCol="0" anchor="t"/>
          <a:lstStyle/>
          <a:p>
            <a:pPr indent="0" marL="0">
              <a:buNone/>
            </a:pPr>
            <a:r>
              <a:rPr lang="en-US" sz="1400" dirty="0">
                <a:solidFill>
                  <a:schemeClr val="accent3"/>
                </a:solidFill>
              </a:rPr>
              <a:t>Optical, radar and before/after pairs each need different methods.</a:t>
            </a:r>
            <a:endParaRPr lang="en-US" sz="14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05 · OBJECTIVES</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Six project objectives</a:t>
            </a:r>
            <a:endParaRPr lang="en-US" sz="3000" dirty="0"/>
          </a:p>
        </p:txBody>
      </p:sp>
      <p:sp>
        <p:nvSpPr>
          <p:cNvPr id="4" name="Objective card 1"/>
          <p:cNvSpPr/>
          <p:nvPr/>
        </p:nvSpPr>
        <p:spPr>
          <a:xfrm>
            <a:off x="812902" y="1856232"/>
            <a:ext cx="3355848" cy="1874520"/>
          </a:xfrm>
          <a:prstGeom prst="roundRect">
            <a:avLst>
              <a:gd name="adj" fmla="val 5854"/>
            </a:avLst>
          </a:prstGeom>
          <a:solidFill>
            <a:schemeClr val="bg2"/>
          </a:solidFill>
          <a:ln w="12700">
            <a:solidFill>
              <a:schemeClr val="bg2"/>
            </a:solidFill>
            <a:prstDash val="solid"/>
          </a:ln>
        </p:spPr>
      </p:sp>
      <p:sp>
        <p:nvSpPr>
          <p:cNvPr id="5" name="Objective 1 circle"/>
          <p:cNvSpPr/>
          <p:nvPr/>
        </p:nvSpPr>
        <p:spPr>
          <a:xfrm>
            <a:off x="1087222" y="2130552"/>
            <a:ext cx="566928" cy="566928"/>
          </a:xfrm>
          <a:prstGeom prst="ellipse">
            <a:avLst/>
          </a:prstGeom>
          <a:solidFill>
            <a:schemeClr val="tx2"/>
          </a:solidFill>
          <a:ln w="12700">
            <a:solidFill>
              <a:schemeClr val="tx2"/>
            </a:solidFill>
            <a:prstDash val="solid"/>
          </a:ln>
        </p:spPr>
      </p:sp>
      <p:pic>
        <p:nvPicPr>
          <p:cNvPr id="6" name="Objective 1 icon" descr="preencoded.png">    </p:cNvPr>
          <p:cNvPicPr>
            <a:picLocks noChangeAspect="1"/>
          </p:cNvPicPr>
          <p:nvPr/>
        </p:nvPicPr>
        <p:blipFill>
          <a:blip r:embed="rId1"/>
          <a:stretch>
            <a:fillRect/>
          </a:stretch>
        </p:blipFill>
        <p:spPr>
          <a:xfrm>
            <a:off x="1240292" y="2283623"/>
            <a:ext cx="260787" cy="260787"/>
          </a:xfrm>
          <a:prstGeom prst="rect">
            <a:avLst/>
          </a:prstGeom>
        </p:spPr>
      </p:pic>
      <p:sp>
        <p:nvSpPr>
          <p:cNvPr id="7" name="Text 4"/>
          <p:cNvSpPr txBox="1"/>
          <p:nvPr/>
        </p:nvSpPr>
        <p:spPr>
          <a:xfrm>
            <a:off x="3190342" y="2148840"/>
            <a:ext cx="731520" cy="457200"/>
          </a:xfrm>
          <a:prstGeom prst="rect">
            <a:avLst/>
          </a:prstGeom>
          <a:noFill/>
          <a:ln/>
        </p:spPr>
        <p:txBody>
          <a:bodyPr wrap="square" lIns="0" tIns="0" rIns="0" bIns="0" rtlCol="0" anchor="t"/>
          <a:lstStyle/>
          <a:p>
            <a:pPr algn="r" indent="0" marL="0">
              <a:buNone/>
            </a:pPr>
            <a:r>
              <a:rPr lang="en-US" sz="2200" b="1" dirty="0">
                <a:solidFill>
                  <a:schemeClr val="accent4"/>
                </a:solidFill>
                <a:latin typeface="Cambria" pitchFamily="34" charset="0"/>
                <a:ea typeface="Cambria" pitchFamily="34" charset="-122"/>
                <a:cs typeface="Cambria" pitchFamily="34" charset="-120"/>
              </a:rPr>
              <a:t>01</a:t>
            </a:r>
            <a:endParaRPr lang="en-US" sz="2200" dirty="0"/>
          </a:p>
        </p:txBody>
      </p:sp>
      <p:sp>
        <p:nvSpPr>
          <p:cNvPr id="8" name="Text 5"/>
          <p:cNvSpPr txBox="1"/>
          <p:nvPr/>
        </p:nvSpPr>
        <p:spPr>
          <a:xfrm>
            <a:off x="1087222" y="2880360"/>
            <a:ext cx="2807208" cy="685800"/>
          </a:xfrm>
          <a:prstGeom prst="rect">
            <a:avLst/>
          </a:prstGeom>
          <a:noFill/>
          <a:ln/>
        </p:spPr>
        <p:txBody>
          <a:bodyPr wrap="square" lIns="0" tIns="0" rIns="0" bIns="0" rtlCol="0" anchor="t"/>
          <a:lstStyle/>
          <a:p>
            <a:pPr indent="0" marL="0">
              <a:buNone/>
            </a:pPr>
            <a:r>
              <a:rPr lang="en-US" sz="1600" dirty="0">
                <a:solidFill>
                  <a:schemeClr val="tx1"/>
                </a:solidFill>
              </a:rPr>
              <a:t>Understand questions in English and Hindi</a:t>
            </a:r>
            <a:endParaRPr lang="en-US" sz="1600" dirty="0"/>
          </a:p>
        </p:txBody>
      </p:sp>
      <p:sp>
        <p:nvSpPr>
          <p:cNvPr id="9" name="Objective card 2"/>
          <p:cNvSpPr/>
          <p:nvPr/>
        </p:nvSpPr>
        <p:spPr>
          <a:xfrm>
            <a:off x="4418381" y="1856232"/>
            <a:ext cx="3355848" cy="1874520"/>
          </a:xfrm>
          <a:prstGeom prst="roundRect">
            <a:avLst>
              <a:gd name="adj" fmla="val 5854"/>
            </a:avLst>
          </a:prstGeom>
          <a:solidFill>
            <a:schemeClr val="bg2"/>
          </a:solidFill>
          <a:ln w="12700">
            <a:solidFill>
              <a:schemeClr val="bg2"/>
            </a:solidFill>
            <a:prstDash val="solid"/>
          </a:ln>
        </p:spPr>
      </p:sp>
      <p:sp>
        <p:nvSpPr>
          <p:cNvPr id="10" name="Objective 2 circle"/>
          <p:cNvSpPr/>
          <p:nvPr/>
        </p:nvSpPr>
        <p:spPr>
          <a:xfrm>
            <a:off x="4692701" y="2130552"/>
            <a:ext cx="566928" cy="566928"/>
          </a:xfrm>
          <a:prstGeom prst="ellipse">
            <a:avLst/>
          </a:prstGeom>
          <a:solidFill>
            <a:schemeClr val="tx2"/>
          </a:solidFill>
          <a:ln w="12700">
            <a:solidFill>
              <a:schemeClr val="tx2"/>
            </a:solidFill>
            <a:prstDash val="solid"/>
          </a:ln>
        </p:spPr>
      </p:sp>
      <p:pic>
        <p:nvPicPr>
          <p:cNvPr id="11" name="Objective 2 icon" descr="preencoded.png">    </p:cNvPr>
          <p:cNvPicPr>
            <a:picLocks noChangeAspect="1"/>
          </p:cNvPicPr>
          <p:nvPr/>
        </p:nvPicPr>
        <p:blipFill>
          <a:blip r:embed="rId2"/>
          <a:stretch>
            <a:fillRect/>
          </a:stretch>
        </p:blipFill>
        <p:spPr>
          <a:xfrm>
            <a:off x="4845771" y="2283623"/>
            <a:ext cx="260787" cy="260787"/>
          </a:xfrm>
          <a:prstGeom prst="rect">
            <a:avLst/>
          </a:prstGeom>
        </p:spPr>
      </p:pic>
      <p:sp>
        <p:nvSpPr>
          <p:cNvPr id="12" name="Text 8"/>
          <p:cNvSpPr txBox="1"/>
          <p:nvPr/>
        </p:nvSpPr>
        <p:spPr>
          <a:xfrm>
            <a:off x="6795821" y="2148840"/>
            <a:ext cx="731520" cy="457200"/>
          </a:xfrm>
          <a:prstGeom prst="rect">
            <a:avLst/>
          </a:prstGeom>
          <a:noFill/>
          <a:ln/>
        </p:spPr>
        <p:txBody>
          <a:bodyPr wrap="square" lIns="0" tIns="0" rIns="0" bIns="0" rtlCol="0" anchor="t"/>
          <a:lstStyle/>
          <a:p>
            <a:pPr algn="r" indent="0" marL="0">
              <a:buNone/>
            </a:pPr>
            <a:r>
              <a:rPr lang="en-US" sz="2200" b="1" dirty="0">
                <a:solidFill>
                  <a:schemeClr val="accent4"/>
                </a:solidFill>
                <a:latin typeface="Cambria" pitchFamily="34" charset="0"/>
                <a:ea typeface="Cambria" pitchFamily="34" charset="-122"/>
                <a:cs typeface="Cambria" pitchFamily="34" charset="-120"/>
              </a:rPr>
              <a:t>02</a:t>
            </a:r>
            <a:endParaRPr lang="en-US" sz="2200" dirty="0"/>
          </a:p>
        </p:txBody>
      </p:sp>
      <p:sp>
        <p:nvSpPr>
          <p:cNvPr id="13" name="Text 9"/>
          <p:cNvSpPr txBox="1"/>
          <p:nvPr/>
        </p:nvSpPr>
        <p:spPr>
          <a:xfrm>
            <a:off x="4692701" y="2880360"/>
            <a:ext cx="2807208" cy="685800"/>
          </a:xfrm>
          <a:prstGeom prst="rect">
            <a:avLst/>
          </a:prstGeom>
          <a:noFill/>
          <a:ln/>
        </p:spPr>
        <p:txBody>
          <a:bodyPr wrap="square" lIns="0" tIns="0" rIns="0" bIns="0" rtlCol="0" anchor="t"/>
          <a:lstStyle/>
          <a:p>
            <a:pPr indent="0" marL="0">
              <a:buNone/>
            </a:pPr>
            <a:r>
              <a:rPr lang="en-US" sz="1600" dirty="0">
                <a:solidFill>
                  <a:schemeClr val="tx1"/>
                </a:solidFill>
              </a:rPr>
              <a:t>Fetch the right satellite imagery automatically</a:t>
            </a:r>
            <a:endParaRPr lang="en-US" sz="1600" dirty="0"/>
          </a:p>
        </p:txBody>
      </p:sp>
      <p:sp>
        <p:nvSpPr>
          <p:cNvPr id="14" name="Objective card 3"/>
          <p:cNvSpPr/>
          <p:nvPr/>
        </p:nvSpPr>
        <p:spPr>
          <a:xfrm>
            <a:off x="8023860" y="1856232"/>
            <a:ext cx="3355848" cy="1874520"/>
          </a:xfrm>
          <a:prstGeom prst="roundRect">
            <a:avLst>
              <a:gd name="adj" fmla="val 5854"/>
            </a:avLst>
          </a:prstGeom>
          <a:solidFill>
            <a:schemeClr val="bg2"/>
          </a:solidFill>
          <a:ln w="12700">
            <a:solidFill>
              <a:schemeClr val="bg2"/>
            </a:solidFill>
            <a:prstDash val="solid"/>
          </a:ln>
        </p:spPr>
      </p:sp>
      <p:sp>
        <p:nvSpPr>
          <p:cNvPr id="15" name="Objective 3 circle"/>
          <p:cNvSpPr/>
          <p:nvPr/>
        </p:nvSpPr>
        <p:spPr>
          <a:xfrm>
            <a:off x="8298180" y="2130552"/>
            <a:ext cx="566928" cy="566928"/>
          </a:xfrm>
          <a:prstGeom prst="ellipse">
            <a:avLst/>
          </a:prstGeom>
          <a:solidFill>
            <a:schemeClr val="tx2"/>
          </a:solidFill>
          <a:ln w="12700">
            <a:solidFill>
              <a:schemeClr val="tx2"/>
            </a:solidFill>
            <a:prstDash val="solid"/>
          </a:ln>
        </p:spPr>
      </p:sp>
      <p:pic>
        <p:nvPicPr>
          <p:cNvPr id="16" name="Objective 3 icon" descr="preencoded.png">    </p:cNvPr>
          <p:cNvPicPr>
            <a:picLocks noChangeAspect="1"/>
          </p:cNvPicPr>
          <p:nvPr/>
        </p:nvPicPr>
        <p:blipFill>
          <a:blip r:embed="rId3"/>
          <a:stretch>
            <a:fillRect/>
          </a:stretch>
        </p:blipFill>
        <p:spPr>
          <a:xfrm>
            <a:off x="8451251" y="2283623"/>
            <a:ext cx="260787" cy="260787"/>
          </a:xfrm>
          <a:prstGeom prst="rect">
            <a:avLst/>
          </a:prstGeom>
        </p:spPr>
      </p:pic>
      <p:sp>
        <p:nvSpPr>
          <p:cNvPr id="17" name="Text 12"/>
          <p:cNvSpPr txBox="1"/>
          <p:nvPr/>
        </p:nvSpPr>
        <p:spPr>
          <a:xfrm>
            <a:off x="10401300" y="2148840"/>
            <a:ext cx="731520" cy="457200"/>
          </a:xfrm>
          <a:prstGeom prst="rect">
            <a:avLst/>
          </a:prstGeom>
          <a:noFill/>
          <a:ln/>
        </p:spPr>
        <p:txBody>
          <a:bodyPr wrap="square" lIns="0" tIns="0" rIns="0" bIns="0" rtlCol="0" anchor="t"/>
          <a:lstStyle/>
          <a:p>
            <a:pPr algn="r" indent="0" marL="0">
              <a:buNone/>
            </a:pPr>
            <a:r>
              <a:rPr lang="en-US" sz="2200" b="1" dirty="0">
                <a:solidFill>
                  <a:schemeClr val="accent4"/>
                </a:solidFill>
                <a:latin typeface="Cambria" pitchFamily="34" charset="0"/>
                <a:ea typeface="Cambria" pitchFamily="34" charset="-122"/>
                <a:cs typeface="Cambria" pitchFamily="34" charset="-120"/>
              </a:rPr>
              <a:t>03</a:t>
            </a:r>
            <a:endParaRPr lang="en-US" sz="2200" dirty="0"/>
          </a:p>
        </p:txBody>
      </p:sp>
      <p:sp>
        <p:nvSpPr>
          <p:cNvPr id="18" name="Text 13"/>
          <p:cNvSpPr txBox="1"/>
          <p:nvPr/>
        </p:nvSpPr>
        <p:spPr>
          <a:xfrm>
            <a:off x="8298180" y="2880360"/>
            <a:ext cx="2807208" cy="685800"/>
          </a:xfrm>
          <a:prstGeom prst="rect">
            <a:avLst/>
          </a:prstGeom>
          <a:noFill/>
          <a:ln/>
        </p:spPr>
        <p:txBody>
          <a:bodyPr wrap="square" lIns="0" tIns="0" rIns="0" bIns="0" rtlCol="0" anchor="t"/>
          <a:lstStyle/>
          <a:p>
            <a:pPr indent="0" marL="0">
              <a:buNone/>
            </a:pPr>
            <a:r>
              <a:rPr lang="en-US" sz="1600" dirty="0">
                <a:solidFill>
                  <a:schemeClr val="tx1"/>
                </a:solidFill>
              </a:rPr>
              <a:t>Run only tools from a controlled registry</a:t>
            </a:r>
            <a:endParaRPr lang="en-US" sz="1600" dirty="0"/>
          </a:p>
        </p:txBody>
      </p:sp>
      <p:sp>
        <p:nvSpPr>
          <p:cNvPr id="19" name="Objective card 4"/>
          <p:cNvSpPr/>
          <p:nvPr/>
        </p:nvSpPr>
        <p:spPr>
          <a:xfrm>
            <a:off x="812902" y="3959352"/>
            <a:ext cx="3355848" cy="1874520"/>
          </a:xfrm>
          <a:prstGeom prst="roundRect">
            <a:avLst>
              <a:gd name="adj" fmla="val 5854"/>
            </a:avLst>
          </a:prstGeom>
          <a:solidFill>
            <a:schemeClr val="bg2"/>
          </a:solidFill>
          <a:ln w="12700">
            <a:solidFill>
              <a:schemeClr val="bg2"/>
            </a:solidFill>
            <a:prstDash val="solid"/>
          </a:ln>
        </p:spPr>
      </p:sp>
      <p:sp>
        <p:nvSpPr>
          <p:cNvPr id="20" name="Objective 4 circle"/>
          <p:cNvSpPr/>
          <p:nvPr/>
        </p:nvSpPr>
        <p:spPr>
          <a:xfrm>
            <a:off x="1087222" y="4233672"/>
            <a:ext cx="566928" cy="566928"/>
          </a:xfrm>
          <a:prstGeom prst="ellipse">
            <a:avLst/>
          </a:prstGeom>
          <a:solidFill>
            <a:schemeClr val="tx2"/>
          </a:solidFill>
          <a:ln w="12700">
            <a:solidFill>
              <a:schemeClr val="tx2"/>
            </a:solidFill>
            <a:prstDash val="solid"/>
          </a:ln>
        </p:spPr>
      </p:sp>
      <p:pic>
        <p:nvPicPr>
          <p:cNvPr id="21" name="Objective 4 icon" descr="preencoded.png">    </p:cNvPr>
          <p:cNvPicPr>
            <a:picLocks noChangeAspect="1"/>
          </p:cNvPicPr>
          <p:nvPr/>
        </p:nvPicPr>
        <p:blipFill>
          <a:blip r:embed="rId4"/>
          <a:stretch>
            <a:fillRect/>
          </a:stretch>
        </p:blipFill>
        <p:spPr>
          <a:xfrm>
            <a:off x="1240292" y="4386743"/>
            <a:ext cx="260787" cy="260787"/>
          </a:xfrm>
          <a:prstGeom prst="rect">
            <a:avLst/>
          </a:prstGeom>
        </p:spPr>
      </p:pic>
      <p:sp>
        <p:nvSpPr>
          <p:cNvPr id="22" name="Text 16"/>
          <p:cNvSpPr txBox="1"/>
          <p:nvPr/>
        </p:nvSpPr>
        <p:spPr>
          <a:xfrm>
            <a:off x="3190342" y="4251960"/>
            <a:ext cx="731520" cy="457200"/>
          </a:xfrm>
          <a:prstGeom prst="rect">
            <a:avLst/>
          </a:prstGeom>
          <a:noFill/>
          <a:ln/>
        </p:spPr>
        <p:txBody>
          <a:bodyPr wrap="square" lIns="0" tIns="0" rIns="0" bIns="0" rtlCol="0" anchor="t"/>
          <a:lstStyle/>
          <a:p>
            <a:pPr algn="r" indent="0" marL="0">
              <a:buNone/>
            </a:pPr>
            <a:r>
              <a:rPr lang="en-US" sz="2200" b="1" dirty="0">
                <a:solidFill>
                  <a:schemeClr val="accent4"/>
                </a:solidFill>
                <a:latin typeface="Cambria" pitchFamily="34" charset="0"/>
                <a:ea typeface="Cambria" pitchFamily="34" charset="-122"/>
                <a:cs typeface="Cambria" pitchFamily="34" charset="-120"/>
              </a:rPr>
              <a:t>04</a:t>
            </a:r>
            <a:endParaRPr lang="en-US" sz="2200" dirty="0"/>
          </a:p>
        </p:txBody>
      </p:sp>
      <p:sp>
        <p:nvSpPr>
          <p:cNvPr id="23" name="Text 17"/>
          <p:cNvSpPr txBox="1"/>
          <p:nvPr/>
        </p:nvSpPr>
        <p:spPr>
          <a:xfrm>
            <a:off x="1087222" y="4983480"/>
            <a:ext cx="2807208" cy="685800"/>
          </a:xfrm>
          <a:prstGeom prst="rect">
            <a:avLst/>
          </a:prstGeom>
          <a:noFill/>
          <a:ln/>
        </p:spPr>
        <p:txBody>
          <a:bodyPr wrap="square" lIns="0" tIns="0" rIns="0" bIns="0" rtlCol="0" anchor="t"/>
          <a:lstStyle/>
          <a:p>
            <a:pPr indent="0" marL="0">
              <a:buNone/>
            </a:pPr>
            <a:r>
              <a:rPr lang="en-US" sz="1600" dirty="0">
                <a:solidFill>
                  <a:schemeClr val="tx1"/>
                </a:solidFill>
              </a:rPr>
              <a:t>Validate the imagery before any analysis runs</a:t>
            </a:r>
            <a:endParaRPr lang="en-US" sz="1600" dirty="0"/>
          </a:p>
        </p:txBody>
      </p:sp>
      <p:sp>
        <p:nvSpPr>
          <p:cNvPr id="24" name="Objective card 5"/>
          <p:cNvSpPr/>
          <p:nvPr/>
        </p:nvSpPr>
        <p:spPr>
          <a:xfrm>
            <a:off x="4418381" y="3959352"/>
            <a:ext cx="3355848" cy="1874520"/>
          </a:xfrm>
          <a:prstGeom prst="roundRect">
            <a:avLst>
              <a:gd name="adj" fmla="val 5854"/>
            </a:avLst>
          </a:prstGeom>
          <a:solidFill>
            <a:schemeClr val="bg2"/>
          </a:solidFill>
          <a:ln w="12700">
            <a:solidFill>
              <a:schemeClr val="bg2"/>
            </a:solidFill>
            <a:prstDash val="solid"/>
          </a:ln>
        </p:spPr>
      </p:sp>
      <p:sp>
        <p:nvSpPr>
          <p:cNvPr id="25" name="Objective 5 circle"/>
          <p:cNvSpPr/>
          <p:nvPr/>
        </p:nvSpPr>
        <p:spPr>
          <a:xfrm>
            <a:off x="4692701" y="4233672"/>
            <a:ext cx="566928" cy="566928"/>
          </a:xfrm>
          <a:prstGeom prst="ellipse">
            <a:avLst/>
          </a:prstGeom>
          <a:solidFill>
            <a:schemeClr val="accent2"/>
          </a:solidFill>
          <a:ln w="12700">
            <a:solidFill>
              <a:schemeClr val="accent2"/>
            </a:solidFill>
            <a:prstDash val="solid"/>
          </a:ln>
        </p:spPr>
      </p:sp>
      <p:pic>
        <p:nvPicPr>
          <p:cNvPr id="26" name="Objective 5 icon" descr="preencoded.png">    </p:cNvPr>
          <p:cNvPicPr>
            <a:picLocks noChangeAspect="1"/>
          </p:cNvPicPr>
          <p:nvPr/>
        </p:nvPicPr>
        <p:blipFill>
          <a:blip r:embed="rId5"/>
          <a:stretch>
            <a:fillRect/>
          </a:stretch>
        </p:blipFill>
        <p:spPr>
          <a:xfrm>
            <a:off x="4845771" y="4386743"/>
            <a:ext cx="260787" cy="260787"/>
          </a:xfrm>
          <a:prstGeom prst="rect">
            <a:avLst/>
          </a:prstGeom>
        </p:spPr>
      </p:pic>
      <p:sp>
        <p:nvSpPr>
          <p:cNvPr id="27" name="Text 20"/>
          <p:cNvSpPr txBox="1"/>
          <p:nvPr/>
        </p:nvSpPr>
        <p:spPr>
          <a:xfrm>
            <a:off x="6795821" y="4251960"/>
            <a:ext cx="731520" cy="457200"/>
          </a:xfrm>
          <a:prstGeom prst="rect">
            <a:avLst/>
          </a:prstGeom>
          <a:noFill/>
          <a:ln/>
        </p:spPr>
        <p:txBody>
          <a:bodyPr wrap="square" lIns="0" tIns="0" rIns="0" bIns="0" rtlCol="0" anchor="t"/>
          <a:lstStyle/>
          <a:p>
            <a:pPr algn="r" indent="0" marL="0">
              <a:buNone/>
            </a:pPr>
            <a:r>
              <a:rPr lang="en-US" sz="2200" b="1" dirty="0">
                <a:solidFill>
                  <a:schemeClr val="accent4"/>
                </a:solidFill>
                <a:latin typeface="Cambria" pitchFamily="34" charset="0"/>
                <a:ea typeface="Cambria" pitchFamily="34" charset="-122"/>
                <a:cs typeface="Cambria" pitchFamily="34" charset="-120"/>
              </a:rPr>
              <a:t>05</a:t>
            </a:r>
            <a:endParaRPr lang="en-US" sz="2200" dirty="0"/>
          </a:p>
        </p:txBody>
      </p:sp>
      <p:sp>
        <p:nvSpPr>
          <p:cNvPr id="28" name="Text 21"/>
          <p:cNvSpPr txBox="1"/>
          <p:nvPr/>
        </p:nvSpPr>
        <p:spPr>
          <a:xfrm>
            <a:off x="4692701" y="4983480"/>
            <a:ext cx="2807208" cy="685800"/>
          </a:xfrm>
          <a:prstGeom prst="rect">
            <a:avLst/>
          </a:prstGeom>
          <a:noFill/>
          <a:ln/>
        </p:spPr>
        <p:txBody>
          <a:bodyPr wrap="square" lIns="0" tIns="0" rIns="0" bIns="0" rtlCol="0" anchor="t"/>
          <a:lstStyle/>
          <a:p>
            <a:pPr indent="0" marL="0">
              <a:buNone/>
            </a:pPr>
            <a:r>
              <a:rPr lang="en-US" sz="1600" dirty="0">
                <a:solidFill>
                  <a:schemeClr val="tx1"/>
                </a:solidFill>
              </a:rPr>
              <a:t>Fine-tune and measure a remote-sensing vision-language model</a:t>
            </a:r>
            <a:endParaRPr lang="en-US" sz="1600" dirty="0"/>
          </a:p>
        </p:txBody>
      </p:sp>
      <p:sp>
        <p:nvSpPr>
          <p:cNvPr id="29" name="Objective card 6"/>
          <p:cNvSpPr/>
          <p:nvPr/>
        </p:nvSpPr>
        <p:spPr>
          <a:xfrm>
            <a:off x="8023860" y="3959352"/>
            <a:ext cx="3355848" cy="1874520"/>
          </a:xfrm>
          <a:prstGeom prst="roundRect">
            <a:avLst>
              <a:gd name="adj" fmla="val 5854"/>
            </a:avLst>
          </a:prstGeom>
          <a:solidFill>
            <a:schemeClr val="bg2"/>
          </a:solidFill>
          <a:ln w="12700">
            <a:solidFill>
              <a:schemeClr val="bg2"/>
            </a:solidFill>
            <a:prstDash val="solid"/>
          </a:ln>
        </p:spPr>
      </p:sp>
      <p:sp>
        <p:nvSpPr>
          <p:cNvPr id="30" name="Objective 6 circle"/>
          <p:cNvSpPr/>
          <p:nvPr/>
        </p:nvSpPr>
        <p:spPr>
          <a:xfrm>
            <a:off x="8298180" y="4233672"/>
            <a:ext cx="566928" cy="566928"/>
          </a:xfrm>
          <a:prstGeom prst="ellipse">
            <a:avLst/>
          </a:prstGeom>
          <a:solidFill>
            <a:schemeClr val="tx2"/>
          </a:solidFill>
          <a:ln w="12700">
            <a:solidFill>
              <a:schemeClr val="tx2"/>
            </a:solidFill>
            <a:prstDash val="solid"/>
          </a:ln>
        </p:spPr>
      </p:sp>
      <p:pic>
        <p:nvPicPr>
          <p:cNvPr id="31" name="Objective 6 icon" descr="preencoded.png">    </p:cNvPr>
          <p:cNvPicPr>
            <a:picLocks noChangeAspect="1"/>
          </p:cNvPicPr>
          <p:nvPr/>
        </p:nvPicPr>
        <p:blipFill>
          <a:blip r:embed="rId6"/>
          <a:stretch>
            <a:fillRect/>
          </a:stretch>
        </p:blipFill>
        <p:spPr>
          <a:xfrm>
            <a:off x="8451251" y="4386743"/>
            <a:ext cx="260787" cy="260787"/>
          </a:xfrm>
          <a:prstGeom prst="rect">
            <a:avLst/>
          </a:prstGeom>
        </p:spPr>
      </p:pic>
      <p:sp>
        <p:nvSpPr>
          <p:cNvPr id="32" name="Text 24"/>
          <p:cNvSpPr txBox="1"/>
          <p:nvPr/>
        </p:nvSpPr>
        <p:spPr>
          <a:xfrm>
            <a:off x="10401300" y="4251960"/>
            <a:ext cx="731520" cy="457200"/>
          </a:xfrm>
          <a:prstGeom prst="rect">
            <a:avLst/>
          </a:prstGeom>
          <a:noFill/>
          <a:ln/>
        </p:spPr>
        <p:txBody>
          <a:bodyPr wrap="square" lIns="0" tIns="0" rIns="0" bIns="0" rtlCol="0" anchor="t"/>
          <a:lstStyle/>
          <a:p>
            <a:pPr algn="r" indent="0" marL="0">
              <a:buNone/>
            </a:pPr>
            <a:r>
              <a:rPr lang="en-US" sz="2200" b="1" dirty="0">
                <a:solidFill>
                  <a:schemeClr val="accent4"/>
                </a:solidFill>
                <a:latin typeface="Cambria" pitchFamily="34" charset="0"/>
                <a:ea typeface="Cambria" pitchFamily="34" charset="-122"/>
                <a:cs typeface="Cambria" pitchFamily="34" charset="-120"/>
              </a:rPr>
              <a:t>06</a:t>
            </a:r>
            <a:endParaRPr lang="en-US" sz="2200" dirty="0"/>
          </a:p>
        </p:txBody>
      </p:sp>
      <p:sp>
        <p:nvSpPr>
          <p:cNvPr id="33" name="Text 25"/>
          <p:cNvSpPr txBox="1"/>
          <p:nvPr/>
        </p:nvSpPr>
        <p:spPr>
          <a:xfrm>
            <a:off x="8298180" y="4983480"/>
            <a:ext cx="2807208" cy="685800"/>
          </a:xfrm>
          <a:prstGeom prst="rect">
            <a:avLst/>
          </a:prstGeom>
          <a:noFill/>
          <a:ln/>
        </p:spPr>
        <p:txBody>
          <a:bodyPr wrap="square" lIns="0" tIns="0" rIns="0" bIns="0" rtlCol="0" anchor="t"/>
          <a:lstStyle/>
          <a:p>
            <a:pPr indent="0" marL="0">
              <a:buNone/>
            </a:pPr>
            <a:r>
              <a:rPr lang="en-US" sz="1600" dirty="0">
                <a:solidFill>
                  <a:schemeClr val="tx1"/>
                </a:solidFill>
              </a:rPr>
              <a:t>Return grounded answers with evidence</a:t>
            </a:r>
            <a:endParaRPr lang="en-US" sz="16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06 · EXISTING SYSTEM</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Current approaches and their gaps</a:t>
            </a:r>
            <a:endParaRPr lang="en-US" sz="30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812902" y="1856232"/>
          <a:ext cx="10566806" cy="914400"/>
        </p:xfrm>
        <a:graphic>
          <a:graphicData uri="http://schemas.openxmlformats.org/drawingml/2006/table">
            <a:tbl>
              <a:tblPr/>
              <a:tblGrid>
                <a:gridCol w="2958998"/>
                <a:gridCol w="1901952"/>
                <a:gridCol w="1901952"/>
                <a:gridCol w="1901952"/>
                <a:gridCol w="1901952"/>
              </a:tblGrid>
              <a:tr h="640080">
                <a:tc>
                  <a:txBody>
                    <a:bodyPr/>
                    <a:lstStyle/>
                    <a:p>
                      <a:pPr algn="l" indent="0" marL="0">
                        <a:buNone/>
                      </a:pPr>
                      <a:r>
                        <a:rPr lang="en-US" sz="1500" b="1" dirty="0">
                          <a:solidFill>
                            <a:schemeClr val="tx2"/>
                          </a:solidFill>
                        </a:rPr>
                        <a:t>Approach</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2"/>
                          </a:solidFill>
                        </a:rPr>
                        <a:t>Plain-language questions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2"/>
                          </a:solidFill>
                        </a:rPr>
                        <a:t>Finds imagery itself</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2"/>
                          </a:solidFill>
                        </a:rPr>
                        <a:t>Measured analysis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2"/>
                          </a:solidFill>
                        </a:rPr>
                        <a:t>Shows its evidence</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bg2"/>
                    </a:solidFill>
                  </a:tcPr>
                </a:tc>
              </a:tr>
              <a:tr h="502920">
                <a:tc>
                  <a:txBody>
                    <a:bodyPr/>
                    <a:lstStyle/>
                    <a:p>
                      <a:pPr algn="l" indent="0" marL="0">
                        <a:buNone/>
                      </a:pPr>
                      <a:r>
                        <a:rPr lang="en-US" sz="1500" dirty="0">
                          <a:solidFill>
                            <a:schemeClr val="tx1"/>
                          </a:solidFill>
                        </a:rPr>
                        <a:t>Desktop GIS workflows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Manual</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tx1"/>
                          </a:solidFill>
                        </a:rPr>
                        <a:t>Yes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Manual</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502920">
                <a:tc>
                  <a:txBody>
                    <a:bodyPr/>
                    <a:lstStyle/>
                    <a:p>
                      <a:pPr algn="l" indent="0" marL="0">
                        <a:buNone/>
                      </a:pPr>
                      <a:r>
                        <a:rPr lang="en-US" sz="1500" dirty="0">
                          <a:solidFill>
                            <a:schemeClr val="tx1"/>
                          </a:solidFill>
                        </a:rPr>
                        <a:t>General AI chatbots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tx1"/>
                          </a:solidFill>
                        </a:rPr>
                        <a:t>Yes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502920">
                <a:tc>
                  <a:txBody>
                    <a:bodyPr/>
                    <a:lstStyle/>
                    <a:p>
                      <a:pPr algn="l" indent="0" marL="0">
                        <a:buNone/>
                      </a:pPr>
                      <a:r>
                        <a:rPr lang="en-US" sz="1500" dirty="0">
                          <a:solidFill>
                            <a:schemeClr val="tx1"/>
                          </a:solidFill>
                        </a:rPr>
                        <a:t>Research VQA models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Fixed types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500" dirty="0">
                          <a:solidFill>
                            <a:schemeClr val="accent4"/>
                          </a:solidFill>
                        </a:rPr>
                        <a:t>No</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548640">
                <a:tc>
                  <a:txBody>
                    <a:bodyPr/>
                    <a:lstStyle/>
                    <a:p>
                      <a:pPr algn="l" indent="0" marL="0">
                        <a:buNone/>
                      </a:pPr>
                      <a:r>
                        <a:rPr lang="en-US" sz="1500" b="1" dirty="0">
                          <a:solidFill>
                            <a:schemeClr val="bg1"/>
                          </a:solidFill>
                        </a:rPr>
                        <a:t>SatQuery AI</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6"/>
                          </a:solidFill>
                        </a:rPr>
                        <a:t>Yes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6"/>
                          </a:solidFill>
                        </a:rPr>
                        <a:t>Yes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6"/>
                          </a:solidFill>
                        </a:rPr>
                        <a:t>Yes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6"/>
                          </a:solidFill>
                        </a:rPr>
                        <a:t>Yes</a:t>
                      </a:r>
                      <a:endParaRPr lang="en-US" sz="1500" dirty="0"/>
                    </a:p>
                  </a:txBody>
                  <a:tcPr marL="128016" marR="128016"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chemeClr val="tx2"/>
                    </a:solidFill>
                  </a:tcPr>
                </a:tc>
              </a:tr>
            </a:tbl>
          </a:graphicData>
        </a:graphic>
      </p:graphicFrame>
      <p:sp>
        <p:nvSpPr>
          <p:cNvPr id="5" name="Gap callout"/>
          <p:cNvSpPr/>
          <p:nvPr/>
        </p:nvSpPr>
        <p:spPr>
          <a:xfrm>
            <a:off x="812902" y="4892040"/>
            <a:ext cx="10566806" cy="777240"/>
          </a:xfrm>
          <a:prstGeom prst="roundRect">
            <a:avLst>
              <a:gd name="adj" fmla="val 14118"/>
            </a:avLst>
          </a:prstGeom>
          <a:solidFill>
            <a:schemeClr val="accent6"/>
          </a:solidFill>
          <a:ln w="12700">
            <a:solidFill>
              <a:schemeClr val="accent6"/>
            </a:solidFill>
            <a:prstDash val="solid"/>
          </a:ln>
        </p:spPr>
      </p:sp>
      <p:sp>
        <p:nvSpPr>
          <p:cNvPr id="6" name="Gap circle"/>
          <p:cNvSpPr/>
          <p:nvPr/>
        </p:nvSpPr>
        <p:spPr>
          <a:xfrm>
            <a:off x="1041502" y="5001768"/>
            <a:ext cx="548640" cy="548640"/>
          </a:xfrm>
          <a:prstGeom prst="ellipse">
            <a:avLst/>
          </a:prstGeom>
          <a:solidFill>
            <a:schemeClr val="accent2"/>
          </a:solidFill>
          <a:ln w="12700">
            <a:solidFill>
              <a:schemeClr val="accent2"/>
            </a:solidFill>
            <a:prstDash val="solid"/>
          </a:ln>
        </p:spPr>
      </p:sp>
      <p:pic>
        <p:nvPicPr>
          <p:cNvPr id="7" name="Gap icon" descr="preencoded.png">    </p:cNvPr>
          <p:cNvPicPr>
            <a:picLocks noChangeAspect="1"/>
          </p:cNvPicPr>
          <p:nvPr/>
        </p:nvPicPr>
        <p:blipFill>
          <a:blip r:embed="rId1"/>
          <a:stretch>
            <a:fillRect/>
          </a:stretch>
        </p:blipFill>
        <p:spPr>
          <a:xfrm>
            <a:off x="1189634" y="5149901"/>
            <a:ext cx="252374" cy="252374"/>
          </a:xfrm>
          <a:prstGeom prst="rect">
            <a:avLst/>
          </a:prstGeom>
        </p:spPr>
      </p:pic>
      <p:sp>
        <p:nvSpPr>
          <p:cNvPr id="8" name="Text 4"/>
          <p:cNvSpPr txBox="1"/>
          <p:nvPr/>
        </p:nvSpPr>
        <p:spPr>
          <a:xfrm>
            <a:off x="1818742" y="4892040"/>
            <a:ext cx="9286646" cy="777240"/>
          </a:xfrm>
          <a:prstGeom prst="rect">
            <a:avLst/>
          </a:prstGeom>
          <a:noFill/>
          <a:ln/>
        </p:spPr>
        <p:txBody>
          <a:bodyPr wrap="square" lIns="0" tIns="0" rIns="0" bIns="0" rtlCol="0" anchor="ctr"/>
          <a:lstStyle/>
          <a:p>
            <a:pPr indent="0" marL="0">
              <a:buNone/>
            </a:pPr>
            <a:r>
              <a:rPr lang="en-US" sz="1600" b="1" dirty="0">
                <a:solidFill>
                  <a:schemeClr val="tx1"/>
                </a:solidFill>
              </a:rPr>
              <a:t>Gap: </a:t>
            </a:r>
            <a:pPr indent="0" marL="0">
              <a:buNone/>
            </a:pPr>
            <a:r>
              <a:rPr lang="en-US" sz="1600" dirty="0">
                <a:solidFill>
                  <a:schemeClr val="tx1"/>
                </a:solidFill>
              </a:rPr>
              <a:t>no existing approach combines plain-language questions with measured, verifiable analysis.</a:t>
            </a:r>
            <a:endParaRPr lang="en-US" sz="16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07 · PROPOSED SYSTEM</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A verified, plain-language analysis system</a:t>
            </a:r>
            <a:endParaRPr lang="en-US" sz="3000" dirty="0"/>
          </a:p>
        </p:txBody>
      </p:sp>
      <p:sp>
        <p:nvSpPr>
          <p:cNvPr id="4" name="Principle panel"/>
          <p:cNvSpPr/>
          <p:nvPr/>
        </p:nvSpPr>
        <p:spPr>
          <a:xfrm>
            <a:off x="812902" y="1856232"/>
            <a:ext cx="10566806" cy="1325880"/>
          </a:xfrm>
          <a:prstGeom prst="roundRect">
            <a:avLst>
              <a:gd name="adj" fmla="val 8276"/>
            </a:avLst>
          </a:prstGeom>
          <a:solidFill>
            <a:schemeClr val="tx2"/>
          </a:solidFill>
          <a:ln w="12700">
            <a:solidFill>
              <a:schemeClr val="tx2"/>
            </a:solidFill>
            <a:prstDash val="solid"/>
          </a:ln>
        </p:spPr>
      </p:sp>
      <p:sp>
        <p:nvSpPr>
          <p:cNvPr id="5" name="Text 3"/>
          <p:cNvSpPr txBox="1"/>
          <p:nvPr/>
        </p:nvSpPr>
        <p:spPr>
          <a:xfrm>
            <a:off x="1224382" y="2112264"/>
            <a:ext cx="9743846" cy="457200"/>
          </a:xfrm>
          <a:prstGeom prst="rect">
            <a:avLst/>
          </a:prstGeom>
          <a:noFill/>
          <a:ln/>
        </p:spPr>
        <p:txBody>
          <a:bodyPr wrap="square" lIns="0" tIns="0" rIns="0" bIns="0" rtlCol="0" anchor="t"/>
          <a:lstStyle/>
          <a:p>
            <a:pPr indent="0" marL="0">
              <a:buNone/>
            </a:pPr>
            <a:r>
              <a:rPr lang="en-US" sz="2400" i="1" dirty="0">
                <a:solidFill>
                  <a:schemeClr val="bg1"/>
                </a:solidFill>
                <a:latin typeface="Cambria" pitchFamily="34" charset="0"/>
                <a:ea typeface="Cambria" pitchFamily="34" charset="-122"/>
                <a:cs typeface="Cambria" pitchFamily="34" charset="-120"/>
              </a:rPr>
              <a:t>“The model proposes; deterministic code decides.”</a:t>
            </a:r>
            <a:endParaRPr lang="en-US" sz="2400" dirty="0"/>
          </a:p>
        </p:txBody>
      </p:sp>
      <p:sp>
        <p:nvSpPr>
          <p:cNvPr id="6" name="Text 4"/>
          <p:cNvSpPr txBox="1"/>
          <p:nvPr/>
        </p:nvSpPr>
        <p:spPr>
          <a:xfrm>
            <a:off x="1224382" y="2633472"/>
            <a:ext cx="9743846" cy="365760"/>
          </a:xfrm>
          <a:prstGeom prst="rect">
            <a:avLst/>
          </a:prstGeom>
          <a:noFill/>
          <a:ln/>
        </p:spPr>
        <p:txBody>
          <a:bodyPr wrap="square" lIns="0" tIns="0" rIns="0" bIns="0" rtlCol="0" anchor="t"/>
          <a:lstStyle/>
          <a:p>
            <a:pPr indent="0" marL="0">
              <a:buNone/>
            </a:pPr>
            <a:r>
              <a:rPr lang="en-US" sz="1600" dirty="0">
                <a:solidFill>
                  <a:schemeClr val="accent5"/>
                </a:solidFill>
              </a:rPr>
              <a:t>Only registered tools can run, and every input is validated before anything executes.</a:t>
            </a:r>
            <a:endParaRPr lang="en-US" sz="1600" dirty="0"/>
          </a:p>
        </p:txBody>
      </p:sp>
      <p:sp>
        <p:nvSpPr>
          <p:cNvPr id="7" name="Feature card 1"/>
          <p:cNvSpPr/>
          <p:nvPr/>
        </p:nvSpPr>
        <p:spPr>
          <a:xfrm>
            <a:off x="812902" y="3429000"/>
            <a:ext cx="5146243" cy="1069848"/>
          </a:xfrm>
          <a:prstGeom prst="roundRect">
            <a:avLst>
              <a:gd name="adj" fmla="val 10256"/>
            </a:avLst>
          </a:prstGeom>
          <a:solidFill>
            <a:schemeClr val="bg2"/>
          </a:solidFill>
          <a:ln w="12700">
            <a:solidFill>
              <a:schemeClr val="bg2"/>
            </a:solidFill>
            <a:prstDash val="solid"/>
          </a:ln>
        </p:spPr>
      </p:sp>
      <p:sp>
        <p:nvSpPr>
          <p:cNvPr id="8" name="Plain-language input circle"/>
          <p:cNvSpPr/>
          <p:nvPr/>
        </p:nvSpPr>
        <p:spPr>
          <a:xfrm>
            <a:off x="1087222" y="3666744"/>
            <a:ext cx="585216" cy="585216"/>
          </a:xfrm>
          <a:prstGeom prst="ellipse">
            <a:avLst/>
          </a:prstGeom>
          <a:solidFill>
            <a:schemeClr val="accent5"/>
          </a:solidFill>
          <a:ln w="12700">
            <a:solidFill>
              <a:schemeClr val="accent5"/>
            </a:solidFill>
            <a:prstDash val="solid"/>
          </a:ln>
        </p:spPr>
      </p:sp>
      <p:pic>
        <p:nvPicPr>
          <p:cNvPr id="9" name="Plain-language input icon" descr="preencoded.png">    </p:cNvPr>
          <p:cNvPicPr>
            <a:picLocks noChangeAspect="1"/>
          </p:cNvPicPr>
          <p:nvPr/>
        </p:nvPicPr>
        <p:blipFill>
          <a:blip r:embed="rId1"/>
          <a:stretch>
            <a:fillRect/>
          </a:stretch>
        </p:blipFill>
        <p:spPr>
          <a:xfrm>
            <a:off x="1245230" y="3824752"/>
            <a:ext cx="269199" cy="269199"/>
          </a:xfrm>
          <a:prstGeom prst="rect">
            <a:avLst/>
          </a:prstGeom>
        </p:spPr>
      </p:pic>
      <p:sp>
        <p:nvSpPr>
          <p:cNvPr id="10" name="Text 7"/>
          <p:cNvSpPr txBox="1"/>
          <p:nvPr/>
        </p:nvSpPr>
        <p:spPr>
          <a:xfrm>
            <a:off x="1901038" y="3685032"/>
            <a:ext cx="3849624" cy="292608"/>
          </a:xfrm>
          <a:prstGeom prst="rect">
            <a:avLst/>
          </a:prstGeom>
          <a:noFill/>
          <a:ln/>
        </p:spPr>
        <p:txBody>
          <a:bodyPr wrap="square" lIns="0" tIns="0" rIns="0" bIns="0" rtlCol="0" anchor="t"/>
          <a:lstStyle/>
          <a:p>
            <a:pPr indent="0" marL="0">
              <a:buNone/>
            </a:pPr>
            <a:r>
              <a:rPr lang="en-US" sz="1600" b="1" dirty="0">
                <a:solidFill>
                  <a:schemeClr val="tx2"/>
                </a:solidFill>
              </a:rPr>
              <a:t>Plain-language input</a:t>
            </a:r>
            <a:endParaRPr lang="en-US" sz="1600" dirty="0"/>
          </a:p>
        </p:txBody>
      </p:sp>
      <p:sp>
        <p:nvSpPr>
          <p:cNvPr id="11" name="Text 8"/>
          <p:cNvSpPr txBox="1"/>
          <p:nvPr/>
        </p:nvSpPr>
        <p:spPr>
          <a:xfrm>
            <a:off x="1901038" y="3995928"/>
            <a:ext cx="3849624" cy="457200"/>
          </a:xfrm>
          <a:prstGeom prst="rect">
            <a:avLst/>
          </a:prstGeom>
          <a:noFill/>
          <a:ln/>
        </p:spPr>
        <p:txBody>
          <a:bodyPr wrap="square" lIns="0" tIns="0" rIns="0" bIns="0" rtlCol="0" anchor="t"/>
          <a:lstStyle/>
          <a:p>
            <a:pPr indent="0" marL="0">
              <a:buNone/>
            </a:pPr>
            <a:r>
              <a:rPr lang="en-US" sz="1400" dirty="0">
                <a:solidFill>
                  <a:schemeClr val="accent3"/>
                </a:solidFill>
              </a:rPr>
              <a:t>English or Hindi; a place name or a map selection is enough.</a:t>
            </a:r>
            <a:endParaRPr lang="en-US" sz="1400" dirty="0"/>
          </a:p>
        </p:txBody>
      </p:sp>
      <p:sp>
        <p:nvSpPr>
          <p:cNvPr id="12" name="Feature card 2"/>
          <p:cNvSpPr/>
          <p:nvPr/>
        </p:nvSpPr>
        <p:spPr>
          <a:xfrm>
            <a:off x="6233465" y="3429000"/>
            <a:ext cx="5146243" cy="1069848"/>
          </a:xfrm>
          <a:prstGeom prst="roundRect">
            <a:avLst>
              <a:gd name="adj" fmla="val 10256"/>
            </a:avLst>
          </a:prstGeom>
          <a:solidFill>
            <a:schemeClr val="bg2"/>
          </a:solidFill>
          <a:ln w="12700">
            <a:solidFill>
              <a:schemeClr val="bg2"/>
            </a:solidFill>
            <a:prstDash val="solid"/>
          </a:ln>
        </p:spPr>
      </p:sp>
      <p:sp>
        <p:nvSpPr>
          <p:cNvPr id="13" name="Automatic imagery circle"/>
          <p:cNvSpPr/>
          <p:nvPr/>
        </p:nvSpPr>
        <p:spPr>
          <a:xfrm>
            <a:off x="6507785" y="3666744"/>
            <a:ext cx="585216" cy="585216"/>
          </a:xfrm>
          <a:prstGeom prst="ellipse">
            <a:avLst/>
          </a:prstGeom>
          <a:solidFill>
            <a:schemeClr val="accent5"/>
          </a:solidFill>
          <a:ln w="12700">
            <a:solidFill>
              <a:schemeClr val="accent5"/>
            </a:solidFill>
            <a:prstDash val="solid"/>
          </a:ln>
        </p:spPr>
      </p:sp>
      <p:pic>
        <p:nvPicPr>
          <p:cNvPr id="14" name="Automatic imagery icon" descr="preencoded.png">    </p:cNvPr>
          <p:cNvPicPr>
            <a:picLocks noChangeAspect="1"/>
          </p:cNvPicPr>
          <p:nvPr/>
        </p:nvPicPr>
        <p:blipFill>
          <a:blip r:embed="rId2"/>
          <a:stretch>
            <a:fillRect/>
          </a:stretch>
        </p:blipFill>
        <p:spPr>
          <a:xfrm>
            <a:off x="6665793" y="3824752"/>
            <a:ext cx="269199" cy="269199"/>
          </a:xfrm>
          <a:prstGeom prst="rect">
            <a:avLst/>
          </a:prstGeom>
        </p:spPr>
      </p:pic>
      <p:sp>
        <p:nvSpPr>
          <p:cNvPr id="15" name="Text 11"/>
          <p:cNvSpPr txBox="1"/>
          <p:nvPr/>
        </p:nvSpPr>
        <p:spPr>
          <a:xfrm>
            <a:off x="7321601" y="3685032"/>
            <a:ext cx="3849624" cy="292608"/>
          </a:xfrm>
          <a:prstGeom prst="rect">
            <a:avLst/>
          </a:prstGeom>
          <a:noFill/>
          <a:ln/>
        </p:spPr>
        <p:txBody>
          <a:bodyPr wrap="square" lIns="0" tIns="0" rIns="0" bIns="0" rtlCol="0" anchor="t"/>
          <a:lstStyle/>
          <a:p>
            <a:pPr indent="0" marL="0">
              <a:buNone/>
            </a:pPr>
            <a:r>
              <a:rPr lang="en-US" sz="1600" b="1" dirty="0">
                <a:solidFill>
                  <a:schemeClr val="tx2"/>
                </a:solidFill>
              </a:rPr>
              <a:t>Automatic imagery</a:t>
            </a:r>
            <a:endParaRPr lang="en-US" sz="1600" dirty="0"/>
          </a:p>
        </p:txBody>
      </p:sp>
      <p:sp>
        <p:nvSpPr>
          <p:cNvPr id="16" name="Text 12"/>
          <p:cNvSpPr txBox="1"/>
          <p:nvPr/>
        </p:nvSpPr>
        <p:spPr>
          <a:xfrm>
            <a:off x="7321601" y="3995928"/>
            <a:ext cx="3849624" cy="457200"/>
          </a:xfrm>
          <a:prstGeom prst="rect">
            <a:avLst/>
          </a:prstGeom>
          <a:noFill/>
          <a:ln/>
        </p:spPr>
        <p:txBody>
          <a:bodyPr wrap="square" lIns="0" tIns="0" rIns="0" bIns="0" rtlCol="0" anchor="t"/>
          <a:lstStyle/>
          <a:p>
            <a:pPr indent="0" marL="0">
              <a:buNone/>
            </a:pPr>
            <a:r>
              <a:rPr lang="en-US" sz="1400" dirty="0">
                <a:solidFill>
                  <a:schemeClr val="accent3"/>
                </a:solidFill>
              </a:rPr>
              <a:t>Sentinel-2 and Sentinel-1 from Microsoft Planetary Computer.</a:t>
            </a:r>
            <a:endParaRPr lang="en-US" sz="1400" dirty="0"/>
          </a:p>
        </p:txBody>
      </p:sp>
      <p:sp>
        <p:nvSpPr>
          <p:cNvPr id="17" name="Feature card 3"/>
          <p:cNvSpPr/>
          <p:nvPr/>
        </p:nvSpPr>
        <p:spPr>
          <a:xfrm>
            <a:off x="812902" y="4663440"/>
            <a:ext cx="5146243" cy="1069848"/>
          </a:xfrm>
          <a:prstGeom prst="roundRect">
            <a:avLst>
              <a:gd name="adj" fmla="val 10256"/>
            </a:avLst>
          </a:prstGeom>
          <a:solidFill>
            <a:schemeClr val="bg2"/>
          </a:solidFill>
          <a:ln w="12700">
            <a:solidFill>
              <a:schemeClr val="bg2"/>
            </a:solidFill>
            <a:prstDash val="solid"/>
          </a:ln>
        </p:spPr>
      </p:sp>
      <p:sp>
        <p:nvSpPr>
          <p:cNvPr id="18" name="Hybrid analysis circle"/>
          <p:cNvSpPr/>
          <p:nvPr/>
        </p:nvSpPr>
        <p:spPr>
          <a:xfrm>
            <a:off x="1087222" y="4901184"/>
            <a:ext cx="585216" cy="585216"/>
          </a:xfrm>
          <a:prstGeom prst="ellipse">
            <a:avLst/>
          </a:prstGeom>
          <a:solidFill>
            <a:schemeClr val="accent5"/>
          </a:solidFill>
          <a:ln w="12700">
            <a:solidFill>
              <a:schemeClr val="accent5"/>
            </a:solidFill>
            <a:prstDash val="solid"/>
          </a:ln>
        </p:spPr>
      </p:sp>
      <p:pic>
        <p:nvPicPr>
          <p:cNvPr id="19" name="Hybrid analysis icon" descr="preencoded.png">    </p:cNvPr>
          <p:cNvPicPr>
            <a:picLocks noChangeAspect="1"/>
          </p:cNvPicPr>
          <p:nvPr/>
        </p:nvPicPr>
        <p:blipFill>
          <a:blip r:embed="rId3"/>
          <a:stretch>
            <a:fillRect/>
          </a:stretch>
        </p:blipFill>
        <p:spPr>
          <a:xfrm>
            <a:off x="1245230" y="5059192"/>
            <a:ext cx="269199" cy="269199"/>
          </a:xfrm>
          <a:prstGeom prst="rect">
            <a:avLst/>
          </a:prstGeom>
        </p:spPr>
      </p:pic>
      <p:sp>
        <p:nvSpPr>
          <p:cNvPr id="20" name="Text 15"/>
          <p:cNvSpPr txBox="1"/>
          <p:nvPr/>
        </p:nvSpPr>
        <p:spPr>
          <a:xfrm>
            <a:off x="1901038" y="4919472"/>
            <a:ext cx="3849624" cy="292608"/>
          </a:xfrm>
          <a:prstGeom prst="rect">
            <a:avLst/>
          </a:prstGeom>
          <a:noFill/>
          <a:ln/>
        </p:spPr>
        <p:txBody>
          <a:bodyPr wrap="square" lIns="0" tIns="0" rIns="0" bIns="0" rtlCol="0" anchor="t"/>
          <a:lstStyle/>
          <a:p>
            <a:pPr indent="0" marL="0">
              <a:buNone/>
            </a:pPr>
            <a:r>
              <a:rPr lang="en-US" sz="1600" b="1" dirty="0">
                <a:solidFill>
                  <a:schemeClr val="tx2"/>
                </a:solidFill>
              </a:rPr>
              <a:t>Hybrid analysis</a:t>
            </a:r>
            <a:endParaRPr lang="en-US" sz="1600" dirty="0"/>
          </a:p>
        </p:txBody>
      </p:sp>
      <p:sp>
        <p:nvSpPr>
          <p:cNvPr id="21" name="Text 16"/>
          <p:cNvSpPr txBox="1"/>
          <p:nvPr/>
        </p:nvSpPr>
        <p:spPr>
          <a:xfrm>
            <a:off x="1901038" y="5230368"/>
            <a:ext cx="3849624" cy="457200"/>
          </a:xfrm>
          <a:prstGeom prst="rect">
            <a:avLst/>
          </a:prstGeom>
          <a:noFill/>
          <a:ln/>
        </p:spPr>
        <p:txBody>
          <a:bodyPr wrap="square" lIns="0" tIns="0" rIns="0" bIns="0" rtlCol="0" anchor="t"/>
          <a:lstStyle/>
          <a:p>
            <a:pPr indent="0" marL="0">
              <a:buNone/>
            </a:pPr>
            <a:r>
              <a:rPr lang="en-US" sz="1400" dirty="0">
                <a:solidFill>
                  <a:schemeClr val="accent3"/>
                </a:solidFill>
              </a:rPr>
              <a:t>Deterministic engines measure; a fine-tuned VLM describes.</a:t>
            </a:r>
            <a:endParaRPr lang="en-US" sz="1400" dirty="0"/>
          </a:p>
        </p:txBody>
      </p:sp>
      <p:sp>
        <p:nvSpPr>
          <p:cNvPr id="22" name="Feature card 4"/>
          <p:cNvSpPr/>
          <p:nvPr/>
        </p:nvSpPr>
        <p:spPr>
          <a:xfrm>
            <a:off x="6233465" y="4663440"/>
            <a:ext cx="5146243" cy="1069848"/>
          </a:xfrm>
          <a:prstGeom prst="roundRect">
            <a:avLst>
              <a:gd name="adj" fmla="val 10256"/>
            </a:avLst>
          </a:prstGeom>
          <a:solidFill>
            <a:schemeClr val="bg2"/>
          </a:solidFill>
          <a:ln w="12700">
            <a:solidFill>
              <a:schemeClr val="bg2"/>
            </a:solidFill>
            <a:prstDash val="solid"/>
          </a:ln>
        </p:spPr>
      </p:sp>
      <p:sp>
        <p:nvSpPr>
          <p:cNvPr id="23" name="Grounded answers circle"/>
          <p:cNvSpPr/>
          <p:nvPr/>
        </p:nvSpPr>
        <p:spPr>
          <a:xfrm>
            <a:off x="6507785" y="4901184"/>
            <a:ext cx="585216" cy="585216"/>
          </a:xfrm>
          <a:prstGeom prst="ellipse">
            <a:avLst/>
          </a:prstGeom>
          <a:solidFill>
            <a:schemeClr val="accent6"/>
          </a:solidFill>
          <a:ln w="12700">
            <a:solidFill>
              <a:schemeClr val="accent6"/>
            </a:solidFill>
            <a:prstDash val="solid"/>
          </a:ln>
        </p:spPr>
      </p:sp>
      <p:pic>
        <p:nvPicPr>
          <p:cNvPr id="24" name="Grounded answers icon" descr="preencoded.png">    </p:cNvPr>
          <p:cNvPicPr>
            <a:picLocks noChangeAspect="1"/>
          </p:cNvPicPr>
          <p:nvPr/>
        </p:nvPicPr>
        <p:blipFill>
          <a:blip r:embed="rId4"/>
          <a:stretch>
            <a:fillRect/>
          </a:stretch>
        </p:blipFill>
        <p:spPr>
          <a:xfrm>
            <a:off x="6665793" y="5059192"/>
            <a:ext cx="269199" cy="269199"/>
          </a:xfrm>
          <a:prstGeom prst="rect">
            <a:avLst/>
          </a:prstGeom>
        </p:spPr>
      </p:pic>
      <p:sp>
        <p:nvSpPr>
          <p:cNvPr id="25" name="Text 19"/>
          <p:cNvSpPr txBox="1"/>
          <p:nvPr/>
        </p:nvSpPr>
        <p:spPr>
          <a:xfrm>
            <a:off x="7321601" y="4919472"/>
            <a:ext cx="3849624" cy="292608"/>
          </a:xfrm>
          <a:prstGeom prst="rect">
            <a:avLst/>
          </a:prstGeom>
          <a:noFill/>
          <a:ln/>
        </p:spPr>
        <p:txBody>
          <a:bodyPr wrap="square" lIns="0" tIns="0" rIns="0" bIns="0" rtlCol="0" anchor="t"/>
          <a:lstStyle/>
          <a:p>
            <a:pPr indent="0" marL="0">
              <a:buNone/>
            </a:pPr>
            <a:r>
              <a:rPr lang="en-US" sz="1600" b="1" dirty="0">
                <a:solidFill>
                  <a:schemeClr val="tx2"/>
                </a:solidFill>
              </a:rPr>
              <a:t>Grounded answers</a:t>
            </a:r>
            <a:endParaRPr lang="en-US" sz="1600" dirty="0"/>
          </a:p>
        </p:txBody>
      </p:sp>
      <p:sp>
        <p:nvSpPr>
          <p:cNvPr id="26" name="Text 20"/>
          <p:cNvSpPr txBox="1"/>
          <p:nvPr/>
        </p:nvSpPr>
        <p:spPr>
          <a:xfrm>
            <a:off x="7321601" y="5230368"/>
            <a:ext cx="3849624" cy="457200"/>
          </a:xfrm>
          <a:prstGeom prst="rect">
            <a:avLst/>
          </a:prstGeom>
          <a:noFill/>
          <a:ln/>
        </p:spPr>
        <p:txBody>
          <a:bodyPr wrap="square" lIns="0" tIns="0" rIns="0" bIns="0" rtlCol="0" anchor="t"/>
          <a:lstStyle/>
          <a:p>
            <a:pPr indent="0" marL="0">
              <a:buNone/>
            </a:pPr>
            <a:r>
              <a:rPr lang="en-US" sz="1400" dirty="0">
                <a:solidFill>
                  <a:schemeClr val="accent3"/>
                </a:solidFill>
              </a:rPr>
              <a:t>Map, findings, confidence breakdown and execution trace.</a:t>
            </a:r>
            <a:endParaRPr lang="en-US" sz="14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08 · METHODOLOGY</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From question to grounded answer</a:t>
            </a:r>
            <a:endParaRPr lang="en-US" sz="3000" dirty="0"/>
          </a:p>
        </p:txBody>
      </p:sp>
      <p:sp>
        <p:nvSpPr>
          <p:cNvPr id="4" name="Pipeline line"/>
          <p:cNvSpPr/>
          <p:nvPr/>
        </p:nvSpPr>
        <p:spPr>
          <a:xfrm>
            <a:off x="1617269" y="2130552"/>
            <a:ext cx="8958072" cy="0"/>
          </a:xfrm>
          <a:prstGeom prst="line">
            <a:avLst/>
          </a:prstGeom>
          <a:noFill/>
          <a:ln w="25400">
            <a:solidFill>
              <a:srgbClr val="C9D6E8"/>
            </a:solidFill>
            <a:prstDash val="solid"/>
          </a:ln>
        </p:spPr>
      </p:sp>
      <p:sp>
        <p:nvSpPr>
          <p:cNvPr id="5" name="Step 1"/>
          <p:cNvSpPr txBox="1"/>
          <p:nvPr/>
        </p:nvSpPr>
        <p:spPr>
          <a:xfrm>
            <a:off x="1342949" y="1856232"/>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812902" y="2569464"/>
            <a:ext cx="1608734" cy="320040"/>
          </a:xfrm>
          <a:prstGeom prst="rect">
            <a:avLst/>
          </a:prstGeom>
          <a:noFill/>
          <a:ln/>
        </p:spPr>
        <p:txBody>
          <a:bodyPr wrap="square" lIns="0" tIns="0" rIns="0" bIns="0" rtlCol="0" anchor="t"/>
          <a:lstStyle/>
          <a:p>
            <a:pPr algn="ctr" indent="0" marL="0">
              <a:buNone/>
            </a:pPr>
            <a:r>
              <a:rPr lang="en-US" sz="1600" b="1" dirty="0">
                <a:solidFill>
                  <a:schemeClr val="tx2"/>
                </a:solidFill>
              </a:rPr>
              <a:t>Understand</a:t>
            </a:r>
            <a:endParaRPr lang="en-US" sz="1600" dirty="0"/>
          </a:p>
        </p:txBody>
      </p:sp>
      <p:sp>
        <p:nvSpPr>
          <p:cNvPr id="7" name="Text 5"/>
          <p:cNvSpPr txBox="1"/>
          <p:nvPr/>
        </p:nvSpPr>
        <p:spPr>
          <a:xfrm>
            <a:off x="812902" y="2907792"/>
            <a:ext cx="1608734" cy="868680"/>
          </a:xfrm>
          <a:prstGeom prst="rect">
            <a:avLst/>
          </a:prstGeom>
          <a:noFill/>
          <a:ln/>
        </p:spPr>
        <p:txBody>
          <a:bodyPr wrap="square" lIns="0" tIns="0" rIns="0" bIns="0" rtlCol="0" anchor="t"/>
          <a:lstStyle/>
          <a:p>
            <a:pPr algn="ctr" indent="0" marL="0">
              <a:buNone/>
            </a:pPr>
            <a:r>
              <a:rPr lang="en-US" sz="1300" dirty="0">
                <a:solidFill>
                  <a:schemeClr val="accent3"/>
                </a:solidFill>
              </a:rPr>
              <a:t>LLM or offline rules extract task, place, dates and sensor</a:t>
            </a:r>
            <a:endParaRPr lang="en-US" sz="1300" dirty="0"/>
          </a:p>
        </p:txBody>
      </p:sp>
      <p:sp>
        <p:nvSpPr>
          <p:cNvPr id="8" name="Step 2"/>
          <p:cNvSpPr txBox="1"/>
          <p:nvPr/>
        </p:nvSpPr>
        <p:spPr>
          <a:xfrm>
            <a:off x="3134563" y="1856232"/>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2604516" y="2569464"/>
            <a:ext cx="1608734" cy="320040"/>
          </a:xfrm>
          <a:prstGeom prst="rect">
            <a:avLst/>
          </a:prstGeom>
          <a:noFill/>
          <a:ln/>
        </p:spPr>
        <p:txBody>
          <a:bodyPr wrap="square" lIns="0" tIns="0" rIns="0" bIns="0" rtlCol="0" anchor="t"/>
          <a:lstStyle/>
          <a:p>
            <a:pPr algn="ctr" indent="0" marL="0">
              <a:buNone/>
            </a:pPr>
            <a:r>
              <a:rPr lang="en-US" sz="1600" b="1" dirty="0">
                <a:solidFill>
                  <a:schemeClr val="tx2"/>
                </a:solidFill>
              </a:rPr>
              <a:t>Fetch</a:t>
            </a:r>
            <a:endParaRPr lang="en-US" sz="1600" dirty="0"/>
          </a:p>
        </p:txBody>
      </p:sp>
      <p:sp>
        <p:nvSpPr>
          <p:cNvPr id="10" name="Text 8"/>
          <p:cNvSpPr txBox="1"/>
          <p:nvPr/>
        </p:nvSpPr>
        <p:spPr>
          <a:xfrm>
            <a:off x="2604516" y="2907792"/>
            <a:ext cx="1608734" cy="868680"/>
          </a:xfrm>
          <a:prstGeom prst="rect">
            <a:avLst/>
          </a:prstGeom>
          <a:noFill/>
          <a:ln/>
        </p:spPr>
        <p:txBody>
          <a:bodyPr wrap="square" lIns="0" tIns="0" rIns="0" bIns="0" rtlCol="0" anchor="t"/>
          <a:lstStyle/>
          <a:p>
            <a:pPr algn="ctr" indent="0" marL="0">
              <a:buNone/>
            </a:pPr>
            <a:r>
              <a:rPr lang="en-US" sz="1300" dirty="0">
                <a:solidFill>
                  <a:schemeClr val="accent3"/>
                </a:solidFill>
              </a:rPr>
              <a:t>Geocode the place; pick the clearest Sentinel scenes</a:t>
            </a:r>
            <a:endParaRPr lang="en-US" sz="1300" dirty="0"/>
          </a:p>
        </p:txBody>
      </p:sp>
      <p:sp>
        <p:nvSpPr>
          <p:cNvPr id="11" name="Step 3"/>
          <p:cNvSpPr txBox="1"/>
          <p:nvPr/>
        </p:nvSpPr>
        <p:spPr>
          <a:xfrm>
            <a:off x="4926178" y="1856232"/>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4396130" y="2569464"/>
            <a:ext cx="1608734" cy="320040"/>
          </a:xfrm>
          <a:prstGeom prst="rect">
            <a:avLst/>
          </a:prstGeom>
          <a:noFill/>
          <a:ln/>
        </p:spPr>
        <p:txBody>
          <a:bodyPr wrap="square" lIns="0" tIns="0" rIns="0" bIns="0" rtlCol="0" anchor="t"/>
          <a:lstStyle/>
          <a:p>
            <a:pPr algn="ctr" indent="0" marL="0">
              <a:buNone/>
            </a:pPr>
            <a:r>
              <a:rPr lang="en-US" sz="1600" b="1" dirty="0">
                <a:solidFill>
                  <a:schemeClr val="tx2"/>
                </a:solidFill>
              </a:rPr>
              <a:t>Validate</a:t>
            </a:r>
            <a:endParaRPr lang="en-US" sz="1600" dirty="0"/>
          </a:p>
        </p:txBody>
      </p:sp>
      <p:sp>
        <p:nvSpPr>
          <p:cNvPr id="13" name="Text 11"/>
          <p:cNvSpPr txBox="1"/>
          <p:nvPr/>
        </p:nvSpPr>
        <p:spPr>
          <a:xfrm>
            <a:off x="4396130" y="2907792"/>
            <a:ext cx="1608734" cy="868680"/>
          </a:xfrm>
          <a:prstGeom prst="rect">
            <a:avLst/>
          </a:prstGeom>
          <a:noFill/>
          <a:ln/>
        </p:spPr>
        <p:txBody>
          <a:bodyPr wrap="square" lIns="0" tIns="0" rIns="0" bIns="0" rtlCol="0" anchor="t"/>
          <a:lstStyle/>
          <a:p>
            <a:pPr algn="ctr" indent="0" marL="0">
              <a:buNone/>
            </a:pPr>
            <a:r>
              <a:rPr lang="en-US" sz="1300" dirty="0">
                <a:solidFill>
                  <a:schemeClr val="accent3"/>
                </a:solidFill>
              </a:rPr>
              <a:t>Check bands, dates and coverage before anything runs</a:t>
            </a:r>
            <a:endParaRPr lang="en-US" sz="1300" dirty="0"/>
          </a:p>
        </p:txBody>
      </p:sp>
      <p:sp>
        <p:nvSpPr>
          <p:cNvPr id="14" name="Step 4"/>
          <p:cNvSpPr txBox="1"/>
          <p:nvPr/>
        </p:nvSpPr>
        <p:spPr>
          <a:xfrm>
            <a:off x="6717792" y="1856232"/>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6187745" y="2569464"/>
            <a:ext cx="1608734" cy="320040"/>
          </a:xfrm>
          <a:prstGeom prst="rect">
            <a:avLst/>
          </a:prstGeom>
          <a:noFill/>
          <a:ln/>
        </p:spPr>
        <p:txBody>
          <a:bodyPr wrap="square" lIns="0" tIns="0" rIns="0" bIns="0" rtlCol="0" anchor="t"/>
          <a:lstStyle/>
          <a:p>
            <a:pPr algn="ctr" indent="0" marL="0">
              <a:buNone/>
            </a:pPr>
            <a:r>
              <a:rPr lang="en-US" sz="1600" b="1" dirty="0">
                <a:solidFill>
                  <a:schemeClr val="tx2"/>
                </a:solidFill>
              </a:rPr>
              <a:t>Select</a:t>
            </a:r>
            <a:endParaRPr lang="en-US" sz="1600" dirty="0"/>
          </a:p>
        </p:txBody>
      </p:sp>
      <p:sp>
        <p:nvSpPr>
          <p:cNvPr id="16" name="Text 14"/>
          <p:cNvSpPr txBox="1"/>
          <p:nvPr/>
        </p:nvSpPr>
        <p:spPr>
          <a:xfrm>
            <a:off x="6187745" y="2907792"/>
            <a:ext cx="1608734" cy="868680"/>
          </a:xfrm>
          <a:prstGeom prst="rect">
            <a:avLst/>
          </a:prstGeom>
          <a:noFill/>
          <a:ln/>
        </p:spPr>
        <p:txBody>
          <a:bodyPr wrap="square" lIns="0" tIns="0" rIns="0" bIns="0" rtlCol="0" anchor="t"/>
          <a:lstStyle/>
          <a:p>
            <a:pPr algn="ctr" indent="0" marL="0">
              <a:buNone/>
            </a:pPr>
            <a:r>
              <a:rPr lang="en-US" sz="1300" dirty="0">
                <a:solidFill>
                  <a:schemeClr val="accent3"/>
                </a:solidFill>
              </a:rPr>
              <a:t>Choose a registered tool and its engine</a:t>
            </a:r>
            <a:endParaRPr lang="en-US" sz="1300" dirty="0"/>
          </a:p>
        </p:txBody>
      </p:sp>
      <p:sp>
        <p:nvSpPr>
          <p:cNvPr id="17" name="Step 5"/>
          <p:cNvSpPr txBox="1"/>
          <p:nvPr/>
        </p:nvSpPr>
        <p:spPr>
          <a:xfrm>
            <a:off x="8509406" y="1856232"/>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18" name="Text 16"/>
          <p:cNvSpPr txBox="1"/>
          <p:nvPr/>
        </p:nvSpPr>
        <p:spPr>
          <a:xfrm>
            <a:off x="7979359" y="2569464"/>
            <a:ext cx="1608734" cy="320040"/>
          </a:xfrm>
          <a:prstGeom prst="rect">
            <a:avLst/>
          </a:prstGeom>
          <a:noFill/>
          <a:ln/>
        </p:spPr>
        <p:txBody>
          <a:bodyPr wrap="square" lIns="0" tIns="0" rIns="0" bIns="0" rtlCol="0" anchor="t"/>
          <a:lstStyle/>
          <a:p>
            <a:pPr algn="ctr" indent="0" marL="0">
              <a:buNone/>
            </a:pPr>
            <a:r>
              <a:rPr lang="en-US" sz="1600" b="1" dirty="0">
                <a:solidFill>
                  <a:schemeClr val="tx2"/>
                </a:solidFill>
              </a:rPr>
              <a:t>Execute</a:t>
            </a:r>
            <a:endParaRPr lang="en-US" sz="1600" dirty="0"/>
          </a:p>
        </p:txBody>
      </p:sp>
      <p:sp>
        <p:nvSpPr>
          <p:cNvPr id="19" name="Text 17"/>
          <p:cNvSpPr txBox="1"/>
          <p:nvPr/>
        </p:nvSpPr>
        <p:spPr>
          <a:xfrm>
            <a:off x="7979359" y="2907792"/>
            <a:ext cx="1608734" cy="868680"/>
          </a:xfrm>
          <a:prstGeom prst="rect">
            <a:avLst/>
          </a:prstGeom>
          <a:noFill/>
          <a:ln/>
        </p:spPr>
        <p:txBody>
          <a:bodyPr wrap="square" lIns="0" tIns="0" rIns="0" bIns="0" rtlCol="0" anchor="t"/>
          <a:lstStyle/>
          <a:p>
            <a:pPr algn="ctr" indent="0" marL="0">
              <a:buNone/>
            </a:pPr>
            <a:r>
              <a:rPr lang="en-US" sz="1300" dirty="0">
                <a:solidFill>
                  <a:schemeClr val="accent3"/>
                </a:solidFill>
              </a:rPr>
              <a:t>Indices, SAR thresholds, change, fusion or VQA</a:t>
            </a:r>
            <a:endParaRPr lang="en-US" sz="1300" dirty="0"/>
          </a:p>
        </p:txBody>
      </p:sp>
      <p:sp>
        <p:nvSpPr>
          <p:cNvPr id="20" name="Step 6"/>
          <p:cNvSpPr txBox="1"/>
          <p:nvPr/>
        </p:nvSpPr>
        <p:spPr>
          <a:xfrm>
            <a:off x="10301021" y="1856232"/>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6</a:t>
            </a:r>
            <a:endParaRPr lang="en-US" sz="1800" dirty="0"/>
          </a:p>
        </p:txBody>
      </p:sp>
      <p:sp>
        <p:nvSpPr>
          <p:cNvPr id="21" name="Text 19"/>
          <p:cNvSpPr txBox="1"/>
          <p:nvPr/>
        </p:nvSpPr>
        <p:spPr>
          <a:xfrm>
            <a:off x="9770974" y="2569464"/>
            <a:ext cx="1608734" cy="320040"/>
          </a:xfrm>
          <a:prstGeom prst="rect">
            <a:avLst/>
          </a:prstGeom>
          <a:noFill/>
          <a:ln/>
        </p:spPr>
        <p:txBody>
          <a:bodyPr wrap="square" lIns="0" tIns="0" rIns="0" bIns="0" rtlCol="0" anchor="t"/>
          <a:lstStyle/>
          <a:p>
            <a:pPr algn="ctr" indent="0" marL="0">
              <a:buNone/>
            </a:pPr>
            <a:r>
              <a:rPr lang="en-US" sz="1600" b="1" dirty="0">
                <a:solidFill>
                  <a:schemeClr val="tx2"/>
                </a:solidFill>
              </a:rPr>
              <a:t>Integrate</a:t>
            </a:r>
            <a:endParaRPr lang="en-US" sz="1600" dirty="0"/>
          </a:p>
        </p:txBody>
      </p:sp>
      <p:sp>
        <p:nvSpPr>
          <p:cNvPr id="22" name="Text 20"/>
          <p:cNvSpPr txBox="1"/>
          <p:nvPr/>
        </p:nvSpPr>
        <p:spPr>
          <a:xfrm>
            <a:off x="9770974" y="2907792"/>
            <a:ext cx="1608734" cy="868680"/>
          </a:xfrm>
          <a:prstGeom prst="rect">
            <a:avLst/>
          </a:prstGeom>
          <a:noFill/>
          <a:ln/>
        </p:spPr>
        <p:txBody>
          <a:bodyPr wrap="square" lIns="0" tIns="0" rIns="0" bIns="0" rtlCol="0" anchor="t"/>
          <a:lstStyle/>
          <a:p>
            <a:pPr algn="ctr" indent="0" marL="0">
              <a:buNone/>
            </a:pPr>
            <a:r>
              <a:rPr lang="en-US" sz="1300" dirty="0">
                <a:solidFill>
                  <a:schemeClr val="accent3"/>
                </a:solidFill>
              </a:rPr>
              <a:t>Narrate findings, score confidence, attach map and trace</a:t>
            </a:r>
            <a:endParaRPr lang="en-US" sz="1300" dirty="0"/>
          </a:p>
        </p:txBody>
      </p:sp>
      <p:sp>
        <p:nvSpPr>
          <p:cNvPr id="23" name="Worked example card"/>
          <p:cNvSpPr/>
          <p:nvPr/>
        </p:nvSpPr>
        <p:spPr>
          <a:xfrm>
            <a:off x="812902" y="3931920"/>
            <a:ext cx="10566806" cy="1828800"/>
          </a:xfrm>
          <a:prstGeom prst="roundRect">
            <a:avLst>
              <a:gd name="adj" fmla="val 6000"/>
            </a:avLst>
          </a:prstGeom>
          <a:solidFill>
            <a:schemeClr val="bg2"/>
          </a:solidFill>
          <a:ln w="12700">
            <a:solidFill>
              <a:schemeClr val="bg2"/>
            </a:solidFill>
            <a:prstDash val="solid"/>
          </a:ln>
        </p:spPr>
      </p:sp>
      <p:pic>
        <p:nvPicPr>
          <p:cNvPr id="24" name="Kochi flood map" descr="Flood map of Kochi: new flood water in orange, permanent water in blue, over radar backscatter">    </p:cNvPr>
          <p:cNvPicPr>
            <a:picLocks noChangeAspect="1"/>
          </p:cNvPicPr>
          <p:nvPr/>
        </p:nvPicPr>
        <p:blipFill>
          <a:blip r:embed="rId1"/>
          <a:stretch>
            <a:fillRect/>
          </a:stretch>
        </p:blipFill>
        <p:spPr>
          <a:xfrm>
            <a:off x="1041502" y="4114800"/>
            <a:ext cx="1463040" cy="1463040"/>
          </a:xfrm>
          <a:prstGeom prst="rect">
            <a:avLst/>
          </a:prstGeom>
        </p:spPr>
      </p:pic>
      <p:sp>
        <p:nvSpPr>
          <p:cNvPr id="25" name="Text 22"/>
          <p:cNvSpPr txBox="1"/>
          <p:nvPr/>
        </p:nvSpPr>
        <p:spPr>
          <a:xfrm>
            <a:off x="2778862" y="4160520"/>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WORKED EXAMPLE</a:t>
            </a:r>
            <a:endParaRPr lang="en-US" sz="1200" dirty="0"/>
          </a:p>
        </p:txBody>
      </p:sp>
      <p:sp>
        <p:nvSpPr>
          <p:cNvPr id="26" name="Text 23"/>
          <p:cNvSpPr txBox="1"/>
          <p:nvPr/>
        </p:nvSpPr>
        <p:spPr>
          <a:xfrm>
            <a:off x="2778862" y="4480560"/>
            <a:ext cx="8321040" cy="411480"/>
          </a:xfrm>
          <a:prstGeom prst="rect">
            <a:avLst/>
          </a:prstGeom>
          <a:noFill/>
          <a:ln/>
        </p:spPr>
        <p:txBody>
          <a:bodyPr wrap="square" lIns="0" tIns="0" rIns="0" bIns="0" rtlCol="0" anchor="t"/>
          <a:lstStyle/>
          <a:p>
            <a:pPr indent="0" marL="0">
              <a:buNone/>
            </a:pPr>
            <a:r>
              <a:rPr lang="en-US" sz="2000" i="1" dirty="0">
                <a:solidFill>
                  <a:schemeClr val="tx2"/>
                </a:solidFill>
                <a:latin typeface="Cambria" pitchFamily="34" charset="0"/>
                <a:ea typeface="Cambria" pitchFamily="34" charset="-122"/>
                <a:cs typeface="Cambria" pitchFamily="34" charset="-120"/>
              </a:rPr>
              <a:t>“Find areas affected by flooding in Kochi in August 2024”</a:t>
            </a:r>
            <a:endParaRPr lang="en-US" sz="2000" dirty="0"/>
          </a:p>
        </p:txBody>
      </p:sp>
      <p:sp>
        <p:nvSpPr>
          <p:cNvPr id="27" name="Text 24"/>
          <p:cNvSpPr txBox="1"/>
          <p:nvPr/>
        </p:nvSpPr>
        <p:spPr>
          <a:xfrm>
            <a:off x="2778862" y="4983480"/>
            <a:ext cx="8321040" cy="640080"/>
          </a:xfrm>
          <a:prstGeom prst="rect">
            <a:avLst/>
          </a:prstGeom>
          <a:noFill/>
          <a:ln/>
        </p:spPr>
        <p:txBody>
          <a:bodyPr wrap="square" lIns="0" tIns="0" rIns="0" bIns="0" rtlCol="0" anchor="t"/>
          <a:lstStyle/>
          <a:p>
            <a:pPr indent="0" marL="0">
              <a:buNone/>
            </a:pPr>
            <a:r>
              <a:rPr lang="en-US" sz="1400" dirty="0">
                <a:solidFill>
                  <a:schemeClr val="accent3"/>
                </a:solidFill>
              </a:rPr>
              <a:t>Sentinel-1 radar, flood scene against a dry-season reference → 0.9% newly flooded (orange); 48.2% permanent water kept separate (blue)</a:t>
            </a:r>
            <a:endParaRPr lang="en-US" sz="14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09 · SYSTEM DESIGN / ARCHITECTURE</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Six-stage hybrid architecture</a:t>
            </a:r>
            <a:endParaRPr lang="en-US" sz="3000" dirty="0"/>
          </a:p>
        </p:txBody>
      </p:sp>
      <p:sp>
        <p:nvSpPr>
          <p:cNvPr id="4" name="Stage 1"/>
          <p:cNvSpPr txBox="1"/>
          <p:nvPr/>
        </p:nvSpPr>
        <p:spPr>
          <a:xfrm>
            <a:off x="812902" y="1880006"/>
            <a:ext cx="2286000" cy="1828800"/>
          </a:xfrm>
          <a:prstGeom prst="roundRect">
            <a:avLst>
              <a:gd name="adj" fmla="val 5000"/>
            </a:avLst>
          </a:prstGeom>
          <a:solidFill>
            <a:schemeClr val="bg2"/>
          </a:solidFill>
          <a:ln>
            <a:solidFill>
              <a:schemeClr val="bg2"/>
            </a:solidFill>
          </a:ln>
        </p:spPr>
        <p:txBody>
          <a:bodyPr wrap="square" lIns="152400" tIns="177800" rIns="177800" bIns="152400" rtlCol="0" anchor="t"/>
          <a:lstStyle/>
          <a:p>
            <a:pPr indent="0" marL="0">
              <a:buNone/>
            </a:pPr>
            <a:r>
              <a:rPr lang="en-US" sz="1200" b="1" dirty="0">
                <a:solidFill>
                  <a:schemeClr val="accent4"/>
                </a:solidFill>
              </a:rPr>
              <a:t>Stage 1</a:t>
            </a:r>
            <a:endParaRPr lang="en-US" sz="1200" dirty="0"/>
          </a:p>
          <a:p>
            <a:pPr indent="0" marL="0">
              <a:spcBef>
                <a:spcPts val="400"/>
              </a:spcBef>
              <a:buNone/>
            </a:pPr>
            <a:r>
              <a:rPr lang="en-US" sz="1600" b="1" dirty="0">
                <a:solidFill>
                  <a:schemeClr val="tx2"/>
                </a:solidFill>
              </a:rPr>
              <a:t>Multimodal input</a:t>
            </a:r>
            <a:endParaRPr lang="en-US" sz="1200" dirty="0"/>
          </a:p>
          <a:p>
            <a:pPr indent="0" marL="0">
              <a:spcBef>
                <a:spcPts val="600"/>
              </a:spcBef>
              <a:buNone/>
            </a:pPr>
            <a:r>
              <a:rPr lang="en-US" sz="1300" dirty="0">
                <a:solidFill>
                  <a:schemeClr val="accent3"/>
                </a:solidFill>
              </a:rPr>
              <a:t>Optical, radar, image pairs, or scenes fetched by place</a:t>
            </a:r>
            <a:endParaRPr lang="en-US" sz="1200" dirty="0"/>
          </a:p>
        </p:txBody>
      </p:sp>
      <p:sp>
        <p:nvSpPr>
          <p:cNvPr id="5" name="Stage 2"/>
          <p:cNvSpPr txBox="1"/>
          <p:nvPr/>
        </p:nvSpPr>
        <p:spPr>
          <a:xfrm>
            <a:off x="812902" y="4000500"/>
            <a:ext cx="2286000" cy="1828800"/>
          </a:xfrm>
          <a:prstGeom prst="roundRect">
            <a:avLst>
              <a:gd name="adj" fmla="val 5000"/>
            </a:avLst>
          </a:prstGeom>
          <a:solidFill>
            <a:schemeClr val="bg2"/>
          </a:solidFill>
          <a:ln>
            <a:solidFill>
              <a:schemeClr val="bg2"/>
            </a:solidFill>
          </a:ln>
        </p:spPr>
        <p:txBody>
          <a:bodyPr wrap="square" lIns="152400" tIns="177800" rIns="177800" bIns="152400" rtlCol="0" anchor="t"/>
          <a:lstStyle/>
          <a:p>
            <a:pPr indent="0" marL="0">
              <a:buNone/>
            </a:pPr>
            <a:r>
              <a:rPr lang="en-US" sz="1200" b="1" dirty="0">
                <a:solidFill>
                  <a:schemeClr val="accent4"/>
                </a:solidFill>
              </a:rPr>
              <a:t>Stage 2</a:t>
            </a:r>
            <a:endParaRPr lang="en-US" sz="1200" dirty="0"/>
          </a:p>
          <a:p>
            <a:pPr indent="0" marL="0">
              <a:spcBef>
                <a:spcPts val="400"/>
              </a:spcBef>
              <a:buNone/>
            </a:pPr>
            <a:r>
              <a:rPr lang="en-US" sz="1600" b="1" dirty="0">
                <a:solidFill>
                  <a:schemeClr val="tx2"/>
                </a:solidFill>
              </a:rPr>
              <a:t>Query understanding</a:t>
            </a:r>
            <a:endParaRPr lang="en-US" sz="1200" dirty="0"/>
          </a:p>
          <a:p>
            <a:pPr indent="0" marL="0">
              <a:spcBef>
                <a:spcPts val="600"/>
              </a:spcBef>
              <a:buNone/>
            </a:pPr>
            <a:r>
              <a:rPr lang="en-US" sz="1300" dirty="0">
                <a:solidFill>
                  <a:schemeClr val="accent3"/>
                </a:solidFill>
              </a:rPr>
              <a:t>LLM or rules: task, place, time, metric, sensor</a:t>
            </a:r>
            <a:endParaRPr lang="en-US" sz="1200" dirty="0"/>
          </a:p>
        </p:txBody>
      </p:sp>
      <p:sp>
        <p:nvSpPr>
          <p:cNvPr id="6" name="Stage 3"/>
          <p:cNvSpPr txBox="1"/>
          <p:nvPr/>
        </p:nvSpPr>
        <p:spPr>
          <a:xfrm>
            <a:off x="3556102" y="2939796"/>
            <a:ext cx="2286000" cy="1828800"/>
          </a:xfrm>
          <a:prstGeom prst="roundRect">
            <a:avLst>
              <a:gd name="adj" fmla="val 5000"/>
            </a:avLst>
          </a:prstGeom>
          <a:solidFill>
            <a:schemeClr val="bg2"/>
          </a:solidFill>
          <a:ln>
            <a:solidFill>
              <a:schemeClr val="bg2"/>
            </a:solidFill>
          </a:ln>
        </p:spPr>
        <p:txBody>
          <a:bodyPr wrap="square" lIns="152400" tIns="177800" rIns="177800" bIns="152400" rtlCol="0" anchor="t"/>
          <a:lstStyle/>
          <a:p>
            <a:pPr indent="0" marL="0">
              <a:buNone/>
            </a:pPr>
            <a:r>
              <a:rPr lang="en-US" sz="1200" b="1" dirty="0">
                <a:solidFill>
                  <a:schemeClr val="accent1"/>
                </a:solidFill>
              </a:rPr>
              <a:t>Stage 3</a:t>
            </a:r>
            <a:endParaRPr lang="en-US" sz="1200" dirty="0"/>
          </a:p>
          <a:p>
            <a:pPr indent="0" marL="0">
              <a:spcBef>
                <a:spcPts val="400"/>
              </a:spcBef>
              <a:buNone/>
            </a:pPr>
            <a:r>
              <a:rPr lang="en-US" sz="1600" b="1" dirty="0">
                <a:solidFill>
                  <a:schemeClr val="tx2"/>
                </a:solidFill>
              </a:rPr>
              <a:t>Agentic orchestrator</a:t>
            </a:r>
            <a:endParaRPr lang="en-US" sz="1200" dirty="0"/>
          </a:p>
          <a:p>
            <a:pPr indent="0" marL="0">
              <a:spcBef>
                <a:spcPts val="600"/>
              </a:spcBef>
              <a:buNone/>
            </a:pPr>
            <a:r>
              <a:rPr lang="en-US" sz="1300" dirty="0">
                <a:solidFill>
                  <a:schemeClr val="accent3"/>
                </a:solidFill>
              </a:rPr>
              <a:t>Plans steps and routes to a registered engine</a:t>
            </a:r>
            <a:endParaRPr lang="en-US" sz="1200" dirty="0"/>
          </a:p>
        </p:txBody>
      </p:sp>
      <p:sp>
        <p:nvSpPr>
          <p:cNvPr id="7" name="Stage 4A"/>
          <p:cNvSpPr txBox="1"/>
          <p:nvPr/>
        </p:nvSpPr>
        <p:spPr>
          <a:xfrm>
            <a:off x="6299302" y="1880006"/>
            <a:ext cx="2286000" cy="1828800"/>
          </a:xfrm>
          <a:prstGeom prst="roundRect">
            <a:avLst>
              <a:gd name="adj" fmla="val 5000"/>
            </a:avLst>
          </a:prstGeom>
          <a:solidFill>
            <a:schemeClr val="accent6"/>
          </a:solidFill>
          <a:ln>
            <a:solidFill>
              <a:schemeClr val="accent6"/>
            </a:solidFill>
          </a:ln>
        </p:spPr>
        <p:txBody>
          <a:bodyPr wrap="square" lIns="152400" tIns="177800" rIns="177800" bIns="152400" rtlCol="0" anchor="t"/>
          <a:lstStyle/>
          <a:p>
            <a:pPr indent="0" marL="0">
              <a:buNone/>
            </a:pPr>
            <a:r>
              <a:rPr lang="en-US" sz="1200" b="1" dirty="0">
                <a:solidFill>
                  <a:srgbClr val="B5571A"/>
                </a:solidFill>
              </a:rPr>
              <a:t>Stage 4A</a:t>
            </a:r>
            <a:endParaRPr lang="en-US" sz="1200" dirty="0"/>
          </a:p>
          <a:p>
            <a:pPr indent="0" marL="0">
              <a:spcBef>
                <a:spcPts val="400"/>
              </a:spcBef>
              <a:buNone/>
            </a:pPr>
            <a:r>
              <a:rPr lang="en-US" sz="1600" b="1" dirty="0">
                <a:solidFill>
                  <a:schemeClr val="tx2"/>
                </a:solidFill>
              </a:rPr>
              <a:t>Vision-language core</a:t>
            </a:r>
            <a:endParaRPr lang="en-US" sz="1200" dirty="0"/>
          </a:p>
          <a:p>
            <a:pPr indent="0" marL="0">
              <a:spcBef>
                <a:spcPts val="600"/>
              </a:spcBef>
              <a:buNone/>
            </a:pPr>
            <a:r>
              <a:rPr lang="en-US" sz="1300" dirty="0">
                <a:solidFill>
                  <a:schemeClr val="accent3"/>
                </a:solidFill>
              </a:rPr>
              <a:t>Fine-tuned Qwen2-VL: VQA, captions, change-VQA</a:t>
            </a:r>
            <a:endParaRPr lang="en-US" sz="1200" dirty="0"/>
          </a:p>
        </p:txBody>
      </p:sp>
      <p:sp>
        <p:nvSpPr>
          <p:cNvPr id="8" name="Stage 4B"/>
          <p:cNvSpPr txBox="1"/>
          <p:nvPr/>
        </p:nvSpPr>
        <p:spPr>
          <a:xfrm>
            <a:off x="6299302" y="4000500"/>
            <a:ext cx="2286000" cy="1828800"/>
          </a:xfrm>
          <a:prstGeom prst="roundRect">
            <a:avLst>
              <a:gd name="adj" fmla="val 5000"/>
            </a:avLst>
          </a:prstGeom>
          <a:solidFill>
            <a:schemeClr val="accent5"/>
          </a:solidFill>
          <a:ln>
            <a:solidFill>
              <a:schemeClr val="accent5"/>
            </a:solidFill>
          </a:ln>
        </p:spPr>
        <p:txBody>
          <a:bodyPr wrap="square" lIns="152400" tIns="177800" rIns="177800" bIns="152400" rtlCol="0" anchor="t"/>
          <a:lstStyle/>
          <a:p>
            <a:pPr indent="0" marL="0">
              <a:buNone/>
            </a:pPr>
            <a:r>
              <a:rPr lang="en-US" sz="1200" b="1" dirty="0">
                <a:solidFill>
                  <a:schemeClr val="accent1"/>
                </a:solidFill>
              </a:rPr>
              <a:t>Stage 4B</a:t>
            </a:r>
            <a:endParaRPr lang="en-US" sz="1200" dirty="0"/>
          </a:p>
          <a:p>
            <a:pPr indent="0" marL="0">
              <a:spcBef>
                <a:spcPts val="400"/>
              </a:spcBef>
              <a:buNone/>
            </a:pPr>
            <a:r>
              <a:rPr lang="en-US" sz="1600" b="1" dirty="0">
                <a:solidFill>
                  <a:schemeClr val="tx2"/>
                </a:solidFill>
              </a:rPr>
              <a:t>Deterministic engines</a:t>
            </a:r>
            <a:endParaRPr lang="en-US" sz="1200" dirty="0"/>
          </a:p>
          <a:p>
            <a:pPr indent="0" marL="0">
              <a:spcBef>
                <a:spcPts val="600"/>
              </a:spcBef>
              <a:buNone/>
            </a:pPr>
            <a:r>
              <a:rPr lang="en-US" sz="1300" dirty="0">
                <a:solidFill>
                  <a:schemeClr val="accent3"/>
                </a:solidFill>
              </a:rPr>
              <a:t>Indices, SAR flood, change, land cover, fusion</a:t>
            </a:r>
            <a:endParaRPr lang="en-US" sz="1200" dirty="0"/>
          </a:p>
        </p:txBody>
      </p:sp>
      <p:sp>
        <p:nvSpPr>
          <p:cNvPr id="9" name="Stage 5"/>
          <p:cNvSpPr txBox="1"/>
          <p:nvPr/>
        </p:nvSpPr>
        <p:spPr>
          <a:xfrm>
            <a:off x="9042502" y="1880006"/>
            <a:ext cx="2337206" cy="1828800"/>
          </a:xfrm>
          <a:prstGeom prst="roundRect">
            <a:avLst>
              <a:gd name="adj" fmla="val 5000"/>
            </a:avLst>
          </a:prstGeom>
          <a:solidFill>
            <a:schemeClr val="bg2"/>
          </a:solidFill>
          <a:ln>
            <a:solidFill>
              <a:schemeClr val="bg2"/>
            </a:solidFill>
          </a:ln>
        </p:spPr>
        <p:txBody>
          <a:bodyPr wrap="square" lIns="152400" tIns="177800" rIns="177800" bIns="152400" rtlCol="0" anchor="t"/>
          <a:lstStyle/>
          <a:p>
            <a:pPr indent="0" marL="0">
              <a:buNone/>
            </a:pPr>
            <a:r>
              <a:rPr lang="en-US" sz="1200" b="1" dirty="0">
                <a:solidFill>
                  <a:schemeClr val="accent1"/>
                </a:solidFill>
              </a:rPr>
              <a:t>Stage 5</a:t>
            </a:r>
            <a:endParaRPr lang="en-US" sz="1200" dirty="0"/>
          </a:p>
          <a:p>
            <a:pPr indent="0" marL="0">
              <a:spcBef>
                <a:spcPts val="400"/>
              </a:spcBef>
              <a:buNone/>
            </a:pPr>
            <a:r>
              <a:rPr lang="en-US" sz="1600" b="1" dirty="0">
                <a:solidFill>
                  <a:schemeClr val="tx2"/>
                </a:solidFill>
              </a:rPr>
              <a:t>Validation and evidence</a:t>
            </a:r>
            <a:endParaRPr lang="en-US" sz="1200" dirty="0"/>
          </a:p>
          <a:p>
            <a:pPr indent="0" marL="0">
              <a:spcBef>
                <a:spcPts val="600"/>
              </a:spcBef>
              <a:buNone/>
            </a:pPr>
            <a:r>
              <a:rPr lang="en-US" sz="1300" dirty="0">
                <a:solidFill>
                  <a:schemeClr val="accent3"/>
                </a:solidFill>
              </a:rPr>
              <a:t>Input checks, confidence, measured accuracy, trace</a:t>
            </a:r>
            <a:endParaRPr lang="en-US" sz="1200" dirty="0"/>
          </a:p>
        </p:txBody>
      </p:sp>
      <p:sp>
        <p:nvSpPr>
          <p:cNvPr id="10" name="Stage 6"/>
          <p:cNvSpPr txBox="1"/>
          <p:nvPr/>
        </p:nvSpPr>
        <p:spPr>
          <a:xfrm>
            <a:off x="9042502" y="4000500"/>
            <a:ext cx="2337206" cy="1828800"/>
          </a:xfrm>
          <a:prstGeom prst="roundRect">
            <a:avLst>
              <a:gd name="adj" fmla="val 5000"/>
            </a:avLst>
          </a:prstGeom>
          <a:solidFill>
            <a:schemeClr val="tx2"/>
          </a:solidFill>
          <a:ln>
            <a:solidFill>
              <a:schemeClr val="tx2"/>
            </a:solidFill>
          </a:ln>
        </p:spPr>
        <p:txBody>
          <a:bodyPr wrap="square" lIns="152400" tIns="177800" rIns="177800" bIns="152400" rtlCol="0" anchor="t"/>
          <a:lstStyle/>
          <a:p>
            <a:pPr indent="0" marL="0">
              <a:buNone/>
            </a:pPr>
            <a:r>
              <a:rPr lang="en-US" sz="1200" b="1" dirty="0">
                <a:solidFill>
                  <a:schemeClr val="accent6"/>
                </a:solidFill>
              </a:rPr>
              <a:t>Stage 6</a:t>
            </a:r>
            <a:endParaRPr lang="en-US" sz="1200" dirty="0"/>
          </a:p>
          <a:p>
            <a:pPr indent="0" marL="0">
              <a:spcBef>
                <a:spcPts val="400"/>
              </a:spcBef>
              <a:buNone/>
            </a:pPr>
            <a:r>
              <a:rPr lang="en-US" sz="1600" b="1" dirty="0">
                <a:solidFill>
                  <a:schemeClr val="bg1"/>
                </a:solidFill>
              </a:rPr>
              <a:t>Grounded answer</a:t>
            </a:r>
            <a:endParaRPr lang="en-US" sz="1200" dirty="0"/>
          </a:p>
          <a:p>
            <a:pPr indent="0" marL="0">
              <a:spcBef>
                <a:spcPts val="600"/>
              </a:spcBef>
              <a:buNone/>
            </a:pPr>
            <a:r>
              <a:rPr lang="en-US" sz="1300" dirty="0">
                <a:solidFill>
                  <a:schemeClr val="accent5"/>
                </a:solidFill>
              </a:rPr>
              <a:t>Answer, map, findings and supporting evidence</a:t>
            </a:r>
            <a:endParaRPr lang="en-US" sz="1200" dirty="0"/>
          </a:p>
        </p:txBody>
      </p:sp>
      <p:sp>
        <p:nvSpPr>
          <p:cNvPr id="11" name="Connector"/>
          <p:cNvSpPr/>
          <p:nvPr/>
        </p:nvSpPr>
        <p:spPr>
          <a:xfrm>
            <a:off x="1955902" y="3708806"/>
            <a:ext cx="0" cy="291694"/>
          </a:xfrm>
          <a:prstGeom prst="line">
            <a:avLst/>
          </a:prstGeom>
          <a:noFill/>
          <a:ln w="25400">
            <a:solidFill>
              <a:srgbClr val="8A94A3"/>
            </a:solidFill>
            <a:prstDash val="solid"/>
            <a:tailEnd type="triangle"/>
          </a:ln>
        </p:spPr>
      </p:sp>
      <p:sp>
        <p:nvSpPr>
          <p:cNvPr id="12" name="Connector"/>
          <p:cNvSpPr/>
          <p:nvPr/>
        </p:nvSpPr>
        <p:spPr>
          <a:xfrm>
            <a:off x="3098902" y="4914900"/>
            <a:ext cx="228600" cy="0"/>
          </a:xfrm>
          <a:prstGeom prst="line">
            <a:avLst/>
          </a:prstGeom>
          <a:noFill/>
          <a:ln w="25400">
            <a:solidFill>
              <a:srgbClr val="8A94A3"/>
            </a:solidFill>
            <a:prstDash val="solid"/>
          </a:ln>
        </p:spPr>
      </p:sp>
      <p:sp>
        <p:nvSpPr>
          <p:cNvPr id="13" name="Connector"/>
          <p:cNvSpPr/>
          <p:nvPr/>
        </p:nvSpPr>
        <p:spPr>
          <a:xfrm>
            <a:off x="3327502" y="3854196"/>
            <a:ext cx="0" cy="1060704"/>
          </a:xfrm>
          <a:prstGeom prst="line">
            <a:avLst/>
          </a:prstGeom>
          <a:noFill/>
          <a:ln w="25400">
            <a:solidFill>
              <a:srgbClr val="8A94A3"/>
            </a:solidFill>
            <a:prstDash val="solid"/>
          </a:ln>
        </p:spPr>
      </p:sp>
      <p:sp>
        <p:nvSpPr>
          <p:cNvPr id="14" name="Connector"/>
          <p:cNvSpPr/>
          <p:nvPr/>
        </p:nvSpPr>
        <p:spPr>
          <a:xfrm>
            <a:off x="3327502" y="3854196"/>
            <a:ext cx="228600" cy="0"/>
          </a:xfrm>
          <a:prstGeom prst="line">
            <a:avLst/>
          </a:prstGeom>
          <a:noFill/>
          <a:ln w="25400">
            <a:solidFill>
              <a:srgbClr val="8A94A3"/>
            </a:solidFill>
            <a:prstDash val="solid"/>
            <a:tailEnd type="triangle"/>
          </a:ln>
        </p:spPr>
      </p:sp>
      <p:sp>
        <p:nvSpPr>
          <p:cNvPr id="15" name="Connector"/>
          <p:cNvSpPr/>
          <p:nvPr/>
        </p:nvSpPr>
        <p:spPr>
          <a:xfrm>
            <a:off x="5842102" y="3854196"/>
            <a:ext cx="228600" cy="0"/>
          </a:xfrm>
          <a:prstGeom prst="line">
            <a:avLst/>
          </a:prstGeom>
          <a:noFill/>
          <a:ln w="25400">
            <a:solidFill>
              <a:srgbClr val="8A94A3"/>
            </a:solidFill>
            <a:prstDash val="solid"/>
          </a:ln>
        </p:spPr>
      </p:sp>
      <p:sp>
        <p:nvSpPr>
          <p:cNvPr id="16" name="Connector"/>
          <p:cNvSpPr/>
          <p:nvPr/>
        </p:nvSpPr>
        <p:spPr>
          <a:xfrm>
            <a:off x="6070702" y="2794406"/>
            <a:ext cx="0" cy="2120494"/>
          </a:xfrm>
          <a:prstGeom prst="line">
            <a:avLst/>
          </a:prstGeom>
          <a:noFill/>
          <a:ln w="25400">
            <a:solidFill>
              <a:srgbClr val="8A94A3"/>
            </a:solidFill>
            <a:prstDash val="solid"/>
          </a:ln>
        </p:spPr>
      </p:sp>
      <p:sp>
        <p:nvSpPr>
          <p:cNvPr id="17" name="Connector"/>
          <p:cNvSpPr/>
          <p:nvPr/>
        </p:nvSpPr>
        <p:spPr>
          <a:xfrm>
            <a:off x="6070702" y="2794406"/>
            <a:ext cx="228600" cy="0"/>
          </a:xfrm>
          <a:prstGeom prst="line">
            <a:avLst/>
          </a:prstGeom>
          <a:noFill/>
          <a:ln w="25400">
            <a:solidFill>
              <a:srgbClr val="8A94A3"/>
            </a:solidFill>
            <a:prstDash val="solid"/>
            <a:tailEnd type="triangle"/>
          </a:ln>
        </p:spPr>
      </p:sp>
      <p:sp>
        <p:nvSpPr>
          <p:cNvPr id="18" name="Connector"/>
          <p:cNvSpPr/>
          <p:nvPr/>
        </p:nvSpPr>
        <p:spPr>
          <a:xfrm>
            <a:off x="6070702" y="4914900"/>
            <a:ext cx="228600" cy="0"/>
          </a:xfrm>
          <a:prstGeom prst="line">
            <a:avLst/>
          </a:prstGeom>
          <a:noFill/>
          <a:ln w="25400">
            <a:solidFill>
              <a:srgbClr val="8A94A3"/>
            </a:solidFill>
            <a:prstDash val="solid"/>
            <a:tailEnd type="triangle"/>
          </a:ln>
        </p:spPr>
      </p:sp>
      <p:sp>
        <p:nvSpPr>
          <p:cNvPr id="19" name="Connector"/>
          <p:cNvSpPr/>
          <p:nvPr/>
        </p:nvSpPr>
        <p:spPr>
          <a:xfrm>
            <a:off x="8585302" y="2794406"/>
            <a:ext cx="457200" cy="0"/>
          </a:xfrm>
          <a:prstGeom prst="line">
            <a:avLst/>
          </a:prstGeom>
          <a:noFill/>
          <a:ln w="25400">
            <a:solidFill>
              <a:srgbClr val="8A94A3"/>
            </a:solidFill>
            <a:prstDash val="solid"/>
            <a:tailEnd type="triangle"/>
          </a:ln>
        </p:spPr>
      </p:sp>
      <p:sp>
        <p:nvSpPr>
          <p:cNvPr id="20" name="Connector"/>
          <p:cNvSpPr/>
          <p:nvPr/>
        </p:nvSpPr>
        <p:spPr>
          <a:xfrm>
            <a:off x="8585302" y="4914900"/>
            <a:ext cx="228600" cy="0"/>
          </a:xfrm>
          <a:prstGeom prst="line">
            <a:avLst/>
          </a:prstGeom>
          <a:noFill/>
          <a:ln w="25400">
            <a:solidFill>
              <a:srgbClr val="8A94A3"/>
            </a:solidFill>
            <a:prstDash val="solid"/>
          </a:ln>
        </p:spPr>
      </p:sp>
      <p:sp>
        <p:nvSpPr>
          <p:cNvPr id="21" name="Connector"/>
          <p:cNvSpPr/>
          <p:nvPr/>
        </p:nvSpPr>
        <p:spPr>
          <a:xfrm>
            <a:off x="8813902" y="3291840"/>
            <a:ext cx="0" cy="1623060"/>
          </a:xfrm>
          <a:prstGeom prst="line">
            <a:avLst/>
          </a:prstGeom>
          <a:noFill/>
          <a:ln w="25400">
            <a:solidFill>
              <a:srgbClr val="8A94A3"/>
            </a:solidFill>
            <a:prstDash val="solid"/>
          </a:ln>
        </p:spPr>
      </p:sp>
      <p:sp>
        <p:nvSpPr>
          <p:cNvPr id="22" name="Connector"/>
          <p:cNvSpPr/>
          <p:nvPr/>
        </p:nvSpPr>
        <p:spPr>
          <a:xfrm>
            <a:off x="8813902" y="3291840"/>
            <a:ext cx="228600" cy="0"/>
          </a:xfrm>
          <a:prstGeom prst="line">
            <a:avLst/>
          </a:prstGeom>
          <a:noFill/>
          <a:ln w="25400">
            <a:solidFill>
              <a:srgbClr val="8A94A3"/>
            </a:solidFill>
            <a:prstDash val="solid"/>
            <a:tailEnd type="triangle"/>
          </a:ln>
        </p:spPr>
      </p:sp>
      <p:sp>
        <p:nvSpPr>
          <p:cNvPr id="23" name="Connector"/>
          <p:cNvSpPr/>
          <p:nvPr/>
        </p:nvSpPr>
        <p:spPr>
          <a:xfrm>
            <a:off x="10211105" y="3708806"/>
            <a:ext cx="0" cy="291694"/>
          </a:xfrm>
          <a:prstGeom prst="line">
            <a:avLst/>
          </a:prstGeom>
          <a:noFill/>
          <a:ln w="25400">
            <a:solidFill>
              <a:srgbClr val="8A94A3"/>
            </a:solidFill>
            <a:prstDash val="solid"/>
            <a:tailEnd type="triangle"/>
          </a:ln>
        </p:spPr>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10 · TOOLS AND TECHNOLOGIES USED</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Technology stack</a:t>
            </a:r>
            <a:endParaRPr lang="en-US" sz="3000" dirty="0"/>
          </a:p>
        </p:txBody>
      </p:sp>
      <p:sp>
        <p:nvSpPr>
          <p:cNvPr id="4" name="Tool card 1"/>
          <p:cNvSpPr/>
          <p:nvPr/>
        </p:nvSpPr>
        <p:spPr>
          <a:xfrm>
            <a:off x="812902" y="1856232"/>
            <a:ext cx="3355848" cy="1874520"/>
          </a:xfrm>
          <a:prstGeom prst="roundRect">
            <a:avLst>
              <a:gd name="adj" fmla="val 5854"/>
            </a:avLst>
          </a:prstGeom>
          <a:solidFill>
            <a:schemeClr val="bg2"/>
          </a:solidFill>
          <a:ln w="12700">
            <a:solidFill>
              <a:schemeClr val="bg2"/>
            </a:solidFill>
            <a:prstDash val="solid"/>
          </a:ln>
        </p:spPr>
      </p:sp>
      <p:sp>
        <p:nvSpPr>
          <p:cNvPr id="5" name="Backend and analysis circle"/>
          <p:cNvSpPr/>
          <p:nvPr/>
        </p:nvSpPr>
        <p:spPr>
          <a:xfrm>
            <a:off x="1087222" y="2130552"/>
            <a:ext cx="530352" cy="530352"/>
          </a:xfrm>
          <a:prstGeom prst="ellipse">
            <a:avLst/>
          </a:prstGeom>
          <a:solidFill>
            <a:schemeClr val="tx2"/>
          </a:solidFill>
          <a:ln w="12700">
            <a:solidFill>
              <a:schemeClr val="tx2"/>
            </a:solidFill>
            <a:prstDash val="solid"/>
          </a:ln>
        </p:spPr>
      </p:sp>
      <p:pic>
        <p:nvPicPr>
          <p:cNvPr id="6" name="Backend and analysis icon" descr="preencoded.png">    </p:cNvPr>
          <p:cNvPicPr>
            <a:picLocks noChangeAspect="1"/>
          </p:cNvPicPr>
          <p:nvPr/>
        </p:nvPicPr>
        <p:blipFill>
          <a:blip r:embed="rId1"/>
          <a:stretch>
            <a:fillRect/>
          </a:stretch>
        </p:blipFill>
        <p:spPr>
          <a:xfrm>
            <a:off x="1230417" y="2273747"/>
            <a:ext cx="243962" cy="243962"/>
          </a:xfrm>
          <a:prstGeom prst="rect">
            <a:avLst/>
          </a:prstGeom>
        </p:spPr>
      </p:pic>
      <p:sp>
        <p:nvSpPr>
          <p:cNvPr id="7" name="Text 4"/>
          <p:cNvSpPr txBox="1"/>
          <p:nvPr/>
        </p:nvSpPr>
        <p:spPr>
          <a:xfrm>
            <a:off x="1773022" y="2130552"/>
            <a:ext cx="2194560" cy="530352"/>
          </a:xfrm>
          <a:prstGeom prst="rect">
            <a:avLst/>
          </a:prstGeom>
          <a:noFill/>
          <a:ln/>
        </p:spPr>
        <p:txBody>
          <a:bodyPr wrap="square" lIns="0" tIns="0" rIns="0" bIns="0" rtlCol="0" anchor="ctr"/>
          <a:lstStyle/>
          <a:p>
            <a:pPr indent="0" marL="0">
              <a:buNone/>
            </a:pPr>
            <a:r>
              <a:rPr lang="en-US" sz="1600" b="1" dirty="0">
                <a:solidFill>
                  <a:schemeClr val="tx2"/>
                </a:solidFill>
              </a:rPr>
              <a:t>Backend and analysis</a:t>
            </a:r>
            <a:endParaRPr lang="en-US" sz="1600" dirty="0"/>
          </a:p>
        </p:txBody>
      </p:sp>
      <p:sp>
        <p:nvSpPr>
          <p:cNvPr id="8" name="Text 5"/>
          <p:cNvSpPr txBox="1"/>
          <p:nvPr/>
        </p:nvSpPr>
        <p:spPr>
          <a:xfrm>
            <a:off x="1087222" y="2843784"/>
            <a:ext cx="2807208" cy="777240"/>
          </a:xfrm>
          <a:prstGeom prst="rect">
            <a:avLst/>
          </a:prstGeom>
          <a:noFill/>
          <a:ln/>
        </p:spPr>
        <p:txBody>
          <a:bodyPr wrap="square" lIns="0" tIns="0" rIns="0" bIns="0" rtlCol="0" anchor="t"/>
          <a:lstStyle/>
          <a:p>
            <a:pPr indent="0" marL="0">
              <a:buNone/>
            </a:pPr>
            <a:r>
              <a:rPr lang="en-US" sz="1400" dirty="0">
                <a:solidFill>
                  <a:schemeClr val="accent3"/>
                </a:solidFill>
              </a:rPr>
              <a:t>Python 3.13, FastAPI, rasterio (GDAL), NumPy</a:t>
            </a:r>
            <a:endParaRPr lang="en-US" sz="1400" dirty="0"/>
          </a:p>
        </p:txBody>
      </p:sp>
      <p:sp>
        <p:nvSpPr>
          <p:cNvPr id="9" name="Tool card 2"/>
          <p:cNvSpPr/>
          <p:nvPr/>
        </p:nvSpPr>
        <p:spPr>
          <a:xfrm>
            <a:off x="4418381" y="1856232"/>
            <a:ext cx="3355848" cy="1874520"/>
          </a:xfrm>
          <a:prstGeom prst="roundRect">
            <a:avLst>
              <a:gd name="adj" fmla="val 5854"/>
            </a:avLst>
          </a:prstGeom>
          <a:solidFill>
            <a:schemeClr val="bg2"/>
          </a:solidFill>
          <a:ln w="12700">
            <a:solidFill>
              <a:schemeClr val="bg2"/>
            </a:solidFill>
            <a:prstDash val="solid"/>
          </a:ln>
        </p:spPr>
      </p:sp>
      <p:sp>
        <p:nvSpPr>
          <p:cNvPr id="10" name="Frontend circle"/>
          <p:cNvSpPr/>
          <p:nvPr/>
        </p:nvSpPr>
        <p:spPr>
          <a:xfrm>
            <a:off x="4692701" y="2130552"/>
            <a:ext cx="530352" cy="530352"/>
          </a:xfrm>
          <a:prstGeom prst="ellipse">
            <a:avLst/>
          </a:prstGeom>
          <a:solidFill>
            <a:schemeClr val="tx2"/>
          </a:solidFill>
          <a:ln w="12700">
            <a:solidFill>
              <a:schemeClr val="tx2"/>
            </a:solidFill>
            <a:prstDash val="solid"/>
          </a:ln>
        </p:spPr>
      </p:sp>
      <p:pic>
        <p:nvPicPr>
          <p:cNvPr id="11" name="Frontend icon" descr="preencoded.png">    </p:cNvPr>
          <p:cNvPicPr>
            <a:picLocks noChangeAspect="1"/>
          </p:cNvPicPr>
          <p:nvPr/>
        </p:nvPicPr>
        <p:blipFill>
          <a:blip r:embed="rId2"/>
          <a:stretch>
            <a:fillRect/>
          </a:stretch>
        </p:blipFill>
        <p:spPr>
          <a:xfrm>
            <a:off x="4835896" y="2273747"/>
            <a:ext cx="243962" cy="243962"/>
          </a:xfrm>
          <a:prstGeom prst="rect">
            <a:avLst/>
          </a:prstGeom>
        </p:spPr>
      </p:pic>
      <p:sp>
        <p:nvSpPr>
          <p:cNvPr id="12" name="Text 8"/>
          <p:cNvSpPr txBox="1"/>
          <p:nvPr/>
        </p:nvSpPr>
        <p:spPr>
          <a:xfrm>
            <a:off x="5378501" y="2130552"/>
            <a:ext cx="2194560" cy="530352"/>
          </a:xfrm>
          <a:prstGeom prst="rect">
            <a:avLst/>
          </a:prstGeom>
          <a:noFill/>
          <a:ln/>
        </p:spPr>
        <p:txBody>
          <a:bodyPr wrap="square" lIns="0" tIns="0" rIns="0" bIns="0" rtlCol="0" anchor="ctr"/>
          <a:lstStyle/>
          <a:p>
            <a:pPr indent="0" marL="0">
              <a:buNone/>
            </a:pPr>
            <a:r>
              <a:rPr lang="en-US" sz="1600" b="1" dirty="0">
                <a:solidFill>
                  <a:schemeClr val="tx2"/>
                </a:solidFill>
              </a:rPr>
              <a:t>Frontend</a:t>
            </a:r>
            <a:endParaRPr lang="en-US" sz="1600" dirty="0"/>
          </a:p>
        </p:txBody>
      </p:sp>
      <p:sp>
        <p:nvSpPr>
          <p:cNvPr id="13" name="Text 9"/>
          <p:cNvSpPr txBox="1"/>
          <p:nvPr/>
        </p:nvSpPr>
        <p:spPr>
          <a:xfrm>
            <a:off x="4692701" y="2843784"/>
            <a:ext cx="2807208" cy="777240"/>
          </a:xfrm>
          <a:prstGeom prst="rect">
            <a:avLst/>
          </a:prstGeom>
          <a:noFill/>
          <a:ln/>
        </p:spPr>
        <p:txBody>
          <a:bodyPr wrap="square" lIns="0" tIns="0" rIns="0" bIns="0" rtlCol="0" anchor="t"/>
          <a:lstStyle/>
          <a:p>
            <a:pPr indent="0" marL="0">
              <a:buNone/>
            </a:pPr>
            <a:r>
              <a:rPr lang="en-US" sz="1400" dirty="0">
                <a:solidFill>
                  <a:schemeClr val="accent3"/>
                </a:solidFill>
              </a:rPr>
              <a:t>React, TypeScript, Vite, Leaflet with OpenStreetMap tiles</a:t>
            </a:r>
            <a:endParaRPr lang="en-US" sz="1400" dirty="0"/>
          </a:p>
        </p:txBody>
      </p:sp>
      <p:sp>
        <p:nvSpPr>
          <p:cNvPr id="14" name="Tool card 3"/>
          <p:cNvSpPr/>
          <p:nvPr/>
        </p:nvSpPr>
        <p:spPr>
          <a:xfrm>
            <a:off x="8023860" y="1856232"/>
            <a:ext cx="3355848" cy="1874520"/>
          </a:xfrm>
          <a:prstGeom prst="roundRect">
            <a:avLst>
              <a:gd name="adj" fmla="val 5854"/>
            </a:avLst>
          </a:prstGeom>
          <a:solidFill>
            <a:schemeClr val="bg2"/>
          </a:solidFill>
          <a:ln w="12700">
            <a:solidFill>
              <a:schemeClr val="bg2"/>
            </a:solidFill>
            <a:prstDash val="solid"/>
          </a:ln>
        </p:spPr>
      </p:sp>
      <p:sp>
        <p:nvSpPr>
          <p:cNvPr id="15" name="Language and vision models circle"/>
          <p:cNvSpPr/>
          <p:nvPr/>
        </p:nvSpPr>
        <p:spPr>
          <a:xfrm>
            <a:off x="8298180" y="2130552"/>
            <a:ext cx="530352" cy="530352"/>
          </a:xfrm>
          <a:prstGeom prst="ellipse">
            <a:avLst/>
          </a:prstGeom>
          <a:solidFill>
            <a:schemeClr val="accent2"/>
          </a:solidFill>
          <a:ln w="12700">
            <a:solidFill>
              <a:schemeClr val="accent2"/>
            </a:solidFill>
            <a:prstDash val="solid"/>
          </a:ln>
        </p:spPr>
      </p:sp>
      <p:pic>
        <p:nvPicPr>
          <p:cNvPr id="16" name="Language and vision models icon" descr="preencoded.png">    </p:cNvPr>
          <p:cNvPicPr>
            <a:picLocks noChangeAspect="1"/>
          </p:cNvPicPr>
          <p:nvPr/>
        </p:nvPicPr>
        <p:blipFill>
          <a:blip r:embed="rId3"/>
          <a:stretch>
            <a:fillRect/>
          </a:stretch>
        </p:blipFill>
        <p:spPr>
          <a:xfrm>
            <a:off x="8441375" y="2273747"/>
            <a:ext cx="243962" cy="243962"/>
          </a:xfrm>
          <a:prstGeom prst="rect">
            <a:avLst/>
          </a:prstGeom>
        </p:spPr>
      </p:pic>
      <p:sp>
        <p:nvSpPr>
          <p:cNvPr id="17" name="Text 12"/>
          <p:cNvSpPr txBox="1"/>
          <p:nvPr/>
        </p:nvSpPr>
        <p:spPr>
          <a:xfrm>
            <a:off x="8983980" y="2130552"/>
            <a:ext cx="2194560" cy="530352"/>
          </a:xfrm>
          <a:prstGeom prst="rect">
            <a:avLst/>
          </a:prstGeom>
          <a:noFill/>
          <a:ln/>
        </p:spPr>
        <p:txBody>
          <a:bodyPr wrap="square" lIns="0" tIns="0" rIns="0" bIns="0" rtlCol="0" anchor="ctr"/>
          <a:lstStyle/>
          <a:p>
            <a:pPr indent="0" marL="0">
              <a:buNone/>
            </a:pPr>
            <a:r>
              <a:rPr lang="en-US" sz="1600" b="1" dirty="0">
                <a:solidFill>
                  <a:schemeClr val="tx2"/>
                </a:solidFill>
              </a:rPr>
              <a:t>Language and vision models</a:t>
            </a:r>
            <a:endParaRPr lang="en-US" sz="1600" dirty="0"/>
          </a:p>
        </p:txBody>
      </p:sp>
      <p:sp>
        <p:nvSpPr>
          <p:cNvPr id="18" name="Text 13"/>
          <p:cNvSpPr txBox="1"/>
          <p:nvPr/>
        </p:nvSpPr>
        <p:spPr>
          <a:xfrm>
            <a:off x="8298180" y="2843784"/>
            <a:ext cx="2807208" cy="777240"/>
          </a:xfrm>
          <a:prstGeom prst="rect">
            <a:avLst/>
          </a:prstGeom>
          <a:noFill/>
          <a:ln/>
        </p:spPr>
        <p:txBody>
          <a:bodyPr wrap="square" lIns="0" tIns="0" rIns="0" bIns="0" rtlCol="0" anchor="t"/>
          <a:lstStyle/>
          <a:p>
            <a:pPr indent="0" marL="0">
              <a:buNone/>
            </a:pPr>
            <a:r>
              <a:rPr lang="en-US" sz="1400" dirty="0">
                <a:solidFill>
                  <a:schemeClr val="accent3"/>
                </a:solidFill>
              </a:rPr>
              <a:t>Groq: gpt-oss-120b, Qwen3.8-27B; fine-tuned Qwen2-VL-2B (LoRA)</a:t>
            </a:r>
            <a:endParaRPr lang="en-US" sz="1400" dirty="0"/>
          </a:p>
        </p:txBody>
      </p:sp>
      <p:sp>
        <p:nvSpPr>
          <p:cNvPr id="19" name="Tool card 4"/>
          <p:cNvSpPr/>
          <p:nvPr/>
        </p:nvSpPr>
        <p:spPr>
          <a:xfrm>
            <a:off x="812902" y="3913632"/>
            <a:ext cx="3355848" cy="1874520"/>
          </a:xfrm>
          <a:prstGeom prst="roundRect">
            <a:avLst>
              <a:gd name="adj" fmla="val 5854"/>
            </a:avLst>
          </a:prstGeom>
          <a:solidFill>
            <a:schemeClr val="bg2"/>
          </a:solidFill>
          <a:ln w="12700">
            <a:solidFill>
              <a:schemeClr val="bg2"/>
            </a:solidFill>
            <a:prstDash val="solid"/>
          </a:ln>
        </p:spPr>
      </p:sp>
      <p:sp>
        <p:nvSpPr>
          <p:cNvPr id="20" name="Training and serving circle"/>
          <p:cNvSpPr/>
          <p:nvPr/>
        </p:nvSpPr>
        <p:spPr>
          <a:xfrm>
            <a:off x="1087222" y="4187952"/>
            <a:ext cx="530352" cy="530352"/>
          </a:xfrm>
          <a:prstGeom prst="ellipse">
            <a:avLst/>
          </a:prstGeom>
          <a:solidFill>
            <a:schemeClr val="accent2"/>
          </a:solidFill>
          <a:ln w="12700">
            <a:solidFill>
              <a:schemeClr val="accent2"/>
            </a:solidFill>
            <a:prstDash val="solid"/>
          </a:ln>
        </p:spPr>
      </p:sp>
      <p:pic>
        <p:nvPicPr>
          <p:cNvPr id="21" name="Training and serving icon" descr="preencoded.png">    </p:cNvPr>
          <p:cNvPicPr>
            <a:picLocks noChangeAspect="1"/>
          </p:cNvPicPr>
          <p:nvPr/>
        </p:nvPicPr>
        <p:blipFill>
          <a:blip r:embed="rId4"/>
          <a:stretch>
            <a:fillRect/>
          </a:stretch>
        </p:blipFill>
        <p:spPr>
          <a:xfrm>
            <a:off x="1230417" y="4331147"/>
            <a:ext cx="243962" cy="243962"/>
          </a:xfrm>
          <a:prstGeom prst="rect">
            <a:avLst/>
          </a:prstGeom>
        </p:spPr>
      </p:pic>
      <p:sp>
        <p:nvSpPr>
          <p:cNvPr id="22" name="Text 16"/>
          <p:cNvSpPr txBox="1"/>
          <p:nvPr/>
        </p:nvSpPr>
        <p:spPr>
          <a:xfrm>
            <a:off x="1773022" y="4187952"/>
            <a:ext cx="2194560" cy="530352"/>
          </a:xfrm>
          <a:prstGeom prst="rect">
            <a:avLst/>
          </a:prstGeom>
          <a:noFill/>
          <a:ln/>
        </p:spPr>
        <p:txBody>
          <a:bodyPr wrap="square" lIns="0" tIns="0" rIns="0" bIns="0" rtlCol="0" anchor="ctr"/>
          <a:lstStyle/>
          <a:p>
            <a:pPr indent="0" marL="0">
              <a:buNone/>
            </a:pPr>
            <a:r>
              <a:rPr lang="en-US" sz="1600" b="1" dirty="0">
                <a:solidFill>
                  <a:schemeClr val="tx2"/>
                </a:solidFill>
              </a:rPr>
              <a:t>Training and serving</a:t>
            </a:r>
            <a:endParaRPr lang="en-US" sz="1600" dirty="0"/>
          </a:p>
        </p:txBody>
      </p:sp>
      <p:sp>
        <p:nvSpPr>
          <p:cNvPr id="23" name="Text 17"/>
          <p:cNvSpPr txBox="1"/>
          <p:nvPr/>
        </p:nvSpPr>
        <p:spPr>
          <a:xfrm>
            <a:off x="1087222" y="4901184"/>
            <a:ext cx="2807208" cy="777240"/>
          </a:xfrm>
          <a:prstGeom prst="rect">
            <a:avLst/>
          </a:prstGeom>
          <a:noFill/>
          <a:ln/>
        </p:spPr>
        <p:txBody>
          <a:bodyPr wrap="square" lIns="0" tIns="0" rIns="0" bIns="0" rtlCol="0" anchor="t"/>
          <a:lstStyle/>
          <a:p>
            <a:pPr indent="0" marL="0">
              <a:buNone/>
            </a:pPr>
            <a:r>
              <a:rPr lang="en-US" sz="1400" dirty="0">
                <a:solidFill>
                  <a:schemeClr val="accent3"/>
                </a:solidFill>
              </a:rPr>
              <a:t>Kaggle T4 GPU, Hugging Face Transformers, PEFT, bitsandbytes 4-bit</a:t>
            </a:r>
            <a:endParaRPr lang="en-US" sz="1400" dirty="0"/>
          </a:p>
        </p:txBody>
      </p:sp>
      <p:sp>
        <p:nvSpPr>
          <p:cNvPr id="24" name="Tool card 5"/>
          <p:cNvSpPr/>
          <p:nvPr/>
        </p:nvSpPr>
        <p:spPr>
          <a:xfrm>
            <a:off x="4418381" y="3913632"/>
            <a:ext cx="3355848" cy="1874520"/>
          </a:xfrm>
          <a:prstGeom prst="roundRect">
            <a:avLst>
              <a:gd name="adj" fmla="val 5854"/>
            </a:avLst>
          </a:prstGeom>
          <a:solidFill>
            <a:schemeClr val="bg2"/>
          </a:solidFill>
          <a:ln w="12700">
            <a:solidFill>
              <a:schemeClr val="bg2"/>
            </a:solidFill>
            <a:prstDash val="solid"/>
          </a:ln>
        </p:spPr>
      </p:sp>
      <p:sp>
        <p:nvSpPr>
          <p:cNvPr id="25" name="Imagery and places circle"/>
          <p:cNvSpPr/>
          <p:nvPr/>
        </p:nvSpPr>
        <p:spPr>
          <a:xfrm>
            <a:off x="4692701" y="4187952"/>
            <a:ext cx="530352" cy="530352"/>
          </a:xfrm>
          <a:prstGeom prst="ellipse">
            <a:avLst/>
          </a:prstGeom>
          <a:solidFill>
            <a:schemeClr val="tx2"/>
          </a:solidFill>
          <a:ln w="12700">
            <a:solidFill>
              <a:schemeClr val="tx2"/>
            </a:solidFill>
            <a:prstDash val="solid"/>
          </a:ln>
        </p:spPr>
      </p:sp>
      <p:pic>
        <p:nvPicPr>
          <p:cNvPr id="26" name="Imagery and places icon" descr="preencoded.png">    </p:cNvPr>
          <p:cNvPicPr>
            <a:picLocks noChangeAspect="1"/>
          </p:cNvPicPr>
          <p:nvPr/>
        </p:nvPicPr>
        <p:blipFill>
          <a:blip r:embed="rId5"/>
          <a:stretch>
            <a:fillRect/>
          </a:stretch>
        </p:blipFill>
        <p:spPr>
          <a:xfrm>
            <a:off x="4835896" y="4331147"/>
            <a:ext cx="243962" cy="243962"/>
          </a:xfrm>
          <a:prstGeom prst="rect">
            <a:avLst/>
          </a:prstGeom>
        </p:spPr>
      </p:pic>
      <p:sp>
        <p:nvSpPr>
          <p:cNvPr id="27" name="Text 20"/>
          <p:cNvSpPr txBox="1"/>
          <p:nvPr/>
        </p:nvSpPr>
        <p:spPr>
          <a:xfrm>
            <a:off x="5378501" y="4187952"/>
            <a:ext cx="2194560" cy="530352"/>
          </a:xfrm>
          <a:prstGeom prst="rect">
            <a:avLst/>
          </a:prstGeom>
          <a:noFill/>
          <a:ln/>
        </p:spPr>
        <p:txBody>
          <a:bodyPr wrap="square" lIns="0" tIns="0" rIns="0" bIns="0" rtlCol="0" anchor="ctr"/>
          <a:lstStyle/>
          <a:p>
            <a:pPr indent="0" marL="0">
              <a:buNone/>
            </a:pPr>
            <a:r>
              <a:rPr lang="en-US" sz="1600" b="1" dirty="0">
                <a:solidFill>
                  <a:schemeClr val="tx2"/>
                </a:solidFill>
              </a:rPr>
              <a:t>Imagery and places</a:t>
            </a:r>
            <a:endParaRPr lang="en-US" sz="1600" dirty="0"/>
          </a:p>
        </p:txBody>
      </p:sp>
      <p:sp>
        <p:nvSpPr>
          <p:cNvPr id="28" name="Text 21"/>
          <p:cNvSpPr txBox="1"/>
          <p:nvPr/>
        </p:nvSpPr>
        <p:spPr>
          <a:xfrm>
            <a:off x="4692701" y="4901184"/>
            <a:ext cx="2807208" cy="777240"/>
          </a:xfrm>
          <a:prstGeom prst="rect">
            <a:avLst/>
          </a:prstGeom>
          <a:noFill/>
          <a:ln/>
        </p:spPr>
        <p:txBody>
          <a:bodyPr wrap="square" lIns="0" tIns="0" rIns="0" bIns="0" rtlCol="0" anchor="t"/>
          <a:lstStyle/>
          <a:p>
            <a:pPr indent="0" marL="0">
              <a:buNone/>
            </a:pPr>
            <a:r>
              <a:rPr lang="en-US" sz="1400" dirty="0">
                <a:solidFill>
                  <a:schemeClr val="accent3"/>
                </a:solidFill>
              </a:rPr>
              <a:t>Planetary Computer: Sentinel-2 L2A, Sentinel-1 RTC; Nominatim, Photon</a:t>
            </a:r>
            <a:endParaRPr lang="en-US" sz="1400" dirty="0"/>
          </a:p>
        </p:txBody>
      </p:sp>
      <p:sp>
        <p:nvSpPr>
          <p:cNvPr id="29" name="Tool card 6"/>
          <p:cNvSpPr/>
          <p:nvPr/>
        </p:nvSpPr>
        <p:spPr>
          <a:xfrm>
            <a:off x="8023860" y="3913632"/>
            <a:ext cx="3355848" cy="1874520"/>
          </a:xfrm>
          <a:prstGeom prst="roundRect">
            <a:avLst>
              <a:gd name="adj" fmla="val 5854"/>
            </a:avLst>
          </a:prstGeom>
          <a:solidFill>
            <a:schemeClr val="bg2"/>
          </a:solidFill>
          <a:ln w="12700">
            <a:solidFill>
              <a:schemeClr val="bg2"/>
            </a:solidFill>
            <a:prstDash val="solid"/>
          </a:ln>
        </p:spPr>
      </p:sp>
      <p:sp>
        <p:nvSpPr>
          <p:cNvPr id="30" name="Infrastructure circle"/>
          <p:cNvSpPr/>
          <p:nvPr/>
        </p:nvSpPr>
        <p:spPr>
          <a:xfrm>
            <a:off x="8298180" y="4187952"/>
            <a:ext cx="530352" cy="530352"/>
          </a:xfrm>
          <a:prstGeom prst="ellipse">
            <a:avLst/>
          </a:prstGeom>
          <a:solidFill>
            <a:schemeClr val="tx2"/>
          </a:solidFill>
          <a:ln w="12700">
            <a:solidFill>
              <a:schemeClr val="tx2"/>
            </a:solidFill>
            <a:prstDash val="solid"/>
          </a:ln>
        </p:spPr>
      </p:sp>
      <p:pic>
        <p:nvPicPr>
          <p:cNvPr id="31" name="Infrastructure icon" descr="preencoded.png">    </p:cNvPr>
          <p:cNvPicPr>
            <a:picLocks noChangeAspect="1"/>
          </p:cNvPicPr>
          <p:nvPr/>
        </p:nvPicPr>
        <p:blipFill>
          <a:blip r:embed="rId6"/>
          <a:stretch>
            <a:fillRect/>
          </a:stretch>
        </p:blipFill>
        <p:spPr>
          <a:xfrm>
            <a:off x="8441375" y="4331147"/>
            <a:ext cx="243962" cy="243962"/>
          </a:xfrm>
          <a:prstGeom prst="rect">
            <a:avLst/>
          </a:prstGeom>
        </p:spPr>
      </p:pic>
      <p:sp>
        <p:nvSpPr>
          <p:cNvPr id="32" name="Text 24"/>
          <p:cNvSpPr txBox="1"/>
          <p:nvPr/>
        </p:nvSpPr>
        <p:spPr>
          <a:xfrm>
            <a:off x="8983980" y="4187952"/>
            <a:ext cx="2194560" cy="530352"/>
          </a:xfrm>
          <a:prstGeom prst="rect">
            <a:avLst/>
          </a:prstGeom>
          <a:noFill/>
          <a:ln/>
        </p:spPr>
        <p:txBody>
          <a:bodyPr wrap="square" lIns="0" tIns="0" rIns="0" bIns="0" rtlCol="0" anchor="ctr"/>
          <a:lstStyle/>
          <a:p>
            <a:pPr indent="0" marL="0">
              <a:buNone/>
            </a:pPr>
            <a:r>
              <a:rPr lang="en-US" sz="1600" b="1" dirty="0">
                <a:solidFill>
                  <a:schemeClr val="tx2"/>
                </a:solidFill>
              </a:rPr>
              <a:t>Infrastructure</a:t>
            </a:r>
            <a:endParaRPr lang="en-US" sz="1600" dirty="0"/>
          </a:p>
        </p:txBody>
      </p:sp>
      <p:sp>
        <p:nvSpPr>
          <p:cNvPr id="33" name="Text 25"/>
          <p:cNvSpPr txBox="1"/>
          <p:nvPr/>
        </p:nvSpPr>
        <p:spPr>
          <a:xfrm>
            <a:off x="8298180" y="4901184"/>
            <a:ext cx="2807208" cy="777240"/>
          </a:xfrm>
          <a:prstGeom prst="rect">
            <a:avLst/>
          </a:prstGeom>
          <a:noFill/>
          <a:ln/>
        </p:spPr>
        <p:txBody>
          <a:bodyPr wrap="square" lIns="0" tIns="0" rIns="0" bIns="0" rtlCol="0" anchor="t"/>
          <a:lstStyle/>
          <a:p>
            <a:pPr indent="0" marL="0">
              <a:buNone/>
            </a:pPr>
            <a:r>
              <a:rPr lang="en-US" sz="1400" dirty="0">
                <a:solidFill>
                  <a:schemeClr val="accent3"/>
                </a:solidFill>
              </a:rPr>
              <a:t>Docker, GitHub Actions CI, Render hosting, Supabase accounts</a:t>
            </a:r>
            <a:endParaRPr lang="en-US" sz="14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11 · IMPLEMENTATION</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How the system was built, in six phases</a:t>
            </a:r>
            <a:endParaRPr lang="en-US" sz="3000" dirty="0"/>
          </a:p>
        </p:txBody>
      </p:sp>
      <p:sp>
        <p:nvSpPr>
          <p:cNvPr id="4" name="Timeline line"/>
          <p:cNvSpPr/>
          <p:nvPr/>
        </p:nvSpPr>
        <p:spPr>
          <a:xfrm>
            <a:off x="1105510" y="2441448"/>
            <a:ext cx="0" cy="2651760"/>
          </a:xfrm>
          <a:prstGeom prst="line">
            <a:avLst/>
          </a:prstGeom>
          <a:noFill/>
          <a:ln w="25400">
            <a:solidFill>
              <a:srgbClr val="C9D6E8"/>
            </a:solidFill>
            <a:prstDash val="solid"/>
          </a:ln>
        </p:spPr>
      </p:sp>
      <p:sp>
        <p:nvSpPr>
          <p:cNvPr id="5" name="Timeline line"/>
          <p:cNvSpPr/>
          <p:nvPr/>
        </p:nvSpPr>
        <p:spPr>
          <a:xfrm>
            <a:off x="6526073" y="2441448"/>
            <a:ext cx="0" cy="2651760"/>
          </a:xfrm>
          <a:prstGeom prst="line">
            <a:avLst/>
          </a:prstGeom>
          <a:noFill/>
          <a:ln w="25400">
            <a:solidFill>
              <a:srgbClr val="C9D6E8"/>
            </a:solidFill>
            <a:prstDash val="solid"/>
          </a:ln>
        </p:spPr>
      </p:sp>
      <p:sp>
        <p:nvSpPr>
          <p:cNvPr id="6" name="Phase 1"/>
          <p:cNvSpPr txBox="1"/>
          <p:nvPr/>
        </p:nvSpPr>
        <p:spPr>
          <a:xfrm>
            <a:off x="812902" y="1856232"/>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35862" y="1837944"/>
            <a:ext cx="429768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PHASE 1</a:t>
            </a:r>
            <a:endParaRPr lang="en-US" sz="1100" dirty="0"/>
          </a:p>
        </p:txBody>
      </p:sp>
      <p:sp>
        <p:nvSpPr>
          <p:cNvPr id="8" name="Text 6"/>
          <p:cNvSpPr txBox="1"/>
          <p:nvPr/>
        </p:nvSpPr>
        <p:spPr>
          <a:xfrm>
            <a:off x="1635862" y="2075688"/>
            <a:ext cx="4297680" cy="310896"/>
          </a:xfrm>
          <a:prstGeom prst="rect">
            <a:avLst/>
          </a:prstGeom>
          <a:noFill/>
          <a:ln/>
        </p:spPr>
        <p:txBody>
          <a:bodyPr wrap="square" lIns="0" tIns="0" rIns="0" bIns="0" rtlCol="0" anchor="t"/>
          <a:lstStyle/>
          <a:p>
            <a:pPr indent="0" marL="0">
              <a:buNone/>
            </a:pPr>
            <a:r>
              <a:rPr lang="en-US" sz="1700" b="1" dirty="0">
                <a:solidFill>
                  <a:schemeClr val="tx2"/>
                </a:solidFill>
              </a:rPr>
              <a:t>Pipeline and registry</a:t>
            </a:r>
            <a:endParaRPr lang="en-US" sz="1700" dirty="0"/>
          </a:p>
        </p:txBody>
      </p:sp>
      <p:sp>
        <p:nvSpPr>
          <p:cNvPr id="9" name="Text 7"/>
          <p:cNvSpPr txBox="1"/>
          <p:nvPr/>
        </p:nvSpPr>
        <p:spPr>
          <a:xfrm>
            <a:off x="1635862" y="2404872"/>
            <a:ext cx="4297680" cy="566928"/>
          </a:xfrm>
          <a:prstGeom prst="rect">
            <a:avLst/>
          </a:prstGeom>
          <a:noFill/>
          <a:ln/>
        </p:spPr>
        <p:txBody>
          <a:bodyPr wrap="square" lIns="0" tIns="0" rIns="0" bIns="0" rtlCol="0" anchor="t"/>
          <a:lstStyle/>
          <a:p>
            <a:pPr indent="0" marL="0">
              <a:buNone/>
            </a:pPr>
            <a:r>
              <a:rPr lang="en-US" sz="1400" dirty="0">
                <a:solidFill>
                  <a:schemeClr val="accent3"/>
                </a:solidFill>
              </a:rPr>
              <a:t>Designed a staged FastAPI pipeline in which only tools from a controlled registry may run.</a:t>
            </a:r>
            <a:endParaRPr lang="en-US" sz="1400" dirty="0"/>
          </a:p>
        </p:txBody>
      </p:sp>
      <p:sp>
        <p:nvSpPr>
          <p:cNvPr id="10" name="Phase 2"/>
          <p:cNvSpPr txBox="1"/>
          <p:nvPr/>
        </p:nvSpPr>
        <p:spPr>
          <a:xfrm>
            <a:off x="812902" y="3182112"/>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35862" y="3163824"/>
            <a:ext cx="429768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PHASE 2</a:t>
            </a:r>
            <a:endParaRPr lang="en-US" sz="1100" dirty="0"/>
          </a:p>
        </p:txBody>
      </p:sp>
      <p:sp>
        <p:nvSpPr>
          <p:cNvPr id="12" name="Text 10"/>
          <p:cNvSpPr txBox="1"/>
          <p:nvPr/>
        </p:nvSpPr>
        <p:spPr>
          <a:xfrm>
            <a:off x="1635862" y="3401568"/>
            <a:ext cx="4297680" cy="310896"/>
          </a:xfrm>
          <a:prstGeom prst="rect">
            <a:avLst/>
          </a:prstGeom>
          <a:noFill/>
          <a:ln/>
        </p:spPr>
        <p:txBody>
          <a:bodyPr wrap="square" lIns="0" tIns="0" rIns="0" bIns="0" rtlCol="0" anchor="t"/>
          <a:lstStyle/>
          <a:p>
            <a:pPr indent="0" marL="0">
              <a:buNone/>
            </a:pPr>
            <a:r>
              <a:rPr lang="en-US" sz="1700" b="1" dirty="0">
                <a:solidFill>
                  <a:schemeClr val="tx2"/>
                </a:solidFill>
              </a:rPr>
              <a:t>Deterministic engines</a:t>
            </a:r>
            <a:endParaRPr lang="en-US" sz="1700" dirty="0"/>
          </a:p>
        </p:txBody>
      </p:sp>
      <p:sp>
        <p:nvSpPr>
          <p:cNvPr id="13" name="Text 11"/>
          <p:cNvSpPr txBox="1"/>
          <p:nvPr/>
        </p:nvSpPr>
        <p:spPr>
          <a:xfrm>
            <a:off x="1635862" y="3730752"/>
            <a:ext cx="4297680" cy="566928"/>
          </a:xfrm>
          <a:prstGeom prst="rect">
            <a:avLst/>
          </a:prstGeom>
          <a:noFill/>
          <a:ln/>
        </p:spPr>
        <p:txBody>
          <a:bodyPr wrap="square" lIns="0" tIns="0" rIns="0" bIns="0" rtlCol="0" anchor="t"/>
          <a:lstStyle/>
          <a:p>
            <a:pPr indent="0" marL="0">
              <a:buNone/>
            </a:pPr>
            <a:r>
              <a:rPr lang="en-US" sz="1400" dirty="0">
                <a:solidFill>
                  <a:schemeClr val="accent3"/>
                </a:solidFill>
              </a:rPr>
              <a:t>Wrote the index, SAR flood, change and fusion tools on rasterio and NumPy, each with tests.</a:t>
            </a:r>
            <a:endParaRPr lang="en-US" sz="1400" dirty="0"/>
          </a:p>
        </p:txBody>
      </p:sp>
      <p:sp>
        <p:nvSpPr>
          <p:cNvPr id="14" name="Phase 3"/>
          <p:cNvSpPr txBox="1"/>
          <p:nvPr/>
        </p:nvSpPr>
        <p:spPr>
          <a:xfrm>
            <a:off x="812902" y="4507992"/>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35862" y="4489704"/>
            <a:ext cx="429768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PHASE 3</a:t>
            </a:r>
            <a:endParaRPr lang="en-US" sz="1100" dirty="0"/>
          </a:p>
        </p:txBody>
      </p:sp>
      <p:sp>
        <p:nvSpPr>
          <p:cNvPr id="16" name="Text 14"/>
          <p:cNvSpPr txBox="1"/>
          <p:nvPr/>
        </p:nvSpPr>
        <p:spPr>
          <a:xfrm>
            <a:off x="1635862" y="4727448"/>
            <a:ext cx="4297680" cy="310896"/>
          </a:xfrm>
          <a:prstGeom prst="rect">
            <a:avLst/>
          </a:prstGeom>
          <a:noFill/>
          <a:ln/>
        </p:spPr>
        <p:txBody>
          <a:bodyPr wrap="square" lIns="0" tIns="0" rIns="0" bIns="0" rtlCol="0" anchor="t"/>
          <a:lstStyle/>
          <a:p>
            <a:pPr indent="0" marL="0">
              <a:buNone/>
            </a:pPr>
            <a:r>
              <a:rPr lang="en-US" sz="1700" b="1" dirty="0">
                <a:solidFill>
                  <a:schemeClr val="tx2"/>
                </a:solidFill>
              </a:rPr>
              <a:t>Language and vision</a:t>
            </a:r>
            <a:endParaRPr lang="en-US" sz="1700" dirty="0"/>
          </a:p>
        </p:txBody>
      </p:sp>
      <p:sp>
        <p:nvSpPr>
          <p:cNvPr id="17" name="Text 15"/>
          <p:cNvSpPr txBox="1"/>
          <p:nvPr/>
        </p:nvSpPr>
        <p:spPr>
          <a:xfrm>
            <a:off x="1635862" y="5056632"/>
            <a:ext cx="4297680" cy="566928"/>
          </a:xfrm>
          <a:prstGeom prst="rect">
            <a:avLst/>
          </a:prstGeom>
          <a:noFill/>
          <a:ln/>
        </p:spPr>
        <p:txBody>
          <a:bodyPr wrap="square" lIns="0" tIns="0" rIns="0" bIns="0" rtlCol="0" anchor="t"/>
          <a:lstStyle/>
          <a:p>
            <a:pPr indent="0" marL="0">
              <a:buNone/>
            </a:pPr>
            <a:r>
              <a:rPr lang="en-US" sz="1400" dirty="0">
                <a:solidFill>
                  <a:schemeClr val="accent3"/>
                </a:solidFill>
              </a:rPr>
              <a:t>Connected Groq models for understanding and VQA, with offline rules as a fallback.</a:t>
            </a:r>
            <a:endParaRPr lang="en-US" sz="1400" dirty="0"/>
          </a:p>
        </p:txBody>
      </p:sp>
      <p:sp>
        <p:nvSpPr>
          <p:cNvPr id="18" name="Phase 4"/>
          <p:cNvSpPr txBox="1"/>
          <p:nvPr/>
        </p:nvSpPr>
        <p:spPr>
          <a:xfrm>
            <a:off x="6233465" y="1856232"/>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9" name="Text 17"/>
          <p:cNvSpPr txBox="1"/>
          <p:nvPr/>
        </p:nvSpPr>
        <p:spPr>
          <a:xfrm>
            <a:off x="7056425" y="1837944"/>
            <a:ext cx="429768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PHASE 4</a:t>
            </a:r>
            <a:endParaRPr lang="en-US" sz="1100" dirty="0"/>
          </a:p>
        </p:txBody>
      </p:sp>
      <p:sp>
        <p:nvSpPr>
          <p:cNvPr id="20" name="Text 18"/>
          <p:cNvSpPr txBox="1"/>
          <p:nvPr/>
        </p:nvSpPr>
        <p:spPr>
          <a:xfrm>
            <a:off x="7056425" y="2075688"/>
            <a:ext cx="4297680" cy="310896"/>
          </a:xfrm>
          <a:prstGeom prst="rect">
            <a:avLst/>
          </a:prstGeom>
          <a:noFill/>
          <a:ln/>
        </p:spPr>
        <p:txBody>
          <a:bodyPr wrap="square" lIns="0" tIns="0" rIns="0" bIns="0" rtlCol="0" anchor="t"/>
          <a:lstStyle/>
          <a:p>
            <a:pPr indent="0" marL="0">
              <a:buNone/>
            </a:pPr>
            <a:r>
              <a:rPr lang="en-US" sz="1700" b="1" dirty="0">
                <a:solidFill>
                  <a:schemeClr val="tx2"/>
                </a:solidFill>
              </a:rPr>
              <a:t>Automatic imagery</a:t>
            </a:r>
            <a:endParaRPr lang="en-US" sz="1700" dirty="0"/>
          </a:p>
        </p:txBody>
      </p:sp>
      <p:sp>
        <p:nvSpPr>
          <p:cNvPr id="21" name="Text 19"/>
          <p:cNvSpPr txBox="1"/>
          <p:nvPr/>
        </p:nvSpPr>
        <p:spPr>
          <a:xfrm>
            <a:off x="7056425" y="2404872"/>
            <a:ext cx="4297680" cy="566928"/>
          </a:xfrm>
          <a:prstGeom prst="rect">
            <a:avLst/>
          </a:prstGeom>
          <a:noFill/>
          <a:ln/>
        </p:spPr>
        <p:txBody>
          <a:bodyPr wrap="square" lIns="0" tIns="0" rIns="0" bIns="0" rtlCol="0" anchor="t"/>
          <a:lstStyle/>
          <a:p>
            <a:pPr indent="0" marL="0">
              <a:buNone/>
            </a:pPr>
            <a:r>
              <a:rPr lang="en-US" sz="1400" dirty="0">
                <a:solidFill>
                  <a:schemeClr val="accent3"/>
                </a:solidFill>
              </a:rPr>
              <a:t>Added geocoding, Planetary Computer search, cloud checks and band-only downloads.</a:t>
            </a:r>
            <a:endParaRPr lang="en-US" sz="1400" dirty="0"/>
          </a:p>
        </p:txBody>
      </p:sp>
      <p:sp>
        <p:nvSpPr>
          <p:cNvPr id="22" name="Phase 5"/>
          <p:cNvSpPr txBox="1"/>
          <p:nvPr/>
        </p:nvSpPr>
        <p:spPr>
          <a:xfrm>
            <a:off x="6233465" y="3182112"/>
            <a:ext cx="585216" cy="585216"/>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3" name="Text 21"/>
          <p:cNvSpPr txBox="1"/>
          <p:nvPr/>
        </p:nvSpPr>
        <p:spPr>
          <a:xfrm>
            <a:off x="7056425" y="3163824"/>
            <a:ext cx="4297680" cy="237744"/>
          </a:xfrm>
          <a:prstGeom prst="rect">
            <a:avLst/>
          </a:prstGeom>
          <a:noFill/>
          <a:ln/>
        </p:spPr>
        <p:txBody>
          <a:bodyPr wrap="square" lIns="0" tIns="0" rIns="0" bIns="0" rtlCol="0" anchor="t"/>
          <a:lstStyle/>
          <a:p>
            <a:pPr indent="0" marL="0">
              <a:buNone/>
            </a:pPr>
            <a:r>
              <a:rPr lang="en-US" sz="1100" b="1" spc="200" kern="0" dirty="0">
                <a:solidFill>
                  <a:srgbClr val="B5571A"/>
                </a:solidFill>
              </a:rPr>
              <a:t>PHASE 5</a:t>
            </a:r>
            <a:endParaRPr lang="en-US" sz="1100" dirty="0"/>
          </a:p>
        </p:txBody>
      </p:sp>
      <p:sp>
        <p:nvSpPr>
          <p:cNvPr id="24" name="Text 22"/>
          <p:cNvSpPr txBox="1"/>
          <p:nvPr/>
        </p:nvSpPr>
        <p:spPr>
          <a:xfrm>
            <a:off x="7056425" y="3401568"/>
            <a:ext cx="4297680" cy="310896"/>
          </a:xfrm>
          <a:prstGeom prst="rect">
            <a:avLst/>
          </a:prstGeom>
          <a:noFill/>
          <a:ln/>
        </p:spPr>
        <p:txBody>
          <a:bodyPr wrap="square" lIns="0" tIns="0" rIns="0" bIns="0" rtlCol="0" anchor="t"/>
          <a:lstStyle/>
          <a:p>
            <a:pPr indent="0" marL="0">
              <a:buNone/>
            </a:pPr>
            <a:r>
              <a:rPr lang="en-US" sz="1700" b="1" dirty="0">
                <a:solidFill>
                  <a:schemeClr val="tx2"/>
                </a:solidFill>
              </a:rPr>
              <a:t>Fine-tuning</a:t>
            </a:r>
            <a:endParaRPr lang="en-US" sz="1700" dirty="0"/>
          </a:p>
        </p:txBody>
      </p:sp>
      <p:sp>
        <p:nvSpPr>
          <p:cNvPr id="25" name="Text 23"/>
          <p:cNvSpPr txBox="1"/>
          <p:nvPr/>
        </p:nvSpPr>
        <p:spPr>
          <a:xfrm>
            <a:off x="7056425" y="3730752"/>
            <a:ext cx="4297680" cy="566928"/>
          </a:xfrm>
          <a:prstGeom prst="rect">
            <a:avLst/>
          </a:prstGeom>
          <a:noFill/>
          <a:ln/>
        </p:spPr>
        <p:txBody>
          <a:bodyPr wrap="square" lIns="0" tIns="0" rIns="0" bIns="0" rtlCol="0" anchor="t"/>
          <a:lstStyle/>
          <a:p>
            <a:pPr indent="0" marL="0">
              <a:buNone/>
            </a:pPr>
            <a:r>
              <a:rPr lang="en-US" sz="1400" dirty="0">
                <a:solidFill>
                  <a:schemeClr val="accent3"/>
                </a:solidFill>
              </a:rPr>
              <a:t>Trained Qwen2-VL-2B with LoRA on RSVQA-LR on a free Kaggle T4; served it in 4-bit.</a:t>
            </a:r>
            <a:endParaRPr lang="en-US" sz="1400" dirty="0"/>
          </a:p>
        </p:txBody>
      </p:sp>
      <p:sp>
        <p:nvSpPr>
          <p:cNvPr id="26" name="Phase 6"/>
          <p:cNvSpPr txBox="1"/>
          <p:nvPr/>
        </p:nvSpPr>
        <p:spPr>
          <a:xfrm>
            <a:off x="6233465" y="4507992"/>
            <a:ext cx="585216" cy="585216"/>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6</a:t>
            </a:r>
            <a:endParaRPr lang="en-US" sz="2000" dirty="0"/>
          </a:p>
        </p:txBody>
      </p:sp>
      <p:sp>
        <p:nvSpPr>
          <p:cNvPr id="27" name="Text 25"/>
          <p:cNvSpPr txBox="1"/>
          <p:nvPr/>
        </p:nvSpPr>
        <p:spPr>
          <a:xfrm>
            <a:off x="7056425" y="4489704"/>
            <a:ext cx="429768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PHASE 6</a:t>
            </a:r>
            <a:endParaRPr lang="en-US" sz="1100" dirty="0"/>
          </a:p>
        </p:txBody>
      </p:sp>
      <p:sp>
        <p:nvSpPr>
          <p:cNvPr id="28" name="Text 26"/>
          <p:cNvSpPr txBox="1"/>
          <p:nvPr/>
        </p:nvSpPr>
        <p:spPr>
          <a:xfrm>
            <a:off x="7056425" y="4727448"/>
            <a:ext cx="4297680" cy="310896"/>
          </a:xfrm>
          <a:prstGeom prst="rect">
            <a:avLst/>
          </a:prstGeom>
          <a:noFill/>
          <a:ln/>
        </p:spPr>
        <p:txBody>
          <a:bodyPr wrap="square" lIns="0" tIns="0" rIns="0" bIns="0" rtlCol="0" anchor="t"/>
          <a:lstStyle/>
          <a:p>
            <a:pPr indent="0" marL="0">
              <a:buNone/>
            </a:pPr>
            <a:r>
              <a:rPr lang="en-US" sz="1700" b="1" dirty="0">
                <a:solidFill>
                  <a:schemeClr val="tx2"/>
                </a:solidFill>
              </a:rPr>
              <a:t>Workspace and deployment</a:t>
            </a:r>
            <a:endParaRPr lang="en-US" sz="1700" dirty="0"/>
          </a:p>
        </p:txBody>
      </p:sp>
      <p:sp>
        <p:nvSpPr>
          <p:cNvPr id="29" name="Text 27"/>
          <p:cNvSpPr txBox="1"/>
          <p:nvPr/>
        </p:nvSpPr>
        <p:spPr>
          <a:xfrm>
            <a:off x="7056425" y="5056632"/>
            <a:ext cx="4297680" cy="566928"/>
          </a:xfrm>
          <a:prstGeom prst="rect">
            <a:avLst/>
          </a:prstGeom>
          <a:noFill/>
          <a:ln/>
        </p:spPr>
        <p:txBody>
          <a:bodyPr wrap="square" lIns="0" tIns="0" rIns="0" bIns="0" rtlCol="0" anchor="t"/>
          <a:lstStyle/>
          <a:p>
            <a:pPr indent="0" marL="0">
              <a:buNone/>
            </a:pPr>
            <a:r>
              <a:rPr lang="en-US" sz="1400" dirty="0">
                <a:solidFill>
                  <a:schemeClr val="accent3"/>
                </a:solidFill>
              </a:rPr>
              <a:t>Built the React workspace, packaged it in Docker, tested it in CI and hosted it on Render.</a:t>
            </a:r>
            <a:endParaRPr lang="en-US" sz="14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12 · RESULTS AND DISCUSSION</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Measured accuracy and live analyses</a:t>
            </a:r>
            <a:endParaRPr lang="en-US" sz="3000" dirty="0"/>
          </a:p>
        </p:txBody>
      </p:sp>
      <p:graphicFrame>
        <p:nvGraphicFramePr>
          <p:cNvPr id="4" name="Accuracy chart" descr=""/>
          <p:cNvGraphicFramePr/>
          <p:nvPr/>
        </p:nvGraphicFramePr>
        <p:xfrm>
          <a:off x="812902" y="1856232"/>
          <a:ext cx="6309360" cy="3611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12902" y="5577840"/>
            <a:ext cx="6309360" cy="274320"/>
          </a:xfrm>
          <a:prstGeom prst="rect">
            <a:avLst/>
          </a:prstGeom>
          <a:noFill/>
          <a:ln/>
        </p:spPr>
        <p:txBody>
          <a:bodyPr wrap="square" lIns="0" tIns="0" rIns="0" bIns="0" rtlCol="0" anchor="t"/>
          <a:lstStyle/>
          <a:p>
            <a:pPr indent="0" marL="0">
              <a:buNone/>
            </a:pPr>
            <a:r>
              <a:rPr lang="en-US" sz="1200" dirty="0">
                <a:solidFill>
                  <a:schemeClr val="accent4"/>
                </a:solidFill>
              </a:rPr>
              <a:t>In 4-bit on a 4 GB GTX 1650 laptop GPU: 89.0% on 100 of the questions.</a:t>
            </a:r>
            <a:endParaRPr lang="en-US" sz="1200" dirty="0"/>
          </a:p>
        </p:txBody>
      </p:sp>
      <p:sp>
        <p:nvSpPr>
          <p:cNvPr id="6" name="Text 3"/>
          <p:cNvSpPr txBox="1"/>
          <p:nvPr/>
        </p:nvSpPr>
        <p:spPr>
          <a:xfrm>
            <a:off x="7498080" y="1764792"/>
            <a:ext cx="3877056"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90.4%</a:t>
            </a:r>
            <a:endParaRPr lang="en-US" sz="6000" dirty="0"/>
          </a:p>
        </p:txBody>
      </p:sp>
      <p:sp>
        <p:nvSpPr>
          <p:cNvPr id="7" name="Text 4"/>
          <p:cNvSpPr txBox="1"/>
          <p:nvPr/>
        </p:nvSpPr>
        <p:spPr>
          <a:xfrm>
            <a:off x="7498080" y="2697480"/>
            <a:ext cx="3877056" cy="365760"/>
          </a:xfrm>
          <a:prstGeom prst="rect">
            <a:avLst/>
          </a:prstGeom>
          <a:noFill/>
          <a:ln/>
        </p:spPr>
        <p:txBody>
          <a:bodyPr wrap="square" lIns="0" tIns="0" rIns="0" bIns="0" rtlCol="0" anchor="t"/>
          <a:lstStyle/>
          <a:p>
            <a:pPr indent="0" marL="0">
              <a:buNone/>
            </a:pPr>
            <a:r>
              <a:rPr lang="en-US" sz="1600" dirty="0">
                <a:solidFill>
                  <a:schemeClr val="tx2"/>
                </a:solidFill>
              </a:rPr>
              <a:t>fine-tuned accuracy, up from 58.4%</a:t>
            </a:r>
            <a:endParaRPr lang="en-US" sz="1600" dirty="0"/>
          </a:p>
        </p:txBody>
      </p:sp>
      <p:pic>
        <p:nvPicPr>
          <p:cNvPr id="8" name="Result map 1" descr="Kochi flood map: new flood water in orange, permanent water in blue">    </p:cNvPr>
          <p:cNvPicPr>
            <a:picLocks noChangeAspect="1"/>
          </p:cNvPicPr>
          <p:nvPr/>
        </p:nvPicPr>
        <p:blipFill>
          <a:blip r:embed="rId2"/>
          <a:stretch>
            <a:fillRect/>
          </a:stretch>
        </p:blipFill>
        <p:spPr>
          <a:xfrm>
            <a:off x="7498080" y="3383280"/>
            <a:ext cx="1188720" cy="1188720"/>
          </a:xfrm>
          <a:prstGeom prst="rect">
            <a:avLst/>
          </a:prstGeom>
        </p:spPr>
      </p:pic>
      <p:sp>
        <p:nvSpPr>
          <p:cNvPr id="9" name="Text 5"/>
          <p:cNvSpPr txBox="1"/>
          <p:nvPr/>
        </p:nvSpPr>
        <p:spPr>
          <a:xfrm>
            <a:off x="7498080" y="4645152"/>
            <a:ext cx="1188720" cy="594360"/>
          </a:xfrm>
          <a:prstGeom prst="rect">
            <a:avLst/>
          </a:prstGeom>
          <a:noFill/>
          <a:ln/>
        </p:spPr>
        <p:txBody>
          <a:bodyPr wrap="square" lIns="0" tIns="0" rIns="0" bIns="0" rtlCol="0" anchor="t"/>
          <a:lstStyle/>
          <a:p>
            <a:pPr indent="0" marL="0">
              <a:buNone/>
            </a:pPr>
            <a:r>
              <a:rPr lang="en-US" sz="1200" dirty="0">
                <a:solidFill>
                  <a:schemeClr val="accent3"/>
                </a:solidFill>
              </a:rPr>
              <a:t>Kochi: 0.9% newly flooded</a:t>
            </a:r>
            <a:endParaRPr lang="en-US" sz="1200" dirty="0"/>
          </a:p>
        </p:txBody>
      </p:sp>
      <p:pic>
        <p:nvPicPr>
          <p:cNvPr id="10" name="Result map 2" descr="Pune vegetation health map: green is dense vegetation">    </p:cNvPr>
          <p:cNvPicPr>
            <a:picLocks noChangeAspect="1"/>
          </p:cNvPicPr>
          <p:nvPr/>
        </p:nvPicPr>
        <p:blipFill>
          <a:blip r:embed="rId3"/>
          <a:stretch>
            <a:fillRect/>
          </a:stretch>
        </p:blipFill>
        <p:spPr>
          <a:xfrm>
            <a:off x="8842248" y="3383280"/>
            <a:ext cx="1188720" cy="1188720"/>
          </a:xfrm>
          <a:prstGeom prst="rect">
            <a:avLst/>
          </a:prstGeom>
        </p:spPr>
      </p:pic>
      <p:sp>
        <p:nvSpPr>
          <p:cNvPr id="11" name="Text 6"/>
          <p:cNvSpPr txBox="1"/>
          <p:nvPr/>
        </p:nvSpPr>
        <p:spPr>
          <a:xfrm>
            <a:off x="8842248" y="4645152"/>
            <a:ext cx="1188720" cy="594360"/>
          </a:xfrm>
          <a:prstGeom prst="rect">
            <a:avLst/>
          </a:prstGeom>
          <a:noFill/>
          <a:ln/>
        </p:spPr>
        <p:txBody>
          <a:bodyPr wrap="square" lIns="0" tIns="0" rIns="0" bIns="0" rtlCol="0" anchor="t"/>
          <a:lstStyle/>
          <a:p>
            <a:pPr indent="0" marL="0">
              <a:buNone/>
            </a:pPr>
            <a:r>
              <a:rPr lang="en-US" sz="1200" dirty="0">
                <a:solidFill>
                  <a:schemeClr val="accent3"/>
                </a:solidFill>
              </a:rPr>
              <a:t>Pune: mean NDVI 0.388</a:t>
            </a:r>
            <a:endParaRPr lang="en-US" sz="1200" dirty="0"/>
          </a:p>
        </p:txBody>
      </p:sp>
      <p:pic>
        <p:nvPicPr>
          <p:cNvPr id="12" name="Result map 3" descr="Hosur change map 2019 to 2025: vegetation loss in orange, gain in blue">    </p:cNvPr>
          <p:cNvPicPr>
            <a:picLocks noChangeAspect="1"/>
          </p:cNvPicPr>
          <p:nvPr/>
        </p:nvPicPr>
        <p:blipFill>
          <a:blip r:embed="rId4"/>
          <a:stretch>
            <a:fillRect/>
          </a:stretch>
        </p:blipFill>
        <p:spPr>
          <a:xfrm>
            <a:off x="10186416" y="3383280"/>
            <a:ext cx="1188720" cy="1188720"/>
          </a:xfrm>
          <a:prstGeom prst="rect">
            <a:avLst/>
          </a:prstGeom>
        </p:spPr>
      </p:pic>
      <p:sp>
        <p:nvSpPr>
          <p:cNvPr id="13" name="Text 7"/>
          <p:cNvSpPr txBox="1"/>
          <p:nvPr/>
        </p:nvSpPr>
        <p:spPr>
          <a:xfrm>
            <a:off x="10186416" y="4645152"/>
            <a:ext cx="1188720" cy="594360"/>
          </a:xfrm>
          <a:prstGeom prst="rect">
            <a:avLst/>
          </a:prstGeom>
          <a:noFill/>
          <a:ln/>
        </p:spPr>
        <p:txBody>
          <a:bodyPr wrap="square" lIns="0" tIns="0" rIns="0" bIns="0" rtlCol="0" anchor="t"/>
          <a:lstStyle/>
          <a:p>
            <a:pPr indent="0" marL="0">
              <a:buNone/>
            </a:pPr>
            <a:r>
              <a:rPr lang="en-US" sz="1200" dirty="0">
                <a:solidFill>
                  <a:schemeClr val="accent3"/>
                </a:solidFill>
              </a:rPr>
              <a:t>Hosur: 9.4% loss, 7.6% gain</a:t>
            </a:r>
            <a:endParaRPr lang="en-US" sz="12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13 · LIMITATIONS AND FUTURE SCOPE</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Current limits and future work</a:t>
            </a:r>
            <a:endParaRPr lang="en-US" sz="3000" dirty="0"/>
          </a:p>
        </p:txBody>
      </p:sp>
      <p:sp>
        <p:nvSpPr>
          <p:cNvPr id="4" name="Limitations card"/>
          <p:cNvSpPr/>
          <p:nvPr/>
        </p:nvSpPr>
        <p:spPr>
          <a:xfrm>
            <a:off x="812902" y="1856232"/>
            <a:ext cx="5146243" cy="3931920"/>
          </a:xfrm>
          <a:prstGeom prst="roundRect">
            <a:avLst>
              <a:gd name="adj" fmla="val 2791"/>
            </a:avLst>
          </a:prstGeom>
          <a:solidFill>
            <a:schemeClr val="bg2"/>
          </a:solidFill>
          <a:ln w="12700">
            <a:solidFill>
              <a:schemeClr val="bg2"/>
            </a:solidFill>
            <a:prstDash val="solid"/>
          </a:ln>
        </p:spPr>
      </p:sp>
      <p:sp>
        <p:nvSpPr>
          <p:cNvPr id="5" name="Limitations circle"/>
          <p:cNvSpPr/>
          <p:nvPr/>
        </p:nvSpPr>
        <p:spPr>
          <a:xfrm>
            <a:off x="1178662" y="2176272"/>
            <a:ext cx="548640" cy="548640"/>
          </a:xfrm>
          <a:prstGeom prst="ellipse">
            <a:avLst/>
          </a:prstGeom>
          <a:solidFill>
            <a:schemeClr val="accent6"/>
          </a:solidFill>
          <a:ln w="12700">
            <a:solidFill>
              <a:schemeClr val="accent6"/>
            </a:solidFill>
            <a:prstDash val="solid"/>
          </a:ln>
        </p:spPr>
      </p:sp>
      <p:pic>
        <p:nvPicPr>
          <p:cNvPr id="6" name="Limitations icon" descr="preencoded.png">    </p:cNvPr>
          <p:cNvPicPr>
            <a:picLocks noChangeAspect="1"/>
          </p:cNvPicPr>
          <p:nvPr/>
        </p:nvPicPr>
        <p:blipFill>
          <a:blip r:embed="rId1"/>
          <a:stretch>
            <a:fillRect/>
          </a:stretch>
        </p:blipFill>
        <p:spPr>
          <a:xfrm>
            <a:off x="1326794" y="2324405"/>
            <a:ext cx="252374" cy="252374"/>
          </a:xfrm>
          <a:prstGeom prst="rect">
            <a:avLst/>
          </a:prstGeom>
        </p:spPr>
      </p:pic>
      <p:sp>
        <p:nvSpPr>
          <p:cNvPr id="7" name="Text 4"/>
          <p:cNvSpPr txBox="1"/>
          <p:nvPr/>
        </p:nvSpPr>
        <p:spPr>
          <a:xfrm>
            <a:off x="1910182" y="2221992"/>
            <a:ext cx="3657600" cy="457200"/>
          </a:xfrm>
          <a:prstGeom prst="rect">
            <a:avLst/>
          </a:prstGeom>
          <a:noFill/>
          <a:ln/>
        </p:spPr>
        <p:txBody>
          <a:bodyPr wrap="square" lIns="0" tIns="0" rIns="0" bIns="0" rtlCol="0" anchor="t"/>
          <a:lstStyle/>
          <a:p>
            <a:pPr indent="0" marL="0">
              <a:buNone/>
            </a:pPr>
            <a:r>
              <a:rPr lang="en-US" sz="2200" b="1" dirty="0">
                <a:solidFill>
                  <a:schemeClr val="tx2"/>
                </a:solidFill>
              </a:rPr>
              <a:t>Limitations</a:t>
            </a:r>
            <a:endParaRPr lang="en-US" sz="2200" dirty="0"/>
          </a:p>
        </p:txBody>
      </p:sp>
      <p:sp>
        <p:nvSpPr>
          <p:cNvPr id="8" name="Text 5"/>
          <p:cNvSpPr txBox="1"/>
          <p:nvPr/>
        </p:nvSpPr>
        <p:spPr>
          <a:xfrm>
            <a:off x="1178662" y="2953512"/>
            <a:ext cx="443484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3"/>
                </a:solidFill>
              </a:rPr>
              <a:t>Vision features share a free quota of about 95 image questions a day.</a:t>
            </a:r>
            <a:endParaRPr lang="en-US" sz="1500" dirty="0"/>
          </a:p>
          <a:p>
            <a:pPr marL="342900" indent="-342900">
              <a:spcAft>
                <a:spcPts val="800"/>
              </a:spcAft>
              <a:buSzPct val="100000"/>
              <a:buChar char="•"/>
            </a:pPr>
            <a:r>
              <a:rPr lang="en-US" sz="1500" dirty="0">
                <a:solidFill>
                  <a:schemeClr val="accent3"/>
                </a:solidFill>
              </a:rPr>
              <a:t>The fine-tuned model needs a GPU; the free host uses a hosted model.</a:t>
            </a:r>
            <a:endParaRPr lang="en-US" sz="1500" dirty="0"/>
          </a:p>
          <a:p>
            <a:pPr marL="342900" indent="-342900">
              <a:spcAft>
                <a:spcPts val="800"/>
              </a:spcAft>
              <a:buSzPct val="100000"/>
              <a:buChar char="•"/>
            </a:pPr>
            <a:r>
              <a:rPr lang="en-US" sz="1500" dirty="0">
                <a:solidFill>
                  <a:schemeClr val="accent3"/>
                </a:solidFill>
              </a:rPr>
              <a:t>One fetch covers at most 20 km; larger areas are cut, not tiled.</a:t>
            </a:r>
            <a:endParaRPr lang="en-US" sz="1500" dirty="0"/>
          </a:p>
          <a:p>
            <a:pPr marL="342900" indent="-342900">
              <a:spcAft>
                <a:spcPts val="800"/>
              </a:spcAft>
              <a:buSzPct val="100000"/>
              <a:buChar char="•"/>
            </a:pPr>
            <a:r>
              <a:rPr lang="en-US" sz="1500" dirty="0">
                <a:solidFill>
                  <a:schemeClr val="accent3"/>
                </a:solidFill>
              </a:rPr>
              <a:t>Fine-tuned on RSVQA-LR only; counting questions excluded.</a:t>
            </a:r>
            <a:endParaRPr lang="en-US" sz="1500" dirty="0"/>
          </a:p>
          <a:p>
            <a:pPr marL="342900" indent="-342900">
              <a:spcAft>
                <a:spcPts val="800"/>
              </a:spcAft>
              <a:buSzPct val="100000"/>
              <a:buChar char="•"/>
            </a:pPr>
            <a:r>
              <a:rPr lang="en-US" sz="1500" dirty="0">
                <a:solidFill>
                  <a:schemeClr val="accent3"/>
                </a:solidFill>
              </a:rPr>
              <a:t>Not yet tested on real Cartosat-2S or RISAT products.</a:t>
            </a:r>
            <a:endParaRPr lang="en-US" sz="1500" dirty="0"/>
          </a:p>
        </p:txBody>
      </p:sp>
      <p:sp>
        <p:nvSpPr>
          <p:cNvPr id="9" name="Future scope card"/>
          <p:cNvSpPr/>
          <p:nvPr/>
        </p:nvSpPr>
        <p:spPr>
          <a:xfrm>
            <a:off x="6233465" y="1856232"/>
            <a:ext cx="5146243" cy="3931920"/>
          </a:xfrm>
          <a:prstGeom prst="roundRect">
            <a:avLst>
              <a:gd name="adj" fmla="val 2791"/>
            </a:avLst>
          </a:prstGeom>
          <a:solidFill>
            <a:schemeClr val="tx2"/>
          </a:solidFill>
          <a:ln w="12700">
            <a:solidFill>
              <a:schemeClr val="tx2"/>
            </a:solidFill>
            <a:prstDash val="solid"/>
          </a:ln>
        </p:spPr>
      </p:sp>
      <p:sp>
        <p:nvSpPr>
          <p:cNvPr id="10" name="Future scope circle"/>
          <p:cNvSpPr/>
          <p:nvPr/>
        </p:nvSpPr>
        <p:spPr>
          <a:xfrm>
            <a:off x="6599225" y="2176272"/>
            <a:ext cx="548640" cy="548640"/>
          </a:xfrm>
          <a:prstGeom prst="ellipse">
            <a:avLst/>
          </a:prstGeom>
          <a:solidFill>
            <a:schemeClr val="accent2"/>
          </a:solidFill>
          <a:ln w="12700">
            <a:solidFill>
              <a:schemeClr val="accent2"/>
            </a:solidFill>
            <a:prstDash val="solid"/>
          </a:ln>
        </p:spPr>
      </p:sp>
      <p:pic>
        <p:nvPicPr>
          <p:cNvPr id="11" name="Future scope icon" descr="preencoded.png">    </p:cNvPr>
          <p:cNvPicPr>
            <a:picLocks noChangeAspect="1"/>
          </p:cNvPicPr>
          <p:nvPr/>
        </p:nvPicPr>
        <p:blipFill>
          <a:blip r:embed="rId2"/>
          <a:stretch>
            <a:fillRect/>
          </a:stretch>
        </p:blipFill>
        <p:spPr>
          <a:xfrm>
            <a:off x="6747358" y="2324405"/>
            <a:ext cx="252374" cy="252374"/>
          </a:xfrm>
          <a:prstGeom prst="rect">
            <a:avLst/>
          </a:prstGeom>
        </p:spPr>
      </p:pic>
      <p:sp>
        <p:nvSpPr>
          <p:cNvPr id="12" name="Text 8"/>
          <p:cNvSpPr txBox="1"/>
          <p:nvPr/>
        </p:nvSpPr>
        <p:spPr>
          <a:xfrm>
            <a:off x="7330745" y="2221992"/>
            <a:ext cx="3657600" cy="457200"/>
          </a:xfrm>
          <a:prstGeom prst="rect">
            <a:avLst/>
          </a:prstGeom>
          <a:noFill/>
          <a:ln/>
        </p:spPr>
        <p:txBody>
          <a:bodyPr wrap="square" lIns="0" tIns="0" rIns="0" bIns="0" rtlCol="0" anchor="t"/>
          <a:lstStyle/>
          <a:p>
            <a:pPr indent="0" marL="0">
              <a:buNone/>
            </a:pPr>
            <a:r>
              <a:rPr lang="en-US" sz="2200" b="1" dirty="0">
                <a:solidFill>
                  <a:schemeClr val="bg1"/>
                </a:solidFill>
              </a:rPr>
              <a:t>Future scope</a:t>
            </a:r>
            <a:endParaRPr lang="en-US" sz="2200" dirty="0"/>
          </a:p>
        </p:txBody>
      </p:sp>
      <p:sp>
        <p:nvSpPr>
          <p:cNvPr id="13" name="Text 9"/>
          <p:cNvSpPr txBox="1"/>
          <p:nvPr/>
        </p:nvSpPr>
        <p:spPr>
          <a:xfrm>
            <a:off x="6599225" y="2953512"/>
            <a:ext cx="443484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5"/>
                </a:solidFill>
              </a:rPr>
              <a:t>ISRO imagery through Bhoonidhi: Cartosat, RISAT, Resourcesat.</a:t>
            </a:r>
            <a:endParaRPr lang="en-US" sz="1500" dirty="0"/>
          </a:p>
          <a:p>
            <a:pPr marL="342900" indent="-342900">
              <a:spcAft>
                <a:spcPts val="800"/>
              </a:spcAft>
              <a:buSzPct val="100000"/>
              <a:buChar char="•"/>
            </a:pPr>
            <a:r>
              <a:rPr lang="en-US" sz="1500" dirty="0">
                <a:solidFill>
                  <a:schemeClr val="accent5"/>
                </a:solidFill>
              </a:rPr>
              <a:t>Scale fine-tuning to RSVQAxBEN (BigEarthNet) on a paid GPU.</a:t>
            </a:r>
            <a:endParaRPr lang="en-US" sz="1500" dirty="0"/>
          </a:p>
          <a:p>
            <a:pPr marL="342900" indent="-342900">
              <a:spcAft>
                <a:spcPts val="800"/>
              </a:spcAft>
              <a:buSzPct val="100000"/>
              <a:buChar char="•"/>
            </a:pPr>
            <a:r>
              <a:rPr lang="en-US" sz="1500" dirty="0">
                <a:solidFill>
                  <a:schemeClr val="accent5"/>
                </a:solidFill>
              </a:rPr>
              <a:t>Tile large areas and add Landsat imagery.</a:t>
            </a:r>
            <a:endParaRPr lang="en-US" sz="1500" dirty="0"/>
          </a:p>
          <a:p>
            <a:pPr marL="342900" indent="-342900">
              <a:spcAft>
                <a:spcPts val="800"/>
              </a:spcAft>
              <a:buSzPct val="100000"/>
              <a:buChar char="•"/>
            </a:pPr>
            <a:r>
              <a:rPr lang="en-US" sz="1500" dirty="0">
                <a:solidFill>
                  <a:schemeClr val="accent5"/>
                </a:solidFill>
              </a:rPr>
              <a:t>Host the fine-tuned model on a GPU server.</a:t>
            </a:r>
            <a:endParaRPr lang="en-US" sz="1500" dirty="0"/>
          </a:p>
          <a:p>
            <a:pPr marL="342900" indent="-342900">
              <a:spcAft>
                <a:spcPts val="800"/>
              </a:spcAft>
              <a:buSzPct val="100000"/>
              <a:buChar char="•"/>
            </a:pPr>
            <a:r>
              <a:rPr lang="en-US" sz="1500" dirty="0">
                <a:solidFill>
                  <a:schemeClr val="accent5"/>
                </a:solidFill>
              </a:rPr>
              <a:t>More Indian languages beyond English and Hindi.</a:t>
            </a:r>
            <a:endParaRPr lang="en-US" sz="15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5394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14 · CONCLUSION</a:t>
            </a:r>
            <a:endParaRPr lang="en-US" sz="1200" dirty="0"/>
          </a:p>
        </p:txBody>
      </p:sp>
      <p:sp>
        <p:nvSpPr>
          <p:cNvPr id="3" name="Text 0"/>
          <p:cNvSpPr/>
          <p:nvPr>
            <p:ph idx="101" type="title" hasCustomPrompt="1"/>
          </p:nvPr>
        </p:nvSpPr>
        <p:spPr>
          <a:xfrm>
            <a:off x="812902" y="1097280"/>
            <a:ext cx="5394960" cy="1371600"/>
          </a:xfrm>
          <a:prstGeom prst="rect">
            <a:avLst/>
          </a:prstGeom>
          <a:noFill/>
          <a:ln/>
        </p:spPr>
        <p:txBody>
          <a:bodyPr wrap="square" lIns="0" tIns="0" rIns="0" bIns="0" rtlCol="0" anchor="t"/>
          <a:lstStyle/>
          <a:p>
            <a:pPr algn="l" indent="0" marL="0">
              <a:buNone/>
            </a:pPr>
            <a:r>
              <a:rPr lang="en-US" sz="2800" b="1" dirty="0">
                <a:solidFill>
                  <a:schemeClr val="tx2"/>
                </a:solidFill>
              </a:rPr>
              <a:t>A plain-language question becomes a verified satellite analysis</a:t>
            </a:r>
            <a:endParaRPr lang="en-US" sz="2800" dirty="0"/>
          </a:p>
        </p:txBody>
      </p:sp>
      <p:pic>
        <p:nvPicPr>
          <p:cNvPr id="4" name="Conclusion image" descr="SatQuery flood map of Kochi, August 2024: new flood water in orange, permanent water in blue">    </p:cNvPr>
          <p:cNvPicPr>
            <a:picLocks noChangeAspect="1"/>
          </p:cNvPicPr>
          <p:nvPr/>
        </p:nvPicPr>
        <p:blipFill>
          <a:blip r:embed="rId1"/>
          <a:stretch>
            <a:fillRect/>
          </a:stretch>
        </p:blipFill>
        <p:spPr>
          <a:xfrm>
            <a:off x="6705295" y="0"/>
            <a:ext cx="5486400" cy="6858000"/>
          </a:xfrm>
          <a:prstGeom prst="rect">
            <a:avLst/>
          </a:prstGeom>
        </p:spPr>
      </p:pic>
      <p:sp>
        <p:nvSpPr>
          <p:cNvPr id="5" name="Accessible circle"/>
          <p:cNvSpPr/>
          <p:nvPr/>
        </p:nvSpPr>
        <p:spPr>
          <a:xfrm>
            <a:off x="812902" y="2926080"/>
            <a:ext cx="603504" cy="603504"/>
          </a:xfrm>
          <a:prstGeom prst="ellipse">
            <a:avLst/>
          </a:prstGeom>
          <a:solidFill>
            <a:schemeClr val="tx2"/>
          </a:solidFill>
          <a:ln w="12700">
            <a:solidFill>
              <a:schemeClr val="tx2"/>
            </a:solidFill>
            <a:prstDash val="solid"/>
          </a:ln>
        </p:spPr>
      </p:sp>
      <p:pic>
        <p:nvPicPr>
          <p:cNvPr id="6" name="Accessible icon" descr="preencoded.png">    </p:cNvPr>
          <p:cNvPicPr>
            <a:picLocks noChangeAspect="1"/>
          </p:cNvPicPr>
          <p:nvPr/>
        </p:nvPicPr>
        <p:blipFill>
          <a:blip r:embed="rId2"/>
          <a:stretch>
            <a:fillRect/>
          </a:stretch>
        </p:blipFill>
        <p:spPr>
          <a:xfrm>
            <a:off x="975848" y="3089026"/>
            <a:ext cx="277612" cy="277612"/>
          </a:xfrm>
          <a:prstGeom prst="rect">
            <a:avLst/>
          </a:prstGeom>
        </p:spPr>
      </p:pic>
      <p:sp>
        <p:nvSpPr>
          <p:cNvPr id="7" name="Text 3"/>
          <p:cNvSpPr txBox="1"/>
          <p:nvPr/>
        </p:nvSpPr>
        <p:spPr>
          <a:xfrm>
            <a:off x="1645006" y="2944368"/>
            <a:ext cx="4562856" cy="292608"/>
          </a:xfrm>
          <a:prstGeom prst="rect">
            <a:avLst/>
          </a:prstGeom>
          <a:noFill/>
          <a:ln/>
        </p:spPr>
        <p:txBody>
          <a:bodyPr wrap="square" lIns="0" tIns="0" rIns="0" bIns="0" rtlCol="0" anchor="t"/>
          <a:lstStyle/>
          <a:p>
            <a:pPr indent="0" marL="0">
              <a:buNone/>
            </a:pPr>
            <a:r>
              <a:rPr lang="en-US" sz="1600" b="1" dirty="0">
                <a:solidFill>
                  <a:schemeClr val="tx2"/>
                </a:solidFill>
              </a:rPr>
              <a:t>Accessible</a:t>
            </a:r>
            <a:endParaRPr lang="en-US" sz="1600" dirty="0"/>
          </a:p>
        </p:txBody>
      </p:sp>
      <p:sp>
        <p:nvSpPr>
          <p:cNvPr id="8" name="Text 4"/>
          <p:cNvSpPr txBox="1"/>
          <p:nvPr/>
        </p:nvSpPr>
        <p:spPr>
          <a:xfrm>
            <a:off x="1645006" y="3255264"/>
            <a:ext cx="4562856" cy="457200"/>
          </a:xfrm>
          <a:prstGeom prst="rect">
            <a:avLst/>
          </a:prstGeom>
          <a:noFill/>
          <a:ln/>
        </p:spPr>
        <p:txBody>
          <a:bodyPr wrap="square" lIns="0" tIns="0" rIns="0" bIns="0" rtlCol="0" anchor="t"/>
          <a:lstStyle/>
          <a:p>
            <a:pPr indent="0" marL="0">
              <a:buNone/>
            </a:pPr>
            <a:r>
              <a:rPr lang="en-US" sz="1400" dirty="0">
                <a:solidFill>
                  <a:schemeClr val="accent3"/>
                </a:solidFill>
              </a:rPr>
              <a:t>English or Hindi; imagery found and fetched automatically</a:t>
            </a:r>
            <a:endParaRPr lang="en-US" sz="1400" dirty="0"/>
          </a:p>
        </p:txBody>
      </p:sp>
      <p:sp>
        <p:nvSpPr>
          <p:cNvPr id="9" name="Trustworthy circle"/>
          <p:cNvSpPr/>
          <p:nvPr/>
        </p:nvSpPr>
        <p:spPr>
          <a:xfrm>
            <a:off x="812902" y="3840480"/>
            <a:ext cx="603504" cy="603504"/>
          </a:xfrm>
          <a:prstGeom prst="ellipse">
            <a:avLst/>
          </a:prstGeom>
          <a:solidFill>
            <a:schemeClr val="tx2"/>
          </a:solidFill>
          <a:ln w="12700">
            <a:solidFill>
              <a:schemeClr val="tx2"/>
            </a:solidFill>
            <a:prstDash val="solid"/>
          </a:ln>
        </p:spPr>
      </p:sp>
      <p:pic>
        <p:nvPicPr>
          <p:cNvPr id="10" name="Trustworthy icon" descr="preencoded.png">    </p:cNvPr>
          <p:cNvPicPr>
            <a:picLocks noChangeAspect="1"/>
          </p:cNvPicPr>
          <p:nvPr/>
        </p:nvPicPr>
        <p:blipFill>
          <a:blip r:embed="rId3"/>
          <a:stretch>
            <a:fillRect/>
          </a:stretch>
        </p:blipFill>
        <p:spPr>
          <a:xfrm>
            <a:off x="975848" y="4003426"/>
            <a:ext cx="277612" cy="277612"/>
          </a:xfrm>
          <a:prstGeom prst="rect">
            <a:avLst/>
          </a:prstGeom>
        </p:spPr>
      </p:pic>
      <p:sp>
        <p:nvSpPr>
          <p:cNvPr id="11" name="Text 6"/>
          <p:cNvSpPr txBox="1"/>
          <p:nvPr/>
        </p:nvSpPr>
        <p:spPr>
          <a:xfrm>
            <a:off x="1645006" y="3858768"/>
            <a:ext cx="4562856" cy="292608"/>
          </a:xfrm>
          <a:prstGeom prst="rect">
            <a:avLst/>
          </a:prstGeom>
          <a:noFill/>
          <a:ln/>
        </p:spPr>
        <p:txBody>
          <a:bodyPr wrap="square" lIns="0" tIns="0" rIns="0" bIns="0" rtlCol="0" anchor="t"/>
          <a:lstStyle/>
          <a:p>
            <a:pPr indent="0" marL="0">
              <a:buNone/>
            </a:pPr>
            <a:r>
              <a:rPr lang="en-US" sz="1600" b="1" dirty="0">
                <a:solidFill>
                  <a:schemeClr val="tx2"/>
                </a:solidFill>
              </a:rPr>
              <a:t>Trustworthy</a:t>
            </a:r>
            <a:endParaRPr lang="en-US" sz="1600" dirty="0"/>
          </a:p>
        </p:txBody>
      </p:sp>
      <p:sp>
        <p:nvSpPr>
          <p:cNvPr id="12" name="Text 7"/>
          <p:cNvSpPr txBox="1"/>
          <p:nvPr/>
        </p:nvSpPr>
        <p:spPr>
          <a:xfrm>
            <a:off x="1645006" y="4169664"/>
            <a:ext cx="4562856" cy="457200"/>
          </a:xfrm>
          <a:prstGeom prst="rect">
            <a:avLst/>
          </a:prstGeom>
          <a:noFill/>
          <a:ln/>
        </p:spPr>
        <p:txBody>
          <a:bodyPr wrap="square" lIns="0" tIns="0" rIns="0" bIns="0" rtlCol="0" anchor="t"/>
          <a:lstStyle/>
          <a:p>
            <a:pPr indent="0" marL="0">
              <a:buNone/>
            </a:pPr>
            <a:r>
              <a:rPr lang="en-US" sz="1400" dirty="0">
                <a:solidFill>
                  <a:schemeClr val="accent3"/>
                </a:solidFill>
              </a:rPr>
              <a:t>Only registered tools run; every input is validated and traced</a:t>
            </a:r>
            <a:endParaRPr lang="en-US" sz="1400" dirty="0"/>
          </a:p>
        </p:txBody>
      </p:sp>
      <p:sp>
        <p:nvSpPr>
          <p:cNvPr id="13" name="Measured circle"/>
          <p:cNvSpPr/>
          <p:nvPr/>
        </p:nvSpPr>
        <p:spPr>
          <a:xfrm>
            <a:off x="812902" y="4754880"/>
            <a:ext cx="603504" cy="603504"/>
          </a:xfrm>
          <a:prstGeom prst="ellipse">
            <a:avLst/>
          </a:prstGeom>
          <a:solidFill>
            <a:schemeClr val="accent2"/>
          </a:solidFill>
          <a:ln w="12700">
            <a:solidFill>
              <a:schemeClr val="accent2"/>
            </a:solidFill>
            <a:prstDash val="solid"/>
          </a:ln>
        </p:spPr>
      </p:sp>
      <p:pic>
        <p:nvPicPr>
          <p:cNvPr id="14" name="Measured icon" descr="preencoded.png">    </p:cNvPr>
          <p:cNvPicPr>
            <a:picLocks noChangeAspect="1"/>
          </p:cNvPicPr>
          <p:nvPr/>
        </p:nvPicPr>
        <p:blipFill>
          <a:blip r:embed="rId4"/>
          <a:stretch>
            <a:fillRect/>
          </a:stretch>
        </p:blipFill>
        <p:spPr>
          <a:xfrm>
            <a:off x="975848" y="4917826"/>
            <a:ext cx="277612" cy="277612"/>
          </a:xfrm>
          <a:prstGeom prst="rect">
            <a:avLst/>
          </a:prstGeom>
        </p:spPr>
      </p:pic>
      <p:sp>
        <p:nvSpPr>
          <p:cNvPr id="15" name="Text 9"/>
          <p:cNvSpPr txBox="1"/>
          <p:nvPr/>
        </p:nvSpPr>
        <p:spPr>
          <a:xfrm>
            <a:off x="1645006" y="4773168"/>
            <a:ext cx="4562856" cy="292608"/>
          </a:xfrm>
          <a:prstGeom prst="rect">
            <a:avLst/>
          </a:prstGeom>
          <a:noFill/>
          <a:ln/>
        </p:spPr>
        <p:txBody>
          <a:bodyPr wrap="square" lIns="0" tIns="0" rIns="0" bIns="0" rtlCol="0" anchor="t"/>
          <a:lstStyle/>
          <a:p>
            <a:pPr indent="0" marL="0">
              <a:buNone/>
            </a:pPr>
            <a:r>
              <a:rPr lang="en-US" sz="1600" b="1" dirty="0">
                <a:solidFill>
                  <a:schemeClr val="tx2"/>
                </a:solidFill>
              </a:rPr>
              <a:t>Measured</a:t>
            </a:r>
            <a:endParaRPr lang="en-US" sz="1600" dirty="0"/>
          </a:p>
        </p:txBody>
      </p:sp>
      <p:sp>
        <p:nvSpPr>
          <p:cNvPr id="16" name="Text 10"/>
          <p:cNvSpPr txBox="1"/>
          <p:nvPr/>
        </p:nvSpPr>
        <p:spPr>
          <a:xfrm>
            <a:off x="1645006" y="5084064"/>
            <a:ext cx="4562856" cy="457200"/>
          </a:xfrm>
          <a:prstGeom prst="rect">
            <a:avLst/>
          </a:prstGeom>
          <a:noFill/>
          <a:ln/>
        </p:spPr>
        <p:txBody>
          <a:bodyPr wrap="square" lIns="0" tIns="0" rIns="0" bIns="0" rtlCol="0" anchor="t"/>
          <a:lstStyle/>
          <a:p>
            <a:pPr indent="0" marL="0">
              <a:buNone/>
            </a:pPr>
            <a:r>
              <a:rPr lang="en-US" sz="1400" dirty="0">
                <a:solidFill>
                  <a:schemeClr val="accent3"/>
                </a:solidFill>
              </a:rPr>
              <a:t>Fine-tuned model at 90.4%; live for public use</a:t>
            </a:r>
            <a:endParaRPr lang="en-US" sz="1400" dirty="0"/>
          </a:p>
        </p:txBody>
      </p:sp>
      <p:sp>
        <p:nvSpPr>
          <p:cNvPr id="17" name="Image caption"/>
          <p:cNvSpPr txBox="1"/>
          <p:nvPr/>
        </p:nvSpPr>
        <p:spPr>
          <a:xfrm>
            <a:off x="6909206" y="6172200"/>
            <a:ext cx="3566160" cy="384048"/>
          </a:xfrm>
          <a:prstGeom prst="roundRect">
            <a:avLst>
              <a:gd name="adj" fmla="val 14286"/>
            </a:avLst>
          </a:prstGeom>
          <a:solidFill>
            <a:schemeClr val="tx2">
              <a:alpha val="90000"/>
            </a:schemeClr>
          </a:solidFill>
          <a:ln/>
        </p:spPr>
        <p:txBody>
          <a:bodyPr wrap="square" lIns="0" tIns="0" rIns="0" bIns="0" rtlCol="0" anchor="ctr"/>
          <a:lstStyle/>
          <a:p>
            <a:pPr algn="ctr" indent="0" marL="0">
              <a:buNone/>
            </a:pPr>
            <a:r>
              <a:rPr lang="en-US" sz="1200" dirty="0">
                <a:solidFill>
                  <a:schemeClr val="bg1"/>
                </a:solidFill>
              </a:rPr>
              <a:t>Kochi floods, August 2024 · SatQuery</a:t>
            </a:r>
            <a:endParaRPr lang="en-US" sz="1200" dirty="0"/>
          </a:p>
        </p:txBody>
      </p:sp>
      <p:sp>
        <p:nvSpPr>
          <p:cNvPr id="25" name="Slide Number Placeholder 0"/>
          <p:cNvSpPr>
            <a:spLocks noGrp="1"/>
          </p:cNvSpPr>
          <p:nvPr>
            <p:ph type="sldNum" sz="quarter" idx="4294967295"/>
          </p:nvPr>
        </p:nvSpPr>
        <p:spPr>
          <a:xfrm>
            <a:off x="571500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6806"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15 · REFERENCES</a:t>
            </a:r>
            <a:endParaRPr lang="en-US" sz="1200" dirty="0"/>
          </a:p>
        </p:txBody>
      </p:sp>
      <p:sp>
        <p:nvSpPr>
          <p:cNvPr id="3" name="Text 0"/>
          <p:cNvSpPr/>
          <p:nvPr>
            <p:ph idx="101" type="title" hasCustomPrompt="1"/>
          </p:nvPr>
        </p:nvSpPr>
        <p:spPr>
          <a:xfrm>
            <a:off x="812902" y="1097280"/>
            <a:ext cx="10566806" cy="548640"/>
          </a:xfrm>
          <a:prstGeom prst="rect">
            <a:avLst/>
          </a:prstGeom>
          <a:noFill/>
          <a:ln/>
        </p:spPr>
        <p:txBody>
          <a:bodyPr wrap="square" lIns="0" tIns="0" rIns="0" bIns="0" rtlCol="0" anchor="t"/>
          <a:lstStyle/>
          <a:p>
            <a:pPr algn="l" indent="0" marL="0">
              <a:buNone/>
            </a:pPr>
            <a:r>
              <a:rPr lang="en-US" sz="3000" b="1" dirty="0">
                <a:solidFill>
                  <a:schemeClr val="tx2"/>
                </a:solidFill>
              </a:rPr>
              <a:t>References</a:t>
            </a:r>
            <a:endParaRPr lang="en-US" sz="3000" dirty="0"/>
          </a:p>
        </p:txBody>
      </p:sp>
      <p:sp>
        <p:nvSpPr>
          <p:cNvPr id="4" name="Text 2"/>
          <p:cNvSpPr txBox="1"/>
          <p:nvPr/>
        </p:nvSpPr>
        <p:spPr>
          <a:xfrm>
            <a:off x="812902" y="1856232"/>
            <a:ext cx="10566806" cy="4023360"/>
          </a:xfrm>
          <a:prstGeom prst="rect">
            <a:avLst/>
          </a:prstGeom>
          <a:noFill/>
          <a:ln/>
        </p:spPr>
        <p:txBody>
          <a:bodyPr wrap="square" lIns="0" tIns="0" rIns="0" bIns="0" rtlCol="0" anchor="t"/>
          <a:lstStyle/>
          <a:p>
            <a:pPr indent="0" marL="0">
              <a:buNone/>
            </a:pPr>
            <a:r>
              <a:rPr lang="en-US" sz="1300" b="1" dirty="0">
                <a:solidFill>
                  <a:schemeClr val="accent1"/>
                </a:solidFill>
              </a:rPr>
              <a:t>[1] </a:t>
            </a:r>
            <a:pPr indent="0" marL="0">
              <a:spcAft>
                <a:spcPts val="600"/>
              </a:spcAft>
              <a:buNone/>
            </a:pPr>
            <a:r>
              <a:rPr lang="en-US" sz="1300" dirty="0">
                <a:solidFill>
                  <a:schemeClr val="accent3"/>
                </a:solidFill>
              </a:rPr>
              <a:t>S. Lobry, D. Marcos, J. Murray and D. Tuia, “RSVQA: Visual Question Answering for Remote Sensing Data,” IEEE Trans. Geosci. Remote Sens., vol. 58, no. 12, pp. 8555–8566, 2020.</a:t>
            </a:r>
            <a:endParaRPr lang="en-US" sz="1300" dirty="0"/>
          </a:p>
          <a:p>
            <a:pPr indent="0" marL="0">
              <a:buNone/>
            </a:pPr>
            <a:r>
              <a:rPr lang="en-US" sz="1300" b="1" dirty="0">
                <a:solidFill>
                  <a:schemeClr val="accent1"/>
                </a:solidFill>
              </a:rPr>
              <a:t>[2] </a:t>
            </a:r>
            <a:pPr indent="0" marL="0">
              <a:spcAft>
                <a:spcPts val="600"/>
              </a:spcAft>
              <a:buNone/>
            </a:pPr>
            <a:r>
              <a:rPr lang="en-US" sz="1300" dirty="0">
                <a:solidFill>
                  <a:schemeClr val="accent3"/>
                </a:solidFill>
              </a:rPr>
              <a:t>P. Wang et al., “Qwen2-VL: Enhancing Vision-Language Model’s Perception of the World at Any Resolution,” arXiv:2409.12191, 2024.</a:t>
            </a:r>
            <a:endParaRPr lang="en-US" sz="1300" dirty="0"/>
          </a:p>
          <a:p>
            <a:pPr indent="0" marL="0">
              <a:buNone/>
            </a:pPr>
            <a:r>
              <a:rPr lang="en-US" sz="1300" b="1" dirty="0">
                <a:solidFill>
                  <a:schemeClr val="accent1"/>
                </a:solidFill>
              </a:rPr>
              <a:t>[3] </a:t>
            </a:r>
            <a:pPr indent="0" marL="0">
              <a:spcAft>
                <a:spcPts val="600"/>
              </a:spcAft>
              <a:buNone/>
            </a:pPr>
            <a:r>
              <a:rPr lang="en-US" sz="1300" dirty="0">
                <a:solidFill>
                  <a:schemeClr val="accent3"/>
                </a:solidFill>
              </a:rPr>
              <a:t>E. J. Hu et al., “LoRA: Low-Rank Adaptation of Large Language Models,” in Proc. ICLR, 2022.</a:t>
            </a:r>
            <a:endParaRPr lang="en-US" sz="1300" dirty="0"/>
          </a:p>
          <a:p>
            <a:pPr indent="0" marL="0">
              <a:buNone/>
            </a:pPr>
            <a:r>
              <a:rPr lang="en-US" sz="1300" b="1" dirty="0">
                <a:solidFill>
                  <a:schemeClr val="accent1"/>
                </a:solidFill>
              </a:rPr>
              <a:t>[4] </a:t>
            </a:r>
            <a:pPr indent="0" marL="0">
              <a:spcAft>
                <a:spcPts val="600"/>
              </a:spcAft>
              <a:buNone/>
            </a:pPr>
            <a:r>
              <a:rPr lang="en-US" sz="1300" dirty="0">
                <a:solidFill>
                  <a:schemeClr val="accent3"/>
                </a:solidFill>
              </a:rPr>
              <a:t>J. W. Rouse et al., “Monitoring Vegetation Systems in the Great Plains with ERTS,” NASA SP-351, pp. 309–317, 1974.</a:t>
            </a:r>
            <a:endParaRPr lang="en-US" sz="1300" dirty="0"/>
          </a:p>
          <a:p>
            <a:pPr indent="0" marL="0">
              <a:buNone/>
            </a:pPr>
            <a:r>
              <a:rPr lang="en-US" sz="1300" b="1" dirty="0">
                <a:solidFill>
                  <a:schemeClr val="accent1"/>
                </a:solidFill>
              </a:rPr>
              <a:t>[5] </a:t>
            </a:r>
            <a:pPr indent="0" marL="0">
              <a:spcAft>
                <a:spcPts val="600"/>
              </a:spcAft>
              <a:buNone/>
            </a:pPr>
            <a:r>
              <a:rPr lang="en-US" sz="1300" dirty="0">
                <a:solidFill>
                  <a:schemeClr val="accent3"/>
                </a:solidFill>
              </a:rPr>
              <a:t>S. K. McFeeters, “The Use of the Normalized Difference Water Index (NDWI) in the Delineation of Open Water Features,” Int. J. Remote Sens., vol. 17, no. 7, pp. 1425–1432, 1996.</a:t>
            </a:r>
            <a:endParaRPr lang="en-US" sz="1300" dirty="0"/>
          </a:p>
          <a:p>
            <a:pPr indent="0" marL="0">
              <a:buNone/>
            </a:pPr>
            <a:r>
              <a:rPr lang="en-US" sz="1300" b="1" dirty="0">
                <a:solidFill>
                  <a:schemeClr val="accent1"/>
                </a:solidFill>
              </a:rPr>
              <a:t>[6] </a:t>
            </a:r>
            <a:pPr indent="0" marL="0">
              <a:spcAft>
                <a:spcPts val="600"/>
              </a:spcAft>
              <a:buNone/>
            </a:pPr>
            <a:r>
              <a:rPr lang="en-US" sz="1300" dirty="0">
                <a:solidFill>
                  <a:schemeClr val="accent3"/>
                </a:solidFill>
              </a:rPr>
              <a:t>Y. Zha, J. Gao and S. Ni, “Use of Normalized Difference Built-up Index in Automatically Mapping Urban Areas from TM Imagery,” Int. J. Remote Sens., vol. 24, no. 3, pp. 583–594, 2003.</a:t>
            </a:r>
            <a:endParaRPr lang="en-US" sz="1300" dirty="0"/>
          </a:p>
          <a:p>
            <a:pPr indent="0" marL="0">
              <a:buNone/>
            </a:pPr>
            <a:r>
              <a:rPr lang="en-US" sz="1300" b="1" dirty="0">
                <a:solidFill>
                  <a:schemeClr val="accent1"/>
                </a:solidFill>
              </a:rPr>
              <a:t>[7] </a:t>
            </a:r>
            <a:pPr indent="0" marL="0">
              <a:spcAft>
                <a:spcPts val="600"/>
              </a:spcAft>
              <a:buNone/>
            </a:pPr>
            <a:r>
              <a:rPr lang="en-US" sz="1300" dirty="0">
                <a:solidFill>
                  <a:schemeClr val="accent3"/>
                </a:solidFill>
              </a:rPr>
              <a:t>N. Otsu, “A Threshold Selection Method from Gray-Level Histograms,” IEEE Trans. Syst., Man, Cybern., vol. 9, no. 1, pp. 62–66, 1979.</a:t>
            </a:r>
            <a:endParaRPr lang="en-US" sz="1300" dirty="0"/>
          </a:p>
          <a:p>
            <a:pPr indent="0" marL="0">
              <a:buNone/>
            </a:pPr>
            <a:r>
              <a:rPr lang="en-US" sz="1300" b="1" dirty="0">
                <a:solidFill>
                  <a:schemeClr val="accent1"/>
                </a:solidFill>
              </a:rPr>
              <a:t>[8] </a:t>
            </a:r>
            <a:pPr indent="0" marL="0">
              <a:spcAft>
                <a:spcPts val="600"/>
              </a:spcAft>
              <a:buNone/>
            </a:pPr>
            <a:r>
              <a:rPr lang="en-US" sz="1300" dirty="0">
                <a:solidFill>
                  <a:schemeClr val="accent3"/>
                </a:solidFill>
              </a:rPr>
              <a:t>J. Cohen, “A Coefficient of Agreement for Nominal Scales,” Educ. Psychol. Meas., vol. 20, no. 1, pp. 37–46, 1960.</a:t>
            </a:r>
            <a:endParaRPr lang="en-US" sz="1300" dirty="0"/>
          </a:p>
          <a:p>
            <a:pPr indent="0" marL="0">
              <a:buNone/>
            </a:pPr>
            <a:r>
              <a:rPr lang="en-US" sz="1300" b="1" dirty="0">
                <a:solidFill>
                  <a:schemeClr val="accent1"/>
                </a:solidFill>
              </a:rPr>
              <a:t>[9] </a:t>
            </a:r>
            <a:pPr indent="0" marL="0">
              <a:spcAft>
                <a:spcPts val="600"/>
              </a:spcAft>
              <a:buNone/>
            </a:pPr>
            <a:r>
              <a:rPr lang="en-US" sz="1300" dirty="0">
                <a:solidFill>
                  <a:schemeClr val="accent3"/>
                </a:solidFill>
              </a:rPr>
              <a:t>European Space Agency, Copernicus Sentinel-1 and Sentinel-2 missions, sentinels.copernicus.eu.</a:t>
            </a:r>
            <a:endParaRPr lang="en-US" sz="1300" dirty="0"/>
          </a:p>
          <a:p>
            <a:pPr indent="0" marL="0">
              <a:buNone/>
            </a:pPr>
            <a:r>
              <a:rPr lang="en-US" sz="1300" b="1" dirty="0">
                <a:solidFill>
                  <a:schemeClr val="accent1"/>
                </a:solidFill>
              </a:rPr>
              <a:t>[10] </a:t>
            </a:r>
            <a:pPr indent="0" marL="0">
              <a:spcAft>
                <a:spcPts val="600"/>
              </a:spcAft>
              <a:buNone/>
            </a:pPr>
            <a:r>
              <a:rPr lang="en-US" sz="1300" dirty="0">
                <a:solidFill>
                  <a:schemeClr val="accent3"/>
                </a:solidFill>
              </a:rPr>
              <a:t>Microsoft Planetary Computer STAC API; OpenStreetMap contributors, Nominatim geocoding service.</a:t>
            </a:r>
            <a:endParaRPr lang="en-US" sz="1300" dirty="0"/>
          </a:p>
        </p:txBody>
      </p:sp>
      <p:sp>
        <p:nvSpPr>
          <p:cNvPr id="25" name="Slide Number Placeholder 0"/>
          <p:cNvSpPr>
            <a:spLocks noGrp="1"/>
          </p:cNvSpPr>
          <p:nvPr>
            <p:ph type="sldNum" sz="quarter" idx="4294967295"/>
          </p:nvPr>
        </p:nvSpPr>
        <p:spPr>
          <a:xfrm>
            <a:off x="10881360" y="623620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Closing image" descr="Sentinel-2 true-colour image of Chilika Lake, Odisha">    </p:cNvPr>
          <p:cNvPicPr>
            <a:picLocks noChangeAspect="1"/>
          </p:cNvPicPr>
          <p:nvPr/>
        </p:nvPicPr>
        <p:blipFill>
          <a:blip r:embed="rId1"/>
          <a:stretch>
            <a:fillRect/>
          </a:stretch>
        </p:blipFill>
        <p:spPr>
          <a:xfrm>
            <a:off x="6705295" y="0"/>
            <a:ext cx="5486400" cy="6858000"/>
          </a:xfrm>
          <a:prstGeom prst="rect">
            <a:avLst/>
          </a:prstGeom>
        </p:spPr>
      </p:pic>
      <p:sp>
        <p:nvSpPr>
          <p:cNvPr id="3" name="Text 0"/>
          <p:cNvSpPr txBox="1"/>
          <p:nvPr/>
        </p:nvSpPr>
        <p:spPr>
          <a:xfrm>
            <a:off x="812902" y="812902"/>
            <a:ext cx="5394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SATQUERY AI · SIH 2026</a:t>
            </a:r>
            <a:endParaRPr lang="en-US" sz="1200" dirty="0"/>
          </a:p>
        </p:txBody>
      </p:sp>
      <p:sp>
        <p:nvSpPr>
          <p:cNvPr id="4" name="Text 0"/>
          <p:cNvSpPr/>
          <p:nvPr>
            <p:ph idx="100" type="title" hasCustomPrompt="1"/>
          </p:nvPr>
        </p:nvSpPr>
        <p:spPr>
          <a:xfrm>
            <a:off x="812902" y="1188720"/>
            <a:ext cx="5303520" cy="914400"/>
          </a:xfrm>
          <a:prstGeom prst="rect">
            <a:avLst/>
          </a:prstGeom>
          <a:noFill/>
          <a:ln/>
        </p:spPr>
        <p:txBody>
          <a:bodyPr wrap="square" lIns="0" tIns="0" rIns="0" bIns="0" rtlCol="0" anchor="t"/>
          <a:lstStyle/>
          <a:p>
            <a:pPr algn="l" indent="0" marL="0">
              <a:buNone/>
            </a:pPr>
            <a:r>
              <a:rPr lang="en-US" sz="6000" b="1" dirty="0">
                <a:solidFill>
                  <a:schemeClr val="tx2"/>
                </a:solidFill>
              </a:rPr>
              <a:t>Thank you</a:t>
            </a:r>
            <a:endParaRPr lang="en-US" sz="6000" dirty="0"/>
          </a:p>
        </p:txBody>
      </p:sp>
      <p:sp>
        <p:nvSpPr>
          <p:cNvPr id="5" name="Text 2"/>
          <p:cNvSpPr txBox="1"/>
          <p:nvPr/>
        </p:nvSpPr>
        <p:spPr>
          <a:xfrm>
            <a:off x="812902" y="2194560"/>
            <a:ext cx="5303520" cy="457200"/>
          </a:xfrm>
          <a:prstGeom prst="rect">
            <a:avLst/>
          </a:prstGeom>
          <a:noFill/>
          <a:ln/>
        </p:spPr>
        <p:txBody>
          <a:bodyPr wrap="square" lIns="0" tIns="0" rIns="0" bIns="0" rtlCol="0" anchor="t"/>
          <a:lstStyle/>
          <a:p>
            <a:pPr indent="0" marL="0">
              <a:buNone/>
            </a:pPr>
            <a:r>
              <a:rPr lang="en-US" sz="2200" dirty="0">
                <a:solidFill>
                  <a:schemeClr val="accent3"/>
                </a:solidFill>
              </a:rPr>
              <a:t>Questions and discussion</a:t>
            </a:r>
            <a:endParaRPr lang="en-US" sz="2200" dirty="0"/>
          </a:p>
        </p:txBody>
      </p:sp>
      <p:sp>
        <p:nvSpPr>
          <p:cNvPr id="6" name="LIVE SYSTEM circle"/>
          <p:cNvSpPr/>
          <p:nvPr/>
        </p:nvSpPr>
        <p:spPr>
          <a:xfrm>
            <a:off x="812902" y="3931920"/>
            <a:ext cx="512064" cy="512064"/>
          </a:xfrm>
          <a:prstGeom prst="ellipse">
            <a:avLst/>
          </a:prstGeom>
          <a:solidFill>
            <a:schemeClr val="tx2"/>
          </a:solidFill>
          <a:ln w="12700">
            <a:solidFill>
              <a:schemeClr val="tx2"/>
            </a:solidFill>
            <a:prstDash val="solid"/>
          </a:ln>
        </p:spPr>
      </p:sp>
      <p:pic>
        <p:nvPicPr>
          <p:cNvPr id="7" name="LIVE SYSTEM icon" descr="preencoded.png">    </p:cNvPr>
          <p:cNvPicPr>
            <a:picLocks noChangeAspect="1"/>
          </p:cNvPicPr>
          <p:nvPr/>
        </p:nvPicPr>
        <p:blipFill>
          <a:blip r:embed="rId2"/>
          <a:stretch>
            <a:fillRect/>
          </a:stretch>
        </p:blipFill>
        <p:spPr>
          <a:xfrm>
            <a:off x="951159" y="4070177"/>
            <a:ext cx="235549" cy="235549"/>
          </a:xfrm>
          <a:prstGeom prst="rect">
            <a:avLst/>
          </a:prstGeom>
        </p:spPr>
      </p:pic>
      <p:sp>
        <p:nvSpPr>
          <p:cNvPr id="8" name="Text 4"/>
          <p:cNvSpPr txBox="1"/>
          <p:nvPr/>
        </p:nvSpPr>
        <p:spPr>
          <a:xfrm>
            <a:off x="1544422" y="3913632"/>
            <a:ext cx="4572000" cy="237744"/>
          </a:xfrm>
          <a:prstGeom prst="rect">
            <a:avLst/>
          </a:prstGeom>
          <a:noFill/>
          <a:ln/>
        </p:spPr>
        <p:txBody>
          <a:bodyPr wrap="square" lIns="0" tIns="0" rIns="0" bIns="0" rtlCol="0" anchor="t"/>
          <a:lstStyle/>
          <a:p>
            <a:pPr indent="0" marL="0">
              <a:buNone/>
            </a:pPr>
            <a:r>
              <a:rPr lang="en-US" sz="1100" b="1" spc="100" kern="0" dirty="0">
                <a:solidFill>
                  <a:schemeClr val="accent4"/>
                </a:solidFill>
              </a:rPr>
              <a:t>LIVE SYSTEM</a:t>
            </a:r>
            <a:endParaRPr lang="en-US" sz="1100" dirty="0"/>
          </a:p>
        </p:txBody>
      </p:sp>
      <p:sp>
        <p:nvSpPr>
          <p:cNvPr id="9" name="Text 5">
            <a:hlinkClick r:id="rId3" tooltip=""/>
          </p:cNvPr>
          <p:cNvSpPr txBox="1"/>
          <p:nvPr/>
        </p:nvSpPr>
        <p:spPr>
          <a:xfrm>
            <a:off x="1544422" y="4151376"/>
            <a:ext cx="4572000" cy="310896"/>
          </a:xfrm>
          <a:prstGeom prst="rect">
            <a:avLst/>
          </a:prstGeom>
          <a:noFill/>
          <a:ln/>
        </p:spPr>
        <p:txBody>
          <a:bodyPr wrap="square" lIns="0" tIns="0" rIns="0" bIns="0" rtlCol="0" anchor="t"/>
          <a:lstStyle/>
          <a:p>
            <a:pPr indent="0" marL="0">
              <a:buNone/>
            </a:pPr>
            <a:r>
              <a:rPr lang="en-US" sz="16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satquery-ai-s55c.onrender.com</a:t>
            </a:r>
            <a:endParaRPr lang="en-US" sz="1600" dirty="0"/>
          </a:p>
        </p:txBody>
      </p:sp>
      <p:sp>
        <p:nvSpPr>
          <p:cNvPr id="10" name="SOURCE CODE circle"/>
          <p:cNvSpPr/>
          <p:nvPr/>
        </p:nvSpPr>
        <p:spPr>
          <a:xfrm>
            <a:off x="812902" y="4663440"/>
            <a:ext cx="512064" cy="512064"/>
          </a:xfrm>
          <a:prstGeom prst="ellipse">
            <a:avLst/>
          </a:prstGeom>
          <a:solidFill>
            <a:schemeClr val="tx2"/>
          </a:solidFill>
          <a:ln w="12700">
            <a:solidFill>
              <a:schemeClr val="tx2"/>
            </a:solidFill>
            <a:prstDash val="solid"/>
          </a:ln>
        </p:spPr>
      </p:sp>
      <p:pic>
        <p:nvPicPr>
          <p:cNvPr id="11" name="SOURCE CODE icon" descr="preencoded.png">    </p:cNvPr>
          <p:cNvPicPr>
            <a:picLocks noChangeAspect="1"/>
          </p:cNvPicPr>
          <p:nvPr/>
        </p:nvPicPr>
        <p:blipFill>
          <a:blip r:embed="rId4"/>
          <a:stretch>
            <a:fillRect/>
          </a:stretch>
        </p:blipFill>
        <p:spPr>
          <a:xfrm>
            <a:off x="951159" y="4801697"/>
            <a:ext cx="235549" cy="235549"/>
          </a:xfrm>
          <a:prstGeom prst="rect">
            <a:avLst/>
          </a:prstGeom>
        </p:spPr>
      </p:pic>
      <p:sp>
        <p:nvSpPr>
          <p:cNvPr id="12" name="Text 7"/>
          <p:cNvSpPr txBox="1"/>
          <p:nvPr/>
        </p:nvSpPr>
        <p:spPr>
          <a:xfrm>
            <a:off x="1544422" y="4645152"/>
            <a:ext cx="4572000" cy="237744"/>
          </a:xfrm>
          <a:prstGeom prst="rect">
            <a:avLst/>
          </a:prstGeom>
          <a:noFill/>
          <a:ln/>
        </p:spPr>
        <p:txBody>
          <a:bodyPr wrap="square" lIns="0" tIns="0" rIns="0" bIns="0" rtlCol="0" anchor="t"/>
          <a:lstStyle/>
          <a:p>
            <a:pPr indent="0" marL="0">
              <a:buNone/>
            </a:pPr>
            <a:r>
              <a:rPr lang="en-US" sz="1100" b="1" spc="100" kern="0" dirty="0">
                <a:solidFill>
                  <a:schemeClr val="accent4"/>
                </a:solidFill>
              </a:rPr>
              <a:t>SOURCE CODE</a:t>
            </a:r>
            <a:endParaRPr lang="en-US" sz="1100" dirty="0"/>
          </a:p>
        </p:txBody>
      </p:sp>
      <p:sp>
        <p:nvSpPr>
          <p:cNvPr id="13" name="Text 8">
            <a:hlinkClick r:id="rId5" tooltip=""/>
          </p:cNvPr>
          <p:cNvSpPr txBox="1"/>
          <p:nvPr/>
        </p:nvSpPr>
        <p:spPr>
          <a:xfrm>
            <a:off x="1544422" y="4882896"/>
            <a:ext cx="4572000" cy="310896"/>
          </a:xfrm>
          <a:prstGeom prst="rect">
            <a:avLst/>
          </a:prstGeom>
          <a:noFill/>
          <a:ln/>
        </p:spPr>
        <p:txBody>
          <a:bodyPr wrap="square" lIns="0" tIns="0" rIns="0" bIns="0" rtlCol="0" anchor="t"/>
          <a:lstStyle/>
          <a:p>
            <a:pPr indent="0" marL="0">
              <a:buNone/>
            </a:pPr>
            <a:r>
              <a:rPr lang="en-US" sz="16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github.com/VinayakGupta-1/SatQuery-AI</a:t>
            </a:r>
            <a:endParaRPr lang="en-US" sz="1600" dirty="0"/>
          </a:p>
        </p:txBody>
      </p:sp>
      <p:sp>
        <p:nvSpPr>
          <p:cNvPr id="14" name="TEAM circle"/>
          <p:cNvSpPr/>
          <p:nvPr/>
        </p:nvSpPr>
        <p:spPr>
          <a:xfrm>
            <a:off x="812902" y="5394960"/>
            <a:ext cx="512064" cy="512064"/>
          </a:xfrm>
          <a:prstGeom prst="ellipse">
            <a:avLst/>
          </a:prstGeom>
          <a:solidFill>
            <a:schemeClr val="accent2"/>
          </a:solidFill>
          <a:ln w="12700">
            <a:solidFill>
              <a:schemeClr val="accent2"/>
            </a:solidFill>
            <a:prstDash val="solid"/>
          </a:ln>
        </p:spPr>
      </p:sp>
      <p:pic>
        <p:nvPicPr>
          <p:cNvPr id="15" name="TEAM icon" descr="preencoded.png">    </p:cNvPr>
          <p:cNvPicPr>
            <a:picLocks noChangeAspect="1"/>
          </p:cNvPicPr>
          <p:nvPr/>
        </p:nvPicPr>
        <p:blipFill>
          <a:blip r:embed="rId6"/>
          <a:stretch>
            <a:fillRect/>
          </a:stretch>
        </p:blipFill>
        <p:spPr>
          <a:xfrm>
            <a:off x="951159" y="5533217"/>
            <a:ext cx="235549" cy="235549"/>
          </a:xfrm>
          <a:prstGeom prst="rect">
            <a:avLst/>
          </a:prstGeom>
        </p:spPr>
      </p:pic>
      <p:sp>
        <p:nvSpPr>
          <p:cNvPr id="16" name="Text 10"/>
          <p:cNvSpPr txBox="1"/>
          <p:nvPr/>
        </p:nvSpPr>
        <p:spPr>
          <a:xfrm>
            <a:off x="1544422" y="5376672"/>
            <a:ext cx="4572000" cy="237744"/>
          </a:xfrm>
          <a:prstGeom prst="rect">
            <a:avLst/>
          </a:prstGeom>
          <a:noFill/>
          <a:ln/>
        </p:spPr>
        <p:txBody>
          <a:bodyPr wrap="square" lIns="0" tIns="0" rIns="0" bIns="0" rtlCol="0" anchor="t"/>
          <a:lstStyle/>
          <a:p>
            <a:pPr indent="0" marL="0">
              <a:buNone/>
            </a:pPr>
            <a:r>
              <a:rPr lang="en-US" sz="1100" b="1" spc="100" kern="0" dirty="0">
                <a:solidFill>
                  <a:schemeClr val="accent4"/>
                </a:solidFill>
              </a:rPr>
              <a:t>TEAM</a:t>
            </a:r>
            <a:endParaRPr lang="en-US" sz="1100" dirty="0"/>
          </a:p>
        </p:txBody>
      </p:sp>
      <p:sp>
        <p:nvSpPr>
          <p:cNvPr id="17" name="Text 11"/>
          <p:cNvSpPr txBox="1"/>
          <p:nvPr/>
        </p:nvSpPr>
        <p:spPr>
          <a:xfrm>
            <a:off x="1544422" y="5614416"/>
            <a:ext cx="4572000" cy="310896"/>
          </a:xfrm>
          <a:prstGeom prst="rect">
            <a:avLst/>
          </a:prstGeom>
          <a:noFill/>
          <a:ln/>
        </p:spPr>
        <p:txBody>
          <a:bodyPr wrap="square" lIns="0" tIns="0" rIns="0" bIns="0" rtlCol="0" anchor="t"/>
          <a:lstStyle/>
          <a:p>
            <a:pPr indent="0" marL="0">
              <a:buNone/>
            </a:pPr>
            <a:r>
              <a:rPr lang="en-US" sz="1600" dirty="0">
                <a:solidFill>
                  <a:schemeClr val="tx1"/>
                </a:solidFill>
              </a:rPr>
              <a:t>[Team name]</a:t>
            </a:r>
            <a:endParaRPr lang="en-US" sz="1600" dirty="0"/>
          </a:p>
        </p:txBody>
      </p:sp>
    </p:spTree>
  </p:cSld>
  <p:clrMapOvr>
    <a:masterClrMapping/>
  </p:clrMapOvr>
</p:sld>
</file>

<file path=ppt/theme/theme1.xml><?xml version="1.0" encoding="utf-8"?>
<a:theme xmlns:a="http://schemas.openxmlformats.org/drawingml/2006/main" name="SatQuery">
  <a:themeElements>
    <a:clrScheme name="SatQuery">
      <a:dk1>
        <a:srgbClr val="17202C"/>
      </a:dk1>
      <a:lt1>
        <a:srgbClr val="FFFFFF"/>
      </a:lt1>
      <a:dk2>
        <a:srgbClr val="14325C"/>
      </a:dk2>
      <a:lt2>
        <a:srgbClr val="F4F6F8"/>
      </a:lt2>
      <a:accent1>
        <a:srgbClr val="1D4E89"/>
      </a:accent1>
      <a:accent2>
        <a:srgbClr val="D9772E"/>
      </a:accent2>
      <a:accent3>
        <a:srgbClr val="475262"/>
      </a:accent3>
      <a:accent4>
        <a:srgbClr val="6B7684"/>
      </a:accent4>
      <a:accent5>
        <a:srgbClr val="E8EEF6"/>
      </a:accent5>
      <a:accent6>
        <a:srgbClr val="FBEADB"/>
      </a:accent6>
      <a:hlink>
        <a:srgbClr val="1D4E89"/>
      </a:hlink>
      <a:folHlink>
        <a:srgbClr val="6B7684"/>
      </a:folHlink>
    </a:clrScheme>
    <a:fontScheme name="SatQu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SatQuery AI</dc:title>
  <dc:subject>Smart India Hackathon 2026, problem statement SIH26167</dc:subject>
  <dc:creator>PptxGenJS</dc:creator>
  <cp:lastModifiedBy>PptxGenJS</cp:lastModifiedBy>
  <cp:revision>1</cp:revision>
  <dcterms:created xsi:type="dcterms:W3CDTF">2026-10-24T19:03:38Z</dcterms:created>
  <dcterms:modified xsi:type="dcterms:W3CDTF">2026-10-24T19:03:38Z</dcterms:modified>
</cp:coreProperties>
</file>