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presenting SatQuery AI for problem statement SIH26167. In one line: SatQuery turns a plain-language geospatial question into a validated, executable remote-sensing workflow. The important word is validated. Through this deck we will show you exactly where AI reasoning stops and deterministic engineering takes over, because that boundary is the core of our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this question. A person asks it in one sentence, but answering it requires spatial reasoning, temporal reasoning, band selection, index computation, co-registration, differencing and statistical thresholding. SatQuery derives all seven stages from the sentence. Look closely at stages four and five. A capability is chosen from a registry, and only then does deterministic code check whether the imagery can actually support it. The model proposes; the system verifies.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Orange is where the language model reasons: understanding, decomposition, requirement inference. Everything below it is deterministic. The registry is the only door — the agent cannot call a function that is not declared there, and those same declarations supply the constraints the validation gate enforces. The gate is a hard boundary; no model opinion crosses it. Execution is a separate specialist layer. And when a run is rejected or returns low confidence, the system re-plans rather than failing silently.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already runs, not what we intend to build. Three hundred and twenty-six automated tests pass. Eight capabilities are declared and four execute on real rasters today, including bi-temporal change detection. We ship two interchangeable raster backends and the tests prove they agree, so a GDAL-free deployment is possible. We are explicit about status: the reasoning layer is being integrated, and four specialists are declared but not yet bound. On risk — our containment is not a promise that the model behaves. It is that the registry and the validator hold the veto regardless of what the model proposes.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answering a geospatial question needs an expert, manual preprocessing and manual tool selection, and the results arrive fragmented. SatQuery collapses that into a question. That matters most where expertise is scarce — a district agriculture office, or a disaster cell in the first hours of a flood. And because every answer carries its provenance, the output is auditable and reproducible rather than a one-off image someone produced once.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design choice traces to a body of work rather than to a trend. Agentic planning gives us decomposition. Schema-constrained tool calling is why we built a registry instead of allowing free-form function access. The most important is the fourth: language models are strong proposers and unreliable verifiers. That finding is precisely why our validation gate is code, and not a prompt.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the mechanism: this is a real registry entry. It declares modality, band requirements, image count, temporal pairing and a parameter schema. Selection reads it and the validator reads it. On the right are the five checks that run before a single pixel is touched. Note the last one — a misaligned pair would produce a confident and completely wrong change map, so we refuse rather than silently resampling the user’s imagery. And we state plainly that four capabilities are declared without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web interface and the repository. We are happy to run a live query on real imagery now if you would like to see the full trace.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scale: the reasoning tier is being integrated now, the specialist models bind to contracts that already exist in the registry, and the data tier follows. The point of this slide is the bottom row. None of that growth widens the trust boundary. Every new capability is validated by the same deterministic code against its own declared contract. Extending SatQuery is a registry entry and a binding — never a rewrite.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11887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5376672"/>
            <a:ext cx="12191695" cy="1481328"/>
          </a:xfrm>
          <a:prstGeom prst="rect">
            <a:avLst/>
          </a:prstGeom>
          <a:solidFill>
            <a:srgbClr val="1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75488" y="960120"/>
            <a:ext cx="8046720" cy="457200"/>
          </a:xfrm>
          <a:prstGeom prst="rect">
            <a:avLst/>
          </a:prstGeom>
          <a:noFill/>
        </p:spPr>
        <p:txBody>
          <a:bodyPr wrap="square" anchor="t" lIns="0" rIns="0" tIns="18288" bIns="18288">
            <a:spAutoFit/>
          </a:bodyPr>
          <a:lstStyle/>
          <a:p>
            <a:pPr algn="l"/>
            <a:r>
              <a:rPr sz="1200" b="1" i="0">
                <a:solidFill>
                  <a:srgbClr val="F58220"/>
                </a:solidFill>
                <a:latin typeface="Segoe UI"/>
              </a:rPr>
              <a:t>SMART INDIA HACKATHON 2026</a:t>
            </a:r>
          </a:p>
        </p:txBody>
      </p:sp>
      <p:sp>
        <p:nvSpPr>
          <p:cNvPr id="6" name="TextBox 5"/>
          <p:cNvSpPr txBox="1"/>
          <p:nvPr/>
        </p:nvSpPr>
        <p:spPr>
          <a:xfrm>
            <a:off x="429768" y="1353312"/>
            <a:ext cx="8229600" cy="1051560"/>
          </a:xfrm>
          <a:prstGeom prst="rect">
            <a:avLst/>
          </a:prstGeom>
          <a:noFill/>
        </p:spPr>
        <p:txBody>
          <a:bodyPr wrap="square" anchor="t" lIns="0" rIns="0" tIns="18288" bIns="18288">
            <a:spAutoFit/>
          </a:bodyPr>
          <a:lstStyle/>
          <a:p>
            <a:pPr algn="l">
              <a:lnSpc>
                <a:spcPct val="90000"/>
              </a:lnSpc>
            </a:pPr>
            <a:r>
              <a:rPr sz="5400" b="1" i="0">
                <a:solidFill>
                  <a:srgbClr val="FFFFFF"/>
                </a:solidFill>
                <a:latin typeface="Segoe UI"/>
              </a:rPr>
              <a:t>SatQuery AI</a:t>
            </a:r>
          </a:p>
        </p:txBody>
      </p:sp>
      <p:sp>
        <p:nvSpPr>
          <p:cNvPr id="7" name="Rectangle 6"/>
          <p:cNvSpPr/>
          <p:nvPr/>
        </p:nvSpPr>
        <p:spPr>
          <a:xfrm>
            <a:off x="475488" y="2395728"/>
            <a:ext cx="1554480" cy="4572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5488" y="2578608"/>
            <a:ext cx="7863840" cy="822960"/>
          </a:xfrm>
          <a:prstGeom prst="rect">
            <a:avLst/>
          </a:prstGeom>
          <a:noFill/>
        </p:spPr>
        <p:txBody>
          <a:bodyPr wrap="square" anchor="t" lIns="0" rIns="0" tIns="18288" bIns="18288">
            <a:spAutoFit/>
          </a:bodyPr>
          <a:lstStyle/>
          <a:p>
            <a:pPr algn="l">
              <a:lnSpc>
                <a:spcPct val="100000"/>
              </a:lnSpc>
            </a:pPr>
            <a:r>
              <a:rPr sz="1700" b="1" i="0">
                <a:solidFill>
                  <a:srgbClr val="FFFFFF"/>
                </a:solidFill>
                <a:latin typeface="Segoe UI"/>
              </a:rPr>
              <a:t>Natural language in.  Validated remote-sensing workflows out.</a:t>
            </a:r>
          </a:p>
        </p:txBody>
      </p:sp>
      <p:sp>
        <p:nvSpPr>
          <p:cNvPr id="9" name="TextBox 8"/>
          <p:cNvSpPr txBox="1"/>
          <p:nvPr/>
        </p:nvSpPr>
        <p:spPr>
          <a:xfrm>
            <a:off x="475488" y="3310128"/>
            <a:ext cx="7863840" cy="1371600"/>
          </a:xfrm>
          <a:prstGeom prst="rect">
            <a:avLst/>
          </a:prstGeom>
          <a:noFill/>
        </p:spPr>
        <p:txBody>
          <a:bodyPr wrap="square" anchor="t" lIns="0" rIns="0" tIns="18288" bIns="18288">
            <a:spAutoFit/>
          </a:bodyPr>
          <a:lstStyle/>
          <a:p>
            <a:pPr algn="l">
              <a:lnSpc>
                <a:spcPct val="115000"/>
              </a:lnSpc>
            </a:pPr>
            <a:r>
              <a:rPr sz="1150" b="0" i="0">
                <a:solidFill>
                  <a:srgbClr val="B9C7DB"/>
                </a:solidFill>
                <a:latin typeface="Segoe UI"/>
              </a:rPr>
              <a:t>An agentic reasoning and orchestration layer that turns a geospatial question into a decomposed, capability-matched, deterministically validated remote-sensing workflow — and returns an interpretable answer with its evidence.</a:t>
            </a:r>
          </a:p>
        </p:txBody>
      </p:sp>
      <p:sp>
        <p:nvSpPr>
          <p:cNvPr id="10" name="Rounded Rectangle 9"/>
          <p:cNvSpPr/>
          <p:nvPr/>
        </p:nvSpPr>
        <p:spPr>
          <a:xfrm>
            <a:off x="8732520" y="960120"/>
            <a:ext cx="3063240" cy="566928"/>
          </a:xfrm>
          <a:prstGeom prst="roundRect">
            <a:avLst>
              <a:gd name="adj" fmla="val 14000"/>
            </a:avLst>
          </a:prstGeom>
          <a:noFill/>
          <a:ln w="15875">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i="0">
                <a:solidFill>
                  <a:srgbClr val="F58220"/>
                </a:solidFill>
                <a:latin typeface="Segoe UI"/>
              </a:rPr>
              <a:t>Natural-language intent</a:t>
            </a:r>
          </a:p>
        </p:txBody>
      </p:sp>
      <p:sp>
        <p:nvSpPr>
          <p:cNvPr id="11" name="Down Arrow 10"/>
          <p:cNvSpPr/>
          <p:nvPr/>
        </p:nvSpPr>
        <p:spPr>
          <a:xfrm>
            <a:off x="10181844" y="1568195"/>
            <a:ext cx="164592" cy="137160"/>
          </a:xfrm>
          <a:prstGeom prst="downArrow">
            <a:avLst/>
          </a:prstGeom>
          <a:solidFill>
            <a:srgbClr val="3E62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732520" y="1746504"/>
            <a:ext cx="3063240" cy="566928"/>
          </a:xfrm>
          <a:prstGeom prst="roundRect">
            <a:avLst>
              <a:gd name="adj" fmla="val 14000"/>
            </a:avLst>
          </a:prstGeom>
          <a:noFill/>
          <a:ln w="15875">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i="0">
                <a:solidFill>
                  <a:srgbClr val="F58220"/>
                </a:solidFill>
                <a:latin typeface="Segoe UI"/>
              </a:rPr>
              <a:t>Reason · decompose · plan</a:t>
            </a:r>
          </a:p>
        </p:txBody>
      </p:sp>
      <p:sp>
        <p:nvSpPr>
          <p:cNvPr id="13" name="Down Arrow 12"/>
          <p:cNvSpPr/>
          <p:nvPr/>
        </p:nvSpPr>
        <p:spPr>
          <a:xfrm>
            <a:off x="10181844" y="2354580"/>
            <a:ext cx="164592" cy="137160"/>
          </a:xfrm>
          <a:prstGeom prst="downArrow">
            <a:avLst/>
          </a:prstGeom>
          <a:solidFill>
            <a:srgbClr val="3E62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732520" y="2532888"/>
            <a:ext cx="3063240" cy="566928"/>
          </a:xfrm>
          <a:prstGeom prst="roundRect">
            <a:avLst>
              <a:gd name="adj" fmla="val 14000"/>
            </a:avLst>
          </a:prstGeom>
          <a:noFill/>
          <a:ln w="15875">
            <a:solidFill>
              <a:srgbClr val="3E628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i="0">
                <a:solidFill>
                  <a:srgbClr val="FFFFFF"/>
                </a:solidFill>
                <a:latin typeface="Segoe UI"/>
              </a:rPr>
              <a:t>Deterministic validation</a:t>
            </a:r>
          </a:p>
        </p:txBody>
      </p:sp>
      <p:sp>
        <p:nvSpPr>
          <p:cNvPr id="15" name="Down Arrow 14"/>
          <p:cNvSpPr/>
          <p:nvPr/>
        </p:nvSpPr>
        <p:spPr>
          <a:xfrm>
            <a:off x="10181844" y="3140964"/>
            <a:ext cx="164592" cy="137160"/>
          </a:xfrm>
          <a:prstGeom prst="downArrow">
            <a:avLst/>
          </a:prstGeom>
          <a:solidFill>
            <a:srgbClr val="3E62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732520" y="3319272"/>
            <a:ext cx="3063240" cy="566928"/>
          </a:xfrm>
          <a:prstGeom prst="roundRect">
            <a:avLst>
              <a:gd name="adj" fmla="val 14000"/>
            </a:avLst>
          </a:prstGeom>
          <a:noFill/>
          <a:ln w="15875">
            <a:solidFill>
              <a:srgbClr val="3E628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i="0">
                <a:solidFill>
                  <a:srgbClr val="FFFFFF"/>
                </a:solidFill>
                <a:latin typeface="Segoe UI"/>
              </a:rPr>
              <a:t>Specialist RS execution</a:t>
            </a:r>
          </a:p>
        </p:txBody>
      </p:sp>
      <p:sp>
        <p:nvSpPr>
          <p:cNvPr id="17" name="Down Arrow 16"/>
          <p:cNvSpPr/>
          <p:nvPr/>
        </p:nvSpPr>
        <p:spPr>
          <a:xfrm>
            <a:off x="10181844" y="3927348"/>
            <a:ext cx="164592" cy="137160"/>
          </a:xfrm>
          <a:prstGeom prst="downArrow">
            <a:avLst/>
          </a:prstGeom>
          <a:solidFill>
            <a:srgbClr val="3E62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732520" y="4105656"/>
            <a:ext cx="3063240" cy="566928"/>
          </a:xfrm>
          <a:prstGeom prst="roundRect">
            <a:avLst>
              <a:gd name="adj" fmla="val 14000"/>
            </a:avLst>
          </a:prstGeom>
          <a:noFill/>
          <a:ln w="15875">
            <a:solidFill>
              <a:srgbClr val="3E628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00" b="1" i="0">
                <a:solidFill>
                  <a:srgbClr val="FFFFFF"/>
                </a:solidFill>
                <a:latin typeface="Segoe UI"/>
              </a:rPr>
              <a:t>Evidence-backed answer</a:t>
            </a:r>
          </a:p>
        </p:txBody>
      </p:sp>
      <p:sp>
        <p:nvSpPr>
          <p:cNvPr id="19" name="TextBox 18"/>
          <p:cNvSpPr txBox="1"/>
          <p:nvPr/>
        </p:nvSpPr>
        <p:spPr>
          <a:xfrm>
            <a:off x="384048" y="5669280"/>
            <a:ext cx="1782013" cy="219456"/>
          </a:xfrm>
          <a:prstGeom prst="rect">
            <a:avLst/>
          </a:prstGeom>
          <a:noFill/>
        </p:spPr>
        <p:txBody>
          <a:bodyPr wrap="square" anchor="t" lIns="0" rIns="0" tIns="18288" bIns="18288">
            <a:spAutoFit/>
          </a:bodyPr>
          <a:lstStyle/>
          <a:p>
            <a:pPr algn="l"/>
            <a:r>
              <a:rPr sz="750" b="1" i="0">
                <a:solidFill>
                  <a:srgbClr val="F58220"/>
                </a:solidFill>
                <a:latin typeface="Segoe UI"/>
              </a:rPr>
              <a:t>PROBLEM STATEMENT ID</a:t>
            </a:r>
          </a:p>
        </p:txBody>
      </p:sp>
      <p:sp>
        <p:nvSpPr>
          <p:cNvPr id="20" name="TextBox 19"/>
          <p:cNvSpPr txBox="1"/>
          <p:nvPr/>
        </p:nvSpPr>
        <p:spPr>
          <a:xfrm>
            <a:off x="384048" y="5916168"/>
            <a:ext cx="1782013" cy="475488"/>
          </a:xfrm>
          <a:prstGeom prst="rect">
            <a:avLst/>
          </a:prstGeom>
          <a:noFill/>
        </p:spPr>
        <p:txBody>
          <a:bodyPr wrap="square" anchor="t" lIns="0" rIns="0" tIns="18288" bIns="18288">
            <a:spAutoFit/>
          </a:bodyPr>
          <a:lstStyle/>
          <a:p>
            <a:pPr algn="l">
              <a:lnSpc>
                <a:spcPct val="100000"/>
              </a:lnSpc>
            </a:pPr>
            <a:r>
              <a:rPr sz="1000" b="1" i="0">
                <a:solidFill>
                  <a:srgbClr val="FFFFFF"/>
                </a:solidFill>
                <a:latin typeface="Segoe UI"/>
              </a:rPr>
              <a:t>SIH26167</a:t>
            </a:r>
          </a:p>
        </p:txBody>
      </p:sp>
      <p:sp>
        <p:nvSpPr>
          <p:cNvPr id="21" name="TextBox 20"/>
          <p:cNvSpPr txBox="1"/>
          <p:nvPr/>
        </p:nvSpPr>
        <p:spPr>
          <a:xfrm>
            <a:off x="2312365" y="5669280"/>
            <a:ext cx="1782013" cy="219456"/>
          </a:xfrm>
          <a:prstGeom prst="rect">
            <a:avLst/>
          </a:prstGeom>
          <a:noFill/>
        </p:spPr>
        <p:txBody>
          <a:bodyPr wrap="square" anchor="t" lIns="0" rIns="0" tIns="18288" bIns="18288">
            <a:spAutoFit/>
          </a:bodyPr>
          <a:lstStyle/>
          <a:p>
            <a:pPr algn="l"/>
            <a:r>
              <a:rPr sz="750" b="1" i="0">
                <a:solidFill>
                  <a:srgbClr val="F58220"/>
                </a:solidFill>
                <a:latin typeface="Segoe UI"/>
              </a:rPr>
              <a:t>PROBLEM STATEMENT TITLE</a:t>
            </a:r>
          </a:p>
        </p:txBody>
      </p:sp>
      <p:sp>
        <p:nvSpPr>
          <p:cNvPr id="22" name="TextBox 21"/>
          <p:cNvSpPr txBox="1"/>
          <p:nvPr/>
        </p:nvSpPr>
        <p:spPr>
          <a:xfrm>
            <a:off x="2312365" y="5916168"/>
            <a:ext cx="1782013" cy="475488"/>
          </a:xfrm>
          <a:prstGeom prst="rect">
            <a:avLst/>
          </a:prstGeom>
          <a:noFill/>
        </p:spPr>
        <p:txBody>
          <a:bodyPr wrap="square" anchor="t" lIns="0" rIns="0" tIns="18288" bIns="18288">
            <a:spAutoFit/>
          </a:bodyPr>
          <a:lstStyle/>
          <a:p>
            <a:pPr algn="l">
              <a:lnSpc>
                <a:spcPct val="100000"/>
              </a:lnSpc>
            </a:pPr>
            <a:r>
              <a:rPr sz="1000" b="1" i="0">
                <a:solidFill>
                  <a:srgbClr val="FFFFFF"/>
                </a:solidFill>
                <a:latin typeface="Segoe UI"/>
              </a:rPr>
              <a:t>[ FILL FROM SIH PORTAL ]</a:t>
            </a:r>
          </a:p>
        </p:txBody>
      </p:sp>
      <p:sp>
        <p:nvSpPr>
          <p:cNvPr id="23" name="TextBox 22"/>
          <p:cNvSpPr txBox="1"/>
          <p:nvPr/>
        </p:nvSpPr>
        <p:spPr>
          <a:xfrm>
            <a:off x="4240682" y="5669280"/>
            <a:ext cx="1782013" cy="219456"/>
          </a:xfrm>
          <a:prstGeom prst="rect">
            <a:avLst/>
          </a:prstGeom>
          <a:noFill/>
        </p:spPr>
        <p:txBody>
          <a:bodyPr wrap="square" anchor="t" lIns="0" rIns="0" tIns="18288" bIns="18288">
            <a:spAutoFit/>
          </a:bodyPr>
          <a:lstStyle/>
          <a:p>
            <a:pPr algn="l"/>
            <a:r>
              <a:rPr sz="750" b="1" i="0">
                <a:solidFill>
                  <a:srgbClr val="F58220"/>
                </a:solidFill>
                <a:latin typeface="Segoe UI"/>
              </a:rPr>
              <a:t>THEME</a:t>
            </a:r>
          </a:p>
        </p:txBody>
      </p:sp>
      <p:sp>
        <p:nvSpPr>
          <p:cNvPr id="24" name="TextBox 23"/>
          <p:cNvSpPr txBox="1"/>
          <p:nvPr/>
        </p:nvSpPr>
        <p:spPr>
          <a:xfrm>
            <a:off x="4240682" y="5916168"/>
            <a:ext cx="1782013" cy="475488"/>
          </a:xfrm>
          <a:prstGeom prst="rect">
            <a:avLst/>
          </a:prstGeom>
          <a:noFill/>
        </p:spPr>
        <p:txBody>
          <a:bodyPr wrap="square" anchor="t" lIns="0" rIns="0" tIns="18288" bIns="18288">
            <a:spAutoFit/>
          </a:bodyPr>
          <a:lstStyle/>
          <a:p>
            <a:pPr algn="l">
              <a:lnSpc>
                <a:spcPct val="100000"/>
              </a:lnSpc>
            </a:pPr>
            <a:r>
              <a:rPr sz="1000" b="1" i="0">
                <a:solidFill>
                  <a:srgbClr val="FFFFFF"/>
                </a:solidFill>
                <a:latin typeface="Segoe UI"/>
              </a:rPr>
              <a:t>[ FILL ]</a:t>
            </a:r>
          </a:p>
        </p:txBody>
      </p:sp>
      <p:sp>
        <p:nvSpPr>
          <p:cNvPr id="25" name="TextBox 24"/>
          <p:cNvSpPr txBox="1"/>
          <p:nvPr/>
        </p:nvSpPr>
        <p:spPr>
          <a:xfrm>
            <a:off x="6168999" y="5669280"/>
            <a:ext cx="1782013" cy="219456"/>
          </a:xfrm>
          <a:prstGeom prst="rect">
            <a:avLst/>
          </a:prstGeom>
          <a:noFill/>
        </p:spPr>
        <p:txBody>
          <a:bodyPr wrap="square" anchor="t" lIns="0" rIns="0" tIns="18288" bIns="18288">
            <a:spAutoFit/>
          </a:bodyPr>
          <a:lstStyle/>
          <a:p>
            <a:pPr algn="l"/>
            <a:r>
              <a:rPr sz="750" b="1" i="0">
                <a:solidFill>
                  <a:srgbClr val="F58220"/>
                </a:solidFill>
                <a:latin typeface="Segoe UI"/>
              </a:rPr>
              <a:t>PS CATEGORY</a:t>
            </a:r>
          </a:p>
        </p:txBody>
      </p:sp>
      <p:sp>
        <p:nvSpPr>
          <p:cNvPr id="26" name="TextBox 25"/>
          <p:cNvSpPr txBox="1"/>
          <p:nvPr/>
        </p:nvSpPr>
        <p:spPr>
          <a:xfrm>
            <a:off x="6168999" y="5916168"/>
            <a:ext cx="1782013" cy="475488"/>
          </a:xfrm>
          <a:prstGeom prst="rect">
            <a:avLst/>
          </a:prstGeom>
          <a:noFill/>
        </p:spPr>
        <p:txBody>
          <a:bodyPr wrap="square" anchor="t" lIns="0" rIns="0" tIns="18288" bIns="18288">
            <a:spAutoFit/>
          </a:bodyPr>
          <a:lstStyle/>
          <a:p>
            <a:pPr algn="l">
              <a:lnSpc>
                <a:spcPct val="100000"/>
              </a:lnSpc>
            </a:pPr>
            <a:r>
              <a:rPr sz="1000" b="1" i="0">
                <a:solidFill>
                  <a:srgbClr val="FFFFFF"/>
                </a:solidFill>
                <a:latin typeface="Segoe UI"/>
              </a:rPr>
              <a:t>Software</a:t>
            </a:r>
          </a:p>
        </p:txBody>
      </p:sp>
      <p:sp>
        <p:nvSpPr>
          <p:cNvPr id="27" name="TextBox 26"/>
          <p:cNvSpPr txBox="1"/>
          <p:nvPr/>
        </p:nvSpPr>
        <p:spPr>
          <a:xfrm>
            <a:off x="8097316" y="5669280"/>
            <a:ext cx="1782013" cy="219456"/>
          </a:xfrm>
          <a:prstGeom prst="rect">
            <a:avLst/>
          </a:prstGeom>
          <a:noFill/>
        </p:spPr>
        <p:txBody>
          <a:bodyPr wrap="square" anchor="t" lIns="0" rIns="0" tIns="18288" bIns="18288">
            <a:spAutoFit/>
          </a:bodyPr>
          <a:lstStyle/>
          <a:p>
            <a:pPr algn="l"/>
            <a:r>
              <a:rPr sz="750" b="1" i="0">
                <a:solidFill>
                  <a:srgbClr val="F58220"/>
                </a:solidFill>
                <a:latin typeface="Segoe UI"/>
              </a:rPr>
              <a:t>TEAM ID</a:t>
            </a:r>
          </a:p>
        </p:txBody>
      </p:sp>
      <p:sp>
        <p:nvSpPr>
          <p:cNvPr id="28" name="TextBox 27"/>
          <p:cNvSpPr txBox="1"/>
          <p:nvPr/>
        </p:nvSpPr>
        <p:spPr>
          <a:xfrm>
            <a:off x="8097316" y="5916168"/>
            <a:ext cx="1782013" cy="475488"/>
          </a:xfrm>
          <a:prstGeom prst="rect">
            <a:avLst/>
          </a:prstGeom>
          <a:noFill/>
        </p:spPr>
        <p:txBody>
          <a:bodyPr wrap="square" anchor="t" lIns="0" rIns="0" tIns="18288" bIns="18288">
            <a:spAutoFit/>
          </a:bodyPr>
          <a:lstStyle/>
          <a:p>
            <a:pPr algn="l">
              <a:lnSpc>
                <a:spcPct val="100000"/>
              </a:lnSpc>
            </a:pPr>
            <a:r>
              <a:rPr sz="1000" b="1" i="0">
                <a:solidFill>
                  <a:srgbClr val="FFFFFF"/>
                </a:solidFill>
                <a:latin typeface="Segoe UI"/>
              </a:rPr>
              <a:t>[ FILL ]</a:t>
            </a:r>
          </a:p>
        </p:txBody>
      </p:sp>
      <p:sp>
        <p:nvSpPr>
          <p:cNvPr id="29" name="TextBox 28"/>
          <p:cNvSpPr txBox="1"/>
          <p:nvPr/>
        </p:nvSpPr>
        <p:spPr>
          <a:xfrm>
            <a:off x="10025633" y="5669280"/>
            <a:ext cx="1782013" cy="219456"/>
          </a:xfrm>
          <a:prstGeom prst="rect">
            <a:avLst/>
          </a:prstGeom>
          <a:noFill/>
        </p:spPr>
        <p:txBody>
          <a:bodyPr wrap="square" anchor="t" lIns="0" rIns="0" tIns="18288" bIns="18288">
            <a:spAutoFit/>
          </a:bodyPr>
          <a:lstStyle/>
          <a:p>
            <a:pPr algn="l"/>
            <a:r>
              <a:rPr sz="750" b="1" i="0">
                <a:solidFill>
                  <a:srgbClr val="F58220"/>
                </a:solidFill>
                <a:latin typeface="Segoe UI"/>
              </a:rPr>
              <a:t>TEAM NAME</a:t>
            </a:r>
          </a:p>
        </p:txBody>
      </p:sp>
      <p:sp>
        <p:nvSpPr>
          <p:cNvPr id="30" name="TextBox 29"/>
          <p:cNvSpPr txBox="1"/>
          <p:nvPr/>
        </p:nvSpPr>
        <p:spPr>
          <a:xfrm>
            <a:off x="10025633" y="5916168"/>
            <a:ext cx="1782013" cy="475488"/>
          </a:xfrm>
          <a:prstGeom prst="rect">
            <a:avLst/>
          </a:prstGeom>
          <a:noFill/>
        </p:spPr>
        <p:txBody>
          <a:bodyPr wrap="square" anchor="t" lIns="0" rIns="0" tIns="18288" bIns="18288">
            <a:spAutoFit/>
          </a:bodyPr>
          <a:lstStyle/>
          <a:p>
            <a:pPr algn="l">
              <a:lnSpc>
                <a:spcPct val="100000"/>
              </a:lnSpc>
            </a:pPr>
            <a:r>
              <a:rPr sz="1000" b="1" i="0">
                <a:solidFill>
                  <a:srgbClr val="FFFFFF"/>
                </a:solidFill>
                <a:latin typeface="Segoe UI"/>
              </a:rPr>
              <a:t>[ FILL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Proposed Solution</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2</a:t>
            </a:r>
          </a:p>
        </p:txBody>
      </p:sp>
      <p:sp>
        <p:nvSpPr>
          <p:cNvPr id="7" name="Rounded Rectangle 6"/>
          <p:cNvSpPr/>
          <p:nvPr/>
        </p:nvSpPr>
        <p:spPr>
          <a:xfrm>
            <a:off x="384048" y="768096"/>
            <a:ext cx="11423599" cy="603504"/>
          </a:xfrm>
          <a:prstGeom prst="roundRect">
            <a:avLst>
              <a:gd name="adj" fmla="val 1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84048" y="768096"/>
            <a:ext cx="64008" cy="603504"/>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3503" y="768096"/>
            <a:ext cx="11057839" cy="603504"/>
          </a:xfrm>
          <a:prstGeom prst="rect">
            <a:avLst/>
          </a:prstGeom>
          <a:noFill/>
        </p:spPr>
        <p:txBody>
          <a:bodyPr wrap="square" anchor="ctr" lIns="0" rIns="0" tIns="18288" bIns="18288">
            <a:spAutoFit/>
          </a:bodyPr>
          <a:lstStyle/>
          <a:p>
            <a:pPr algn="l">
              <a:lnSpc>
                <a:spcPct val="100000"/>
              </a:lnSpc>
            </a:pPr>
            <a:r>
              <a:rPr sz="1350" b="1" i="0">
                <a:solidFill>
                  <a:srgbClr val="0B2545"/>
                </a:solidFill>
                <a:latin typeface="Segoe UI"/>
              </a:rPr>
              <a:t>The model decides WHAT should happen.  Deterministic code verifies WHETHER it can safely happen.</a:t>
            </a:r>
          </a:p>
        </p:txBody>
      </p:sp>
      <p:sp>
        <p:nvSpPr>
          <p:cNvPr id="10" name="Rectangle 9"/>
          <p:cNvSpPr/>
          <p:nvPr/>
        </p:nvSpPr>
        <p:spPr>
          <a:xfrm>
            <a:off x="384048" y="1522476"/>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2064" y="1481328"/>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ONE QUESTION, END TO END</a:t>
            </a:r>
          </a:p>
        </p:txBody>
      </p:sp>
      <p:sp>
        <p:nvSpPr>
          <p:cNvPr id="12" name="Rounded Rectangle 11"/>
          <p:cNvSpPr/>
          <p:nvPr/>
        </p:nvSpPr>
        <p:spPr>
          <a:xfrm>
            <a:off x="384048" y="1773936"/>
            <a:ext cx="11423599" cy="420624"/>
          </a:xfrm>
          <a:prstGeom prst="roundRect">
            <a:avLst>
              <a:gd name="adj" fmla="val 1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50" b="1" i="1">
                <a:solidFill>
                  <a:srgbClr val="FFFFFF"/>
                </a:solidFill>
                <a:latin typeface="Segoe UI"/>
              </a:rPr>
              <a:t>“Identify areas where vegetation decreased significantly between 2023 and 2025.”</a:t>
            </a:r>
          </a:p>
        </p:txBody>
      </p:sp>
      <p:sp>
        <p:nvSpPr>
          <p:cNvPr id="13" name="Rounded Rectangle 12"/>
          <p:cNvSpPr/>
          <p:nvPr/>
        </p:nvSpPr>
        <p:spPr>
          <a:xfrm>
            <a:off x="384048" y="2304288"/>
            <a:ext cx="1417320" cy="1298448"/>
          </a:xfrm>
          <a:prstGeom prst="roundRect">
            <a:avLst>
              <a:gd name="adj" fmla="val 14000"/>
            </a:avLst>
          </a:prstGeom>
          <a:solidFill>
            <a:srgbClr val="FDEFDF"/>
          </a:solidFill>
          <a:ln w="1143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F58220"/>
                </a:solidFill>
                <a:latin typeface="Segoe UI"/>
              </a:rPr>
              <a:t>1  UNDERSTAND</a:t>
            </a:r>
          </a:p>
          <a:p>
            <a:pPr algn="ctr">
              <a:lnSpc>
                <a:spcPct val="105000"/>
              </a:lnSpc>
              <a:spcBef>
                <a:spcPts val="400"/>
              </a:spcBef>
            </a:pPr>
            <a:r>
              <a:rPr sz="760" b="0" i="0">
                <a:solidFill>
                  <a:srgbClr val="151E2B"/>
                </a:solidFill>
                <a:latin typeface="Segoe UI"/>
              </a:rPr>
              <a:t>intent, entities,
region, 2023 ↔ 2025</a:t>
            </a:r>
          </a:p>
        </p:txBody>
      </p:sp>
      <p:sp>
        <p:nvSpPr>
          <p:cNvPr id="14" name="Right Arrow 13"/>
          <p:cNvSpPr/>
          <p:nvPr/>
        </p:nvSpPr>
        <p:spPr>
          <a:xfrm>
            <a:off x="1833372" y="2884932"/>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048256" y="2304288"/>
            <a:ext cx="1417320" cy="1298448"/>
          </a:xfrm>
          <a:prstGeom prst="roundRect">
            <a:avLst>
              <a:gd name="adj" fmla="val 14000"/>
            </a:avLst>
          </a:prstGeom>
          <a:solidFill>
            <a:srgbClr val="FDEFDF"/>
          </a:solidFill>
          <a:ln w="1143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F58220"/>
                </a:solidFill>
                <a:latin typeface="Segoe UI"/>
              </a:rPr>
              <a:t>2  DECOMPOSE</a:t>
            </a:r>
          </a:p>
          <a:p>
            <a:pPr algn="ctr">
              <a:lnSpc>
                <a:spcPct val="105000"/>
              </a:lnSpc>
              <a:spcBef>
                <a:spcPts val="400"/>
              </a:spcBef>
            </a:pPr>
            <a:r>
              <a:rPr sz="760" b="0" i="0">
                <a:solidFill>
                  <a:srgbClr val="151E2B"/>
                </a:solidFill>
                <a:latin typeface="Segoe UI"/>
              </a:rPr>
              <a:t>7 subtasks planned
for this question</a:t>
            </a:r>
          </a:p>
        </p:txBody>
      </p:sp>
      <p:sp>
        <p:nvSpPr>
          <p:cNvPr id="16" name="Right Arrow 15"/>
          <p:cNvSpPr/>
          <p:nvPr/>
        </p:nvSpPr>
        <p:spPr>
          <a:xfrm>
            <a:off x="3497580" y="2884932"/>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712464" y="2304288"/>
            <a:ext cx="1417320" cy="1298448"/>
          </a:xfrm>
          <a:prstGeom prst="roundRect">
            <a:avLst>
              <a:gd name="adj" fmla="val 14000"/>
            </a:avLst>
          </a:prstGeom>
          <a:solidFill>
            <a:srgbClr val="FDEFDF"/>
          </a:solidFill>
          <a:ln w="1143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F58220"/>
                </a:solidFill>
                <a:latin typeface="Segoe UI"/>
              </a:rPr>
              <a:t>3  INFER INPUTS</a:t>
            </a:r>
          </a:p>
          <a:p>
            <a:pPr algn="ctr">
              <a:lnSpc>
                <a:spcPct val="105000"/>
              </a:lnSpc>
              <a:spcBef>
                <a:spcPts val="400"/>
              </a:spcBef>
            </a:pPr>
            <a:r>
              <a:rPr sz="760" b="0" i="0">
                <a:solidFill>
                  <a:srgbClr val="151E2B"/>
                </a:solidFill>
                <a:latin typeface="Segoe UI"/>
              </a:rPr>
              <a:t>optical · RED+NIR
2 dated scenes · CRS</a:t>
            </a:r>
          </a:p>
        </p:txBody>
      </p:sp>
      <p:sp>
        <p:nvSpPr>
          <p:cNvPr id="18" name="Right Arrow 17"/>
          <p:cNvSpPr/>
          <p:nvPr/>
        </p:nvSpPr>
        <p:spPr>
          <a:xfrm>
            <a:off x="5161788" y="2884932"/>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376672" y="2304288"/>
            <a:ext cx="1417320" cy="1298448"/>
          </a:xfrm>
          <a:prstGeom prst="roundRect">
            <a:avLst>
              <a:gd name="adj" fmla="val 14000"/>
            </a:avLst>
          </a:prstGeom>
          <a:solidFill>
            <a:srgbClr val="E7EEF8"/>
          </a:solidFill>
          <a:ln w="1143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1B59A6"/>
                </a:solidFill>
                <a:latin typeface="Segoe UI"/>
              </a:rPr>
              <a:t>4  SELECT</a:t>
            </a:r>
          </a:p>
          <a:p>
            <a:pPr algn="ctr">
              <a:lnSpc>
                <a:spcPct val="105000"/>
              </a:lnSpc>
              <a:spcBef>
                <a:spcPts val="400"/>
              </a:spcBef>
            </a:pPr>
            <a:r>
              <a:rPr sz="760" b="0" i="0">
                <a:solidFill>
                  <a:srgbClr val="151E2B"/>
                </a:solidFill>
                <a:latin typeface="Segoe UI"/>
              </a:rPr>
              <a:t>change_detection
(index = NDVI)</a:t>
            </a:r>
          </a:p>
        </p:txBody>
      </p:sp>
      <p:sp>
        <p:nvSpPr>
          <p:cNvPr id="20" name="Right Arrow 19"/>
          <p:cNvSpPr/>
          <p:nvPr/>
        </p:nvSpPr>
        <p:spPr>
          <a:xfrm>
            <a:off x="6825996" y="2884932"/>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040880" y="2304288"/>
            <a:ext cx="1417320" cy="1298448"/>
          </a:xfrm>
          <a:prstGeom prst="roundRect">
            <a:avLst>
              <a:gd name="adj" fmla="val 14000"/>
            </a:avLst>
          </a:prstGeom>
          <a:solidFill>
            <a:srgbClr val="FBE8E6"/>
          </a:solidFill>
          <a:ln w="11430">
            <a:solidFill>
              <a:srgbClr val="B3332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B33328"/>
                </a:solidFill>
                <a:latin typeface="Segoe UI"/>
              </a:rPr>
              <a:t>5  VALIDATE</a:t>
            </a:r>
          </a:p>
          <a:p>
            <a:pPr algn="ctr">
              <a:lnSpc>
                <a:spcPct val="105000"/>
              </a:lnSpc>
              <a:spcBef>
                <a:spcPts val="400"/>
              </a:spcBef>
            </a:pPr>
            <a:r>
              <a:rPr sz="760" b="0" i="0">
                <a:solidFill>
                  <a:srgbClr val="151E2B"/>
                </a:solidFill>
                <a:latin typeface="Segoe UI"/>
              </a:rPr>
              <a:t>bands ✓ count ✓
CRS ✓ dates ✓</a:t>
            </a:r>
          </a:p>
        </p:txBody>
      </p:sp>
      <p:sp>
        <p:nvSpPr>
          <p:cNvPr id="22" name="Right Arrow 21"/>
          <p:cNvSpPr/>
          <p:nvPr/>
        </p:nvSpPr>
        <p:spPr>
          <a:xfrm>
            <a:off x="8490204" y="2884932"/>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705088" y="2304288"/>
            <a:ext cx="1417320" cy="1298448"/>
          </a:xfrm>
          <a:prstGeom prst="roundRect">
            <a:avLst>
              <a:gd name="adj" fmla="val 14000"/>
            </a:avLst>
          </a:prstGeom>
          <a:solidFill>
            <a:srgbClr val="E3F3EA"/>
          </a:solidFill>
          <a:ln w="1143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1B7A4B"/>
                </a:solidFill>
                <a:latin typeface="Segoe UI"/>
              </a:rPr>
              <a:t>6  EXECUTE</a:t>
            </a:r>
          </a:p>
          <a:p>
            <a:pPr algn="ctr">
              <a:lnSpc>
                <a:spcPct val="105000"/>
              </a:lnSpc>
              <a:spcBef>
                <a:spcPts val="400"/>
              </a:spcBef>
            </a:pPr>
            <a:r>
              <a:rPr sz="760" b="0" i="0">
                <a:solidFill>
                  <a:srgbClr val="151E2B"/>
                </a:solidFill>
                <a:latin typeface="Segoe UI"/>
              </a:rPr>
              <a:t>NDVI ×2 → align
→ Δ → σ-threshold</a:t>
            </a:r>
          </a:p>
        </p:txBody>
      </p:sp>
      <p:sp>
        <p:nvSpPr>
          <p:cNvPr id="24" name="Right Arrow 23"/>
          <p:cNvSpPr/>
          <p:nvPr/>
        </p:nvSpPr>
        <p:spPr>
          <a:xfrm>
            <a:off x="10154412" y="2884932"/>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369296" y="2304288"/>
            <a:ext cx="1417320" cy="1298448"/>
          </a:xfrm>
          <a:prstGeom prst="roundRect">
            <a:avLst>
              <a:gd name="adj" fmla="val 14000"/>
            </a:avLst>
          </a:prstGeom>
          <a:solidFill>
            <a:srgbClr val="E7EEF8"/>
          </a:solidFill>
          <a:ln w="1143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0B2545"/>
                </a:solidFill>
                <a:latin typeface="Segoe UI"/>
              </a:rPr>
              <a:t>7  INTEGRATE</a:t>
            </a:r>
          </a:p>
          <a:p>
            <a:pPr algn="ctr">
              <a:lnSpc>
                <a:spcPct val="105000"/>
              </a:lnSpc>
              <a:spcBef>
                <a:spcPts val="400"/>
              </a:spcBef>
            </a:pPr>
            <a:r>
              <a:rPr sz="760" b="0" i="0">
                <a:solidFill>
                  <a:srgbClr val="151E2B"/>
                </a:solidFill>
                <a:latin typeface="Segoe UI"/>
              </a:rPr>
              <a:t>evidence → map,
stats, explanation</a:t>
            </a:r>
          </a:p>
        </p:txBody>
      </p:sp>
      <p:sp>
        <p:nvSpPr>
          <p:cNvPr id="26" name="Rounded Rectangle 25"/>
          <p:cNvSpPr/>
          <p:nvPr/>
        </p:nvSpPr>
        <p:spPr>
          <a:xfrm>
            <a:off x="384048" y="3767328"/>
            <a:ext cx="11423599" cy="548640"/>
          </a:xfrm>
          <a:prstGeom prst="roundRect">
            <a:avLst>
              <a:gd name="adj" fmla="val 14000"/>
            </a:avLst>
          </a:prstGeom>
          <a:solidFill>
            <a:srgbClr val="FDEFDF"/>
          </a:solidFill>
          <a:ln w="1270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i="0">
                <a:solidFill>
                  <a:srgbClr val="0B2545"/>
                </a:solidFill>
                <a:latin typeface="Segoe UI"/>
              </a:rPr>
              <a:t>Output:   loss percentage  ·  spatial hotspot map  ·  per-region statistics  ·  plain-language explanation  ·  full provenance of every step</a:t>
            </a:r>
          </a:p>
        </p:txBody>
      </p:sp>
      <p:sp>
        <p:nvSpPr>
          <p:cNvPr id="27" name="Rectangle 26"/>
          <p:cNvSpPr/>
          <p:nvPr/>
        </p:nvSpPr>
        <p:spPr>
          <a:xfrm>
            <a:off x="384048" y="4521708"/>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2064" y="4480560"/>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INNOVATION AND UNIQUENESS</a:t>
            </a:r>
          </a:p>
        </p:txBody>
      </p:sp>
      <p:sp>
        <p:nvSpPr>
          <p:cNvPr id="29" name="Rounded Rectangle 28"/>
          <p:cNvSpPr/>
          <p:nvPr/>
        </p:nvSpPr>
        <p:spPr>
          <a:xfrm>
            <a:off x="384048" y="4773168"/>
            <a:ext cx="2670733" cy="1417320"/>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050" b="1" i="0">
                <a:solidFill>
                  <a:srgbClr val="F58220"/>
                </a:solidFill>
                <a:latin typeface="Segoe UI"/>
              </a:rPr>
              <a:t>Reasoning ≠ verification</a:t>
            </a:r>
          </a:p>
          <a:p>
            <a:pPr algn="l">
              <a:lnSpc>
                <a:spcPct val="100000"/>
              </a:lnSpc>
              <a:spcBef>
                <a:spcPts val="400"/>
              </a:spcBef>
            </a:pPr>
            <a:r>
              <a:rPr sz="830" b="0" i="0">
                <a:solidFill>
                  <a:srgbClr val="151E2B"/>
                </a:solidFill>
                <a:latin typeface="Segoe UI"/>
              </a:rPr>
              <a:t>The model proposes a workflow; the registry and validator decide whether it may run. A reasoning error becomes a precise rejection, never a confident wrong map.</a:t>
            </a:r>
          </a:p>
        </p:txBody>
      </p:sp>
      <p:sp>
        <p:nvSpPr>
          <p:cNvPr id="30" name="Rectangle 29"/>
          <p:cNvSpPr/>
          <p:nvPr/>
        </p:nvSpPr>
        <p:spPr>
          <a:xfrm>
            <a:off x="384048" y="4773168"/>
            <a:ext cx="54864" cy="1417320"/>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3301669" y="4773168"/>
            <a:ext cx="2670733" cy="1417320"/>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050" b="1" i="0">
                <a:solidFill>
                  <a:srgbClr val="1B59A6"/>
                </a:solidFill>
                <a:latin typeface="Segoe UI"/>
              </a:rPr>
              <a:t>Capability-aware selection</a:t>
            </a:r>
          </a:p>
          <a:p>
            <a:pPr algn="l">
              <a:lnSpc>
                <a:spcPct val="100000"/>
              </a:lnSpc>
              <a:spcBef>
                <a:spcPts val="400"/>
              </a:spcBef>
            </a:pPr>
            <a:r>
              <a:rPr sz="830" b="0" i="0">
                <a:solidFill>
                  <a:srgbClr val="151E2B"/>
                </a:solidFill>
                <a:latin typeface="Segoe UI"/>
              </a:rPr>
              <a:t>Tools are matched against declared contracts — modality, required bands, image count, temporal pairing — not by keyword similarity.</a:t>
            </a:r>
          </a:p>
        </p:txBody>
      </p:sp>
      <p:sp>
        <p:nvSpPr>
          <p:cNvPr id="32" name="Rectangle 31"/>
          <p:cNvSpPr/>
          <p:nvPr/>
        </p:nvSpPr>
        <p:spPr>
          <a:xfrm>
            <a:off x="3301669" y="4773168"/>
            <a:ext cx="54864" cy="1417320"/>
          </a:xfrm>
          <a:prstGeom prst="rect">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6219291" y="4773168"/>
            <a:ext cx="2670733" cy="1417320"/>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050" b="1" i="0">
                <a:solidFill>
                  <a:srgbClr val="1B7A4B"/>
                </a:solidFill>
                <a:latin typeface="Segoe UI"/>
              </a:rPr>
              <a:t>Composable operations</a:t>
            </a:r>
          </a:p>
          <a:p>
            <a:pPr algn="l">
              <a:lnSpc>
                <a:spcPct val="100000"/>
              </a:lnSpc>
              <a:spcBef>
                <a:spcPts val="400"/>
              </a:spcBef>
            </a:pPr>
            <a:r>
              <a:rPr sz="830" b="0" i="0">
                <a:solidFill>
                  <a:srgbClr val="151E2B"/>
                </a:solidFill>
                <a:latin typeface="Segoe UI"/>
              </a:rPr>
              <a:t>A single question can chain index computation, co-registration, differencing, thresholding and spatial aggregation into one workflow.</a:t>
            </a:r>
          </a:p>
        </p:txBody>
      </p:sp>
      <p:sp>
        <p:nvSpPr>
          <p:cNvPr id="34" name="Rectangle 33"/>
          <p:cNvSpPr/>
          <p:nvPr/>
        </p:nvSpPr>
        <p:spPr>
          <a:xfrm>
            <a:off x="6219291" y="4773168"/>
            <a:ext cx="54864" cy="1417320"/>
          </a:xfrm>
          <a:prstGeom prst="rect">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9136913" y="4773168"/>
            <a:ext cx="2670733" cy="1417320"/>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050" b="1" i="0">
                <a:solidFill>
                  <a:srgbClr val="0B2545"/>
                </a:solidFill>
                <a:latin typeface="Segoe UI"/>
              </a:rPr>
              <a:t>Extensible by declaration</a:t>
            </a:r>
          </a:p>
          <a:p>
            <a:pPr algn="l">
              <a:lnSpc>
                <a:spcPct val="100000"/>
              </a:lnSpc>
              <a:spcBef>
                <a:spcPts val="400"/>
              </a:spcBef>
            </a:pPr>
            <a:r>
              <a:rPr sz="830" b="0" i="0">
                <a:solidFill>
                  <a:srgbClr val="151E2B"/>
                </a:solidFill>
                <a:latin typeface="Segoe UI"/>
              </a:rPr>
              <a:t>A new model joins by adding a registry entry and a binding. The controller, validator and API stay unchanged.</a:t>
            </a:r>
          </a:p>
        </p:txBody>
      </p:sp>
      <p:sp>
        <p:nvSpPr>
          <p:cNvPr id="36" name="Rectangle 35"/>
          <p:cNvSpPr/>
          <p:nvPr/>
        </p:nvSpPr>
        <p:spPr>
          <a:xfrm>
            <a:off x="9136913" y="4773168"/>
            <a:ext cx="54864" cy="14173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Technical Approach</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3</a:t>
            </a:r>
          </a:p>
        </p:txBody>
      </p:sp>
      <p:sp>
        <p:nvSpPr>
          <p:cNvPr id="7" name="TextBox 6"/>
          <p:cNvSpPr txBox="1"/>
          <p:nvPr/>
        </p:nvSpPr>
        <p:spPr>
          <a:xfrm>
            <a:off x="384048" y="731520"/>
            <a:ext cx="6675120" cy="274320"/>
          </a:xfrm>
          <a:prstGeom prst="rect">
            <a:avLst/>
          </a:prstGeom>
          <a:noFill/>
        </p:spPr>
        <p:txBody>
          <a:bodyPr wrap="square" anchor="ctr" lIns="0" rIns="0" tIns="18288" bIns="18288">
            <a:spAutoFit/>
          </a:bodyPr>
          <a:lstStyle/>
          <a:p>
            <a:pPr algn="l"/>
            <a:r>
              <a:rPr sz="1150" b="1" i="0">
                <a:solidFill>
                  <a:srgbClr val="C45F0A"/>
                </a:solidFill>
                <a:latin typeface="Segoe UI"/>
              </a:rPr>
              <a:t>AI reasoning proposes  →  deterministic layers verify, execute and explain</a:t>
            </a:r>
          </a:p>
        </p:txBody>
      </p:sp>
      <p:sp>
        <p:nvSpPr>
          <p:cNvPr id="8" name="Rectangle 7"/>
          <p:cNvSpPr/>
          <p:nvPr/>
        </p:nvSpPr>
        <p:spPr>
          <a:xfrm>
            <a:off x="7178040" y="758952"/>
            <a:ext cx="146304" cy="146304"/>
          </a:xfrm>
          <a:prstGeom prst="rect">
            <a:avLst/>
          </a:prstGeom>
          <a:solidFill>
            <a:srgbClr val="FDEFDF"/>
          </a:solidFill>
          <a:ln w="1143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79208" y="713232"/>
            <a:ext cx="1133856" cy="237744"/>
          </a:xfrm>
          <a:prstGeom prst="rect">
            <a:avLst/>
          </a:prstGeom>
          <a:noFill/>
        </p:spPr>
        <p:txBody>
          <a:bodyPr wrap="square" anchor="ctr" lIns="0" rIns="0" tIns="18288" bIns="18288">
            <a:spAutoFit/>
          </a:bodyPr>
          <a:lstStyle/>
          <a:p>
            <a:pPr algn="l"/>
            <a:r>
              <a:rPr sz="800" b="0" i="0">
                <a:solidFill>
                  <a:srgbClr val="6B7889"/>
                </a:solidFill>
                <a:latin typeface="Segoe UI"/>
              </a:rPr>
              <a:t>AI reasoning</a:t>
            </a:r>
          </a:p>
        </p:txBody>
      </p:sp>
      <p:sp>
        <p:nvSpPr>
          <p:cNvPr id="10" name="Rectangle 9"/>
          <p:cNvSpPr/>
          <p:nvPr/>
        </p:nvSpPr>
        <p:spPr>
          <a:xfrm>
            <a:off x="8394192" y="758952"/>
            <a:ext cx="146304" cy="146304"/>
          </a:xfrm>
          <a:prstGeom prst="rect">
            <a:avLst/>
          </a:prstGeom>
          <a:solidFill>
            <a:srgbClr val="E7EEF8"/>
          </a:solidFill>
          <a:ln w="1143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95360" y="713232"/>
            <a:ext cx="1133856" cy="237744"/>
          </a:xfrm>
          <a:prstGeom prst="rect">
            <a:avLst/>
          </a:prstGeom>
          <a:noFill/>
        </p:spPr>
        <p:txBody>
          <a:bodyPr wrap="square" anchor="ctr" lIns="0" rIns="0" tIns="18288" bIns="18288">
            <a:spAutoFit/>
          </a:bodyPr>
          <a:lstStyle/>
          <a:p>
            <a:pPr algn="l"/>
            <a:r>
              <a:rPr sz="800" b="0" i="0">
                <a:solidFill>
                  <a:srgbClr val="6B7889"/>
                </a:solidFill>
                <a:latin typeface="Segoe UI"/>
              </a:rPr>
              <a:t>Deterministic</a:t>
            </a:r>
          </a:p>
        </p:txBody>
      </p:sp>
      <p:sp>
        <p:nvSpPr>
          <p:cNvPr id="12" name="Rectangle 11"/>
          <p:cNvSpPr/>
          <p:nvPr/>
        </p:nvSpPr>
        <p:spPr>
          <a:xfrm>
            <a:off x="9610344" y="758952"/>
            <a:ext cx="146304" cy="146304"/>
          </a:xfrm>
          <a:prstGeom prst="rect">
            <a:avLst/>
          </a:prstGeom>
          <a:solidFill>
            <a:srgbClr val="E3F3EA"/>
          </a:solidFill>
          <a:ln w="1143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811512" y="713232"/>
            <a:ext cx="1133856" cy="237744"/>
          </a:xfrm>
          <a:prstGeom prst="rect">
            <a:avLst/>
          </a:prstGeom>
          <a:noFill/>
        </p:spPr>
        <p:txBody>
          <a:bodyPr wrap="square" anchor="ctr" lIns="0" rIns="0" tIns="18288" bIns="18288">
            <a:spAutoFit/>
          </a:bodyPr>
          <a:lstStyle/>
          <a:p>
            <a:pPr algn="l"/>
            <a:r>
              <a:rPr sz="800" b="0" i="0">
                <a:solidFill>
                  <a:srgbClr val="6B7889"/>
                </a:solidFill>
                <a:latin typeface="Segoe UI"/>
              </a:rPr>
              <a:t>Live today</a:t>
            </a:r>
          </a:p>
        </p:txBody>
      </p:sp>
      <p:sp>
        <p:nvSpPr>
          <p:cNvPr id="14" name="Rectangle 13"/>
          <p:cNvSpPr/>
          <p:nvPr/>
        </p:nvSpPr>
        <p:spPr>
          <a:xfrm>
            <a:off x="10826496" y="758952"/>
            <a:ext cx="146304" cy="146304"/>
          </a:xfrm>
          <a:prstGeom prst="rect">
            <a:avLst/>
          </a:prstGeom>
          <a:solidFill>
            <a:srgbClr val="F1F4F8"/>
          </a:solidFill>
          <a:ln w="1143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027664" y="713232"/>
            <a:ext cx="1133856" cy="237744"/>
          </a:xfrm>
          <a:prstGeom prst="rect">
            <a:avLst/>
          </a:prstGeom>
          <a:noFill/>
        </p:spPr>
        <p:txBody>
          <a:bodyPr wrap="square" anchor="ctr" lIns="0" rIns="0" tIns="18288" bIns="18288">
            <a:spAutoFit/>
          </a:bodyPr>
          <a:lstStyle/>
          <a:p>
            <a:pPr algn="l"/>
            <a:r>
              <a:rPr sz="800" b="0" i="0">
                <a:solidFill>
                  <a:srgbClr val="6B7889"/>
                </a:solidFill>
                <a:latin typeface="Segoe UI"/>
              </a:rPr>
              <a:t>Planned</a:t>
            </a:r>
          </a:p>
        </p:txBody>
      </p:sp>
      <p:sp>
        <p:nvSpPr>
          <p:cNvPr id="16" name="TextBox 15"/>
          <p:cNvSpPr txBox="1"/>
          <p:nvPr/>
        </p:nvSpPr>
        <p:spPr>
          <a:xfrm>
            <a:off x="384048" y="1115568"/>
            <a:ext cx="1481328" cy="457200"/>
          </a:xfrm>
          <a:prstGeom prst="rect">
            <a:avLst/>
          </a:prstGeom>
          <a:noFill/>
        </p:spPr>
        <p:txBody>
          <a:bodyPr wrap="square" anchor="ctr" lIns="0" rIns="0" tIns="18288" bIns="18288">
            <a:spAutoFit/>
          </a:bodyPr>
          <a:lstStyle/>
          <a:p>
            <a:pPr algn="r">
              <a:lnSpc>
                <a:spcPct val="95000"/>
              </a:lnSpc>
            </a:pPr>
            <a:r>
              <a:rPr sz="919" b="1" i="0">
                <a:solidFill>
                  <a:srgbClr val="0B2545"/>
                </a:solidFill>
                <a:latin typeface="Segoe UI"/>
              </a:rPr>
              <a:t>INTERFACE</a:t>
            </a:r>
          </a:p>
          <a:p>
            <a:pPr algn="r">
              <a:lnSpc>
                <a:spcPct val="95000"/>
              </a:lnSpc>
              <a:spcBef>
                <a:spcPts val="200"/>
              </a:spcBef>
            </a:pPr>
            <a:r>
              <a:rPr sz="730" b="0" i="0">
                <a:solidFill>
                  <a:srgbClr val="6B7889"/>
                </a:solidFill>
                <a:latin typeface="Segoe UI"/>
              </a:rPr>
              <a:t>what the user gives</a:t>
            </a:r>
          </a:p>
        </p:txBody>
      </p:sp>
      <p:sp>
        <p:nvSpPr>
          <p:cNvPr id="17" name="Rounded Rectangle 16"/>
          <p:cNvSpPr/>
          <p:nvPr/>
        </p:nvSpPr>
        <p:spPr>
          <a:xfrm>
            <a:off x="1975104" y="1115568"/>
            <a:ext cx="9189720" cy="457200"/>
          </a:xfrm>
          <a:prstGeom prst="roundRect">
            <a:avLst>
              <a:gd name="adj" fmla="val 14000"/>
            </a:avLst>
          </a:prstGeom>
          <a:solidFill>
            <a:srgbClr val="FFFFFF"/>
          </a:solidFill>
          <a:ln w="1270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i="0">
                <a:solidFill>
                  <a:srgbClr val="0B2545"/>
                </a:solidFill>
                <a:latin typeface="Segoe UI"/>
              </a:rPr>
              <a:t>Natural-language question   +   satellite imagery (GeoTIFF / Sentinel-2 / Landsat)   +   optional region and dates</a:t>
            </a:r>
          </a:p>
        </p:txBody>
      </p:sp>
      <p:sp>
        <p:nvSpPr>
          <p:cNvPr id="18" name="TextBox 17"/>
          <p:cNvSpPr txBox="1"/>
          <p:nvPr/>
        </p:nvSpPr>
        <p:spPr>
          <a:xfrm>
            <a:off x="384048" y="1673352"/>
            <a:ext cx="1481328" cy="731520"/>
          </a:xfrm>
          <a:prstGeom prst="rect">
            <a:avLst/>
          </a:prstGeom>
          <a:noFill/>
        </p:spPr>
        <p:txBody>
          <a:bodyPr wrap="square" anchor="ctr" lIns="0" rIns="0" tIns="18288" bIns="18288">
            <a:spAutoFit/>
          </a:bodyPr>
          <a:lstStyle/>
          <a:p>
            <a:pPr algn="r">
              <a:lnSpc>
                <a:spcPct val="95000"/>
              </a:lnSpc>
            </a:pPr>
            <a:r>
              <a:rPr sz="919" b="1" i="0">
                <a:solidFill>
                  <a:srgbClr val="C45F0A"/>
                </a:solidFill>
                <a:latin typeface="Segoe UI"/>
              </a:rPr>
              <a:t>REASONING</a:t>
            </a:r>
          </a:p>
          <a:p>
            <a:pPr algn="r">
              <a:lnSpc>
                <a:spcPct val="95000"/>
              </a:lnSpc>
              <a:spcBef>
                <a:spcPts val="200"/>
              </a:spcBef>
            </a:pPr>
            <a:r>
              <a:rPr sz="730" b="0" i="0">
                <a:solidFill>
                  <a:srgbClr val="6B7889"/>
                </a:solidFill>
                <a:latin typeface="Segoe UI"/>
              </a:rPr>
              <a:t>LLM proposes</a:t>
            </a:r>
          </a:p>
        </p:txBody>
      </p:sp>
      <p:sp>
        <p:nvSpPr>
          <p:cNvPr id="19" name="Rounded Rectangle 18"/>
          <p:cNvSpPr/>
          <p:nvPr/>
        </p:nvSpPr>
        <p:spPr>
          <a:xfrm>
            <a:off x="1975104" y="1673352"/>
            <a:ext cx="9189720" cy="731520"/>
          </a:xfrm>
          <a:prstGeom prst="roundRect">
            <a:avLst>
              <a:gd name="adj" fmla="val 14000"/>
            </a:avLst>
          </a:prstGeom>
          <a:solidFill>
            <a:srgbClr val="FDEFDF"/>
          </a:solidFill>
          <a:ln w="13970">
            <a:solidFill>
              <a:srgbClr val="F58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112264" y="1764792"/>
            <a:ext cx="2886456" cy="54864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C45F0A"/>
                </a:solidFill>
                <a:latin typeface="Segoe UI"/>
              </a:rPr>
              <a:t>Query understanding</a:t>
            </a:r>
          </a:p>
          <a:p>
            <a:pPr algn="ctr">
              <a:lnSpc>
                <a:spcPct val="95000"/>
              </a:lnSpc>
              <a:spcBef>
                <a:spcPts val="200"/>
              </a:spcBef>
            </a:pPr>
            <a:r>
              <a:rPr sz="730" b="0" i="0">
                <a:solidFill>
                  <a:srgbClr val="151E2B"/>
                </a:solidFill>
                <a:latin typeface="Segoe UI"/>
              </a:rPr>
              <a:t>intent · entities · spatial + temporal constraints</a:t>
            </a:r>
          </a:p>
        </p:txBody>
      </p:sp>
      <p:sp>
        <p:nvSpPr>
          <p:cNvPr id="21" name="Rounded Rectangle 20"/>
          <p:cNvSpPr/>
          <p:nvPr/>
        </p:nvSpPr>
        <p:spPr>
          <a:xfrm>
            <a:off x="5126736" y="1764792"/>
            <a:ext cx="2886456" cy="54864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C45F0A"/>
                </a:solidFill>
                <a:latin typeface="Segoe UI"/>
              </a:rPr>
              <a:t>Task decomposition</a:t>
            </a:r>
          </a:p>
          <a:p>
            <a:pPr algn="ctr">
              <a:lnSpc>
                <a:spcPct val="95000"/>
              </a:lnSpc>
              <a:spcBef>
                <a:spcPts val="200"/>
              </a:spcBef>
            </a:pPr>
            <a:r>
              <a:rPr sz="730" b="0" i="0">
                <a:solidFill>
                  <a:srgbClr val="151E2B"/>
                </a:solidFill>
                <a:latin typeface="Segoe UI"/>
              </a:rPr>
              <a:t>one question → ordered executable subtasks</a:t>
            </a:r>
          </a:p>
        </p:txBody>
      </p:sp>
      <p:sp>
        <p:nvSpPr>
          <p:cNvPr id="22" name="Rounded Rectangle 21"/>
          <p:cNvSpPr/>
          <p:nvPr/>
        </p:nvSpPr>
        <p:spPr>
          <a:xfrm>
            <a:off x="8141208" y="1764792"/>
            <a:ext cx="2886456" cy="54864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C45F0A"/>
                </a:solidFill>
                <a:latin typeface="Segoe UI"/>
              </a:rPr>
              <a:t>Input requirement inference</a:t>
            </a:r>
          </a:p>
          <a:p>
            <a:pPr algn="ctr">
              <a:lnSpc>
                <a:spcPct val="95000"/>
              </a:lnSpc>
              <a:spcBef>
                <a:spcPts val="200"/>
              </a:spcBef>
            </a:pPr>
            <a:r>
              <a:rPr sz="730" b="0" i="0">
                <a:solidFill>
                  <a:srgbClr val="151E2B"/>
                </a:solidFill>
                <a:latin typeface="Segoe UI"/>
              </a:rPr>
              <a:t>modality · bands · image count · metadata</a:t>
            </a:r>
          </a:p>
        </p:txBody>
      </p:sp>
      <p:sp>
        <p:nvSpPr>
          <p:cNvPr id="23" name="TextBox 22"/>
          <p:cNvSpPr txBox="1"/>
          <p:nvPr/>
        </p:nvSpPr>
        <p:spPr>
          <a:xfrm>
            <a:off x="384048" y="2505456"/>
            <a:ext cx="1481328" cy="512064"/>
          </a:xfrm>
          <a:prstGeom prst="rect">
            <a:avLst/>
          </a:prstGeom>
          <a:noFill/>
        </p:spPr>
        <p:txBody>
          <a:bodyPr wrap="square" anchor="ctr" lIns="0" rIns="0" tIns="18288" bIns="18288">
            <a:spAutoFit/>
          </a:bodyPr>
          <a:lstStyle/>
          <a:p>
            <a:pPr algn="r">
              <a:lnSpc>
                <a:spcPct val="95000"/>
              </a:lnSpc>
            </a:pPr>
            <a:r>
              <a:rPr sz="919" b="1" i="0">
                <a:solidFill>
                  <a:srgbClr val="1B59A6"/>
                </a:solidFill>
                <a:latin typeface="Segoe UI"/>
              </a:rPr>
              <a:t>CAPABILITY REGISTRY</a:t>
            </a:r>
          </a:p>
          <a:p>
            <a:pPr algn="r">
              <a:lnSpc>
                <a:spcPct val="95000"/>
              </a:lnSpc>
              <a:spcBef>
                <a:spcPts val="200"/>
              </a:spcBef>
            </a:pPr>
            <a:r>
              <a:rPr sz="730" b="0" i="0">
                <a:solidFill>
                  <a:srgbClr val="6B7889"/>
                </a:solidFill>
                <a:latin typeface="Segoe UI"/>
              </a:rPr>
              <a:t>the contract</a:t>
            </a:r>
          </a:p>
        </p:txBody>
      </p:sp>
      <p:sp>
        <p:nvSpPr>
          <p:cNvPr id="24" name="Rounded Rectangle 23"/>
          <p:cNvSpPr/>
          <p:nvPr/>
        </p:nvSpPr>
        <p:spPr>
          <a:xfrm>
            <a:off x="1975104" y="2505456"/>
            <a:ext cx="9189720" cy="512064"/>
          </a:xfrm>
          <a:prstGeom prst="roundRect">
            <a:avLst>
              <a:gd name="adj" fmla="val 14000"/>
            </a:avLst>
          </a:prstGeom>
          <a:solidFill>
            <a:srgbClr val="FFFFFF"/>
          </a:solidFill>
          <a:ln w="1778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121408" y="2505456"/>
            <a:ext cx="2880360" cy="512064"/>
          </a:xfrm>
          <a:prstGeom prst="rect">
            <a:avLst/>
          </a:prstGeom>
          <a:noFill/>
        </p:spPr>
        <p:txBody>
          <a:bodyPr wrap="square" anchor="ctr" lIns="0" rIns="0" tIns="18288" bIns="18288">
            <a:spAutoFit/>
          </a:bodyPr>
          <a:lstStyle/>
          <a:p>
            <a:pPr algn="l">
              <a:lnSpc>
                <a:spcPct val="95000"/>
              </a:lnSpc>
            </a:pPr>
            <a:r>
              <a:rPr sz="950" b="1" i="0">
                <a:solidFill>
                  <a:srgbClr val="1B59A6"/>
                </a:solidFill>
                <a:latin typeface="Segoe UI"/>
              </a:rPr>
              <a:t>8 versioned capabilities</a:t>
            </a:r>
          </a:p>
          <a:p>
            <a:pPr algn="l">
              <a:lnSpc>
                <a:spcPct val="95000"/>
              </a:lnSpc>
            </a:pPr>
            <a:r>
              <a:rPr sz="730" b="0" i="0">
                <a:solidFill>
                  <a:srgbClr val="6B7889"/>
                </a:solidFill>
                <a:latin typeface="Segoe UI"/>
              </a:rPr>
              <a:t>the only functions the agent may call</a:t>
            </a:r>
          </a:p>
        </p:txBody>
      </p:sp>
      <p:sp>
        <p:nvSpPr>
          <p:cNvPr id="26" name="Rounded Rectangle 25"/>
          <p:cNvSpPr/>
          <p:nvPr/>
        </p:nvSpPr>
        <p:spPr>
          <a:xfrm>
            <a:off x="5038344" y="2587752"/>
            <a:ext cx="5980176" cy="347472"/>
          </a:xfrm>
          <a:prstGeom prst="roundRect">
            <a:avLst>
              <a:gd name="adj" fmla="val 1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800" b="0" i="0">
                <a:solidFill>
                  <a:srgbClr val="151E2B"/>
                </a:solidFill>
                <a:latin typeface="Segoe UI"/>
              </a:rPr>
              <a:t>tool_id  ·  description  ·  supported modalities  ·  required bands  ·  min/max images  ·  temporal-pair flag  ·  parameter schema</a:t>
            </a:r>
          </a:p>
          <a:p>
            <a:pPr algn="ctr">
              <a:lnSpc>
                <a:spcPct val="95000"/>
              </a:lnSpc>
              <a:spcBef>
                <a:spcPts val="200"/>
              </a:spcBef>
            </a:pPr>
            <a:r>
              <a:rPr sz="730" b="1" i="0">
                <a:solidFill>
                  <a:srgbClr val="1B59A6"/>
                </a:solidFill>
                <a:latin typeface="Segoe UI"/>
              </a:rPr>
              <a:t>constrains capability selection AND supplies the constraints the validation gate enforces</a:t>
            </a:r>
          </a:p>
        </p:txBody>
      </p:sp>
      <p:sp>
        <p:nvSpPr>
          <p:cNvPr id="27" name="TextBox 26"/>
          <p:cNvSpPr txBox="1"/>
          <p:nvPr/>
        </p:nvSpPr>
        <p:spPr>
          <a:xfrm>
            <a:off x="384048" y="3118104"/>
            <a:ext cx="1481328" cy="731520"/>
          </a:xfrm>
          <a:prstGeom prst="rect">
            <a:avLst/>
          </a:prstGeom>
          <a:noFill/>
        </p:spPr>
        <p:txBody>
          <a:bodyPr wrap="square" anchor="ctr" lIns="0" rIns="0" tIns="18288" bIns="18288">
            <a:spAutoFit/>
          </a:bodyPr>
          <a:lstStyle/>
          <a:p>
            <a:pPr algn="r">
              <a:lnSpc>
                <a:spcPct val="95000"/>
              </a:lnSpc>
            </a:pPr>
            <a:r>
              <a:rPr sz="919" b="1" i="0">
                <a:solidFill>
                  <a:srgbClr val="1B59A6"/>
                </a:solidFill>
                <a:latin typeface="Segoe UI"/>
              </a:rPr>
              <a:t>ORCHESTRATION</a:t>
            </a:r>
          </a:p>
          <a:p>
            <a:pPr algn="r">
              <a:lnSpc>
                <a:spcPct val="95000"/>
              </a:lnSpc>
              <a:spcBef>
                <a:spcPts val="200"/>
              </a:spcBef>
            </a:pPr>
            <a:r>
              <a:rPr sz="730" b="0" i="0">
                <a:solidFill>
                  <a:srgbClr val="6B7889"/>
                </a:solidFill>
                <a:latin typeface="Segoe UI"/>
              </a:rPr>
              <a:t>planning the run</a:t>
            </a:r>
          </a:p>
        </p:txBody>
      </p:sp>
      <p:sp>
        <p:nvSpPr>
          <p:cNvPr id="28" name="Rounded Rectangle 27"/>
          <p:cNvSpPr/>
          <p:nvPr/>
        </p:nvSpPr>
        <p:spPr>
          <a:xfrm>
            <a:off x="1975104" y="3118104"/>
            <a:ext cx="9189720" cy="731520"/>
          </a:xfrm>
          <a:prstGeom prst="roundRect">
            <a:avLst>
              <a:gd name="adj" fmla="val 14000"/>
            </a:avLst>
          </a:prstGeom>
          <a:solidFill>
            <a:srgbClr val="E7EEF8"/>
          </a:solidFill>
          <a:ln w="1397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2112264" y="3209544"/>
            <a:ext cx="2886456" cy="54864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1B59A6"/>
                </a:solidFill>
                <a:latin typeface="Segoe UI"/>
              </a:rPr>
              <a:t>Capability selection</a:t>
            </a:r>
          </a:p>
          <a:p>
            <a:pPr algn="ctr">
              <a:lnSpc>
                <a:spcPct val="95000"/>
              </a:lnSpc>
              <a:spcBef>
                <a:spcPts val="200"/>
              </a:spcBef>
            </a:pPr>
            <a:r>
              <a:rPr sz="730" b="0" i="0">
                <a:solidFill>
                  <a:srgbClr val="151E2B"/>
                </a:solidFill>
                <a:latin typeface="Segoe UI"/>
              </a:rPr>
              <a:t>match subtask against registry contracts</a:t>
            </a:r>
          </a:p>
        </p:txBody>
      </p:sp>
      <p:sp>
        <p:nvSpPr>
          <p:cNvPr id="30" name="Rounded Rectangle 29"/>
          <p:cNvSpPr/>
          <p:nvPr/>
        </p:nvSpPr>
        <p:spPr>
          <a:xfrm>
            <a:off x="5126736" y="3209544"/>
            <a:ext cx="2886456" cy="54864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1B59A6"/>
                </a:solidFill>
                <a:latin typeface="Segoe UI"/>
              </a:rPr>
              <a:t>Execution planning</a:t>
            </a:r>
          </a:p>
          <a:p>
            <a:pPr algn="ctr">
              <a:lnSpc>
                <a:spcPct val="95000"/>
              </a:lnSpc>
              <a:spcBef>
                <a:spcPts val="200"/>
              </a:spcBef>
            </a:pPr>
            <a:r>
              <a:rPr sz="730" b="0" i="0">
                <a:solidFill>
                  <a:srgbClr val="151E2B"/>
                </a:solidFill>
                <a:latin typeface="Segoe UI"/>
              </a:rPr>
              <a:t>order, dependencies, intermediate artefacts</a:t>
            </a:r>
          </a:p>
        </p:txBody>
      </p:sp>
      <p:sp>
        <p:nvSpPr>
          <p:cNvPr id="31" name="Rounded Rectangle 30"/>
          <p:cNvSpPr/>
          <p:nvPr/>
        </p:nvSpPr>
        <p:spPr>
          <a:xfrm>
            <a:off x="8141208" y="3209544"/>
            <a:ext cx="2886456" cy="54864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1B59A6"/>
                </a:solidFill>
                <a:latin typeface="Segoe UI"/>
              </a:rPr>
              <a:t>Parameter configuration</a:t>
            </a:r>
          </a:p>
          <a:p>
            <a:pPr algn="ctr">
              <a:lnSpc>
                <a:spcPct val="95000"/>
              </a:lnSpc>
              <a:spcBef>
                <a:spcPts val="200"/>
              </a:spcBef>
            </a:pPr>
            <a:r>
              <a:rPr sz="730" b="0" i="0">
                <a:solidFill>
                  <a:srgbClr val="151E2B"/>
                </a:solidFill>
                <a:latin typeface="Segoe UI"/>
              </a:rPr>
              <a:t>bands, scale/offset, thresholds, masking</a:t>
            </a:r>
          </a:p>
        </p:txBody>
      </p:sp>
      <p:sp>
        <p:nvSpPr>
          <p:cNvPr id="32" name="TextBox 31"/>
          <p:cNvSpPr txBox="1"/>
          <p:nvPr/>
        </p:nvSpPr>
        <p:spPr>
          <a:xfrm>
            <a:off x="384048" y="3950208"/>
            <a:ext cx="1481328" cy="768096"/>
          </a:xfrm>
          <a:prstGeom prst="rect">
            <a:avLst/>
          </a:prstGeom>
          <a:noFill/>
        </p:spPr>
        <p:txBody>
          <a:bodyPr wrap="square" anchor="ctr" lIns="0" rIns="0" tIns="18288" bIns="18288">
            <a:spAutoFit/>
          </a:bodyPr>
          <a:lstStyle/>
          <a:p>
            <a:pPr algn="r">
              <a:lnSpc>
                <a:spcPct val="95000"/>
              </a:lnSpc>
            </a:pPr>
            <a:r>
              <a:rPr sz="919" b="1" i="0">
                <a:solidFill>
                  <a:srgbClr val="B33328"/>
                </a:solidFill>
                <a:latin typeface="Segoe UI"/>
              </a:rPr>
              <a:t>VALIDATION GATE</a:t>
            </a:r>
          </a:p>
          <a:p>
            <a:pPr algn="r">
              <a:lnSpc>
                <a:spcPct val="95000"/>
              </a:lnSpc>
              <a:spcBef>
                <a:spcPts val="200"/>
              </a:spcBef>
            </a:pPr>
            <a:r>
              <a:rPr sz="730" b="0" i="0">
                <a:solidFill>
                  <a:srgbClr val="6B7889"/>
                </a:solidFill>
                <a:latin typeface="Segoe UI"/>
              </a:rPr>
              <a:t>hard boundary</a:t>
            </a:r>
          </a:p>
        </p:txBody>
      </p:sp>
      <p:sp>
        <p:nvSpPr>
          <p:cNvPr id="33" name="Rounded Rectangle 32"/>
          <p:cNvSpPr/>
          <p:nvPr/>
        </p:nvSpPr>
        <p:spPr>
          <a:xfrm>
            <a:off x="1975104" y="3950208"/>
            <a:ext cx="9189720" cy="768096"/>
          </a:xfrm>
          <a:prstGeom prst="roundRect">
            <a:avLst>
              <a:gd name="adj" fmla="val 14000"/>
            </a:avLst>
          </a:prstGeom>
          <a:solidFill>
            <a:srgbClr val="FBE8E6"/>
          </a:solidFill>
          <a:ln w="25400">
            <a:solidFill>
              <a:srgbClr val="B3332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139696" y="4005072"/>
            <a:ext cx="6446520" cy="658368"/>
          </a:xfrm>
          <a:prstGeom prst="rect">
            <a:avLst/>
          </a:prstGeom>
          <a:noFill/>
        </p:spPr>
        <p:txBody>
          <a:bodyPr wrap="square" anchor="ctr" lIns="0" rIns="0" tIns="18288" bIns="18288">
            <a:spAutoFit/>
          </a:bodyPr>
          <a:lstStyle/>
          <a:p>
            <a:pPr algn="l">
              <a:lnSpc>
                <a:spcPct val="95000"/>
              </a:lnSpc>
            </a:pPr>
            <a:r>
              <a:rPr sz="950" b="1" i="0">
                <a:solidFill>
                  <a:srgbClr val="B33328"/>
                </a:solidFill>
                <a:latin typeface="Segoe UI"/>
              </a:rPr>
              <a:t>DETERMINISTIC INPUT AND COMPATIBILITY VALIDATION</a:t>
            </a:r>
          </a:p>
          <a:p>
            <a:pPr algn="l">
              <a:lnSpc>
                <a:spcPct val="105000"/>
              </a:lnSpc>
              <a:spcBef>
                <a:spcPts val="300"/>
              </a:spcBef>
            </a:pPr>
            <a:r>
              <a:rPr sz="760" b="0" i="0">
                <a:solidFill>
                  <a:srgbClr val="151E2B"/>
                </a:solidFill>
                <a:latin typeface="Segoe UI"/>
              </a:rPr>
              <a:t>image count  ·  metadata present  ·  modality  ·  temporal information  ·  CRS  ·  required spectral bands (cross-vocabulary: B4 ≡ red)  ·  optical / SAR  ·  temporal-pair distinctness</a:t>
            </a:r>
          </a:p>
          <a:p>
            <a:pPr algn="l">
              <a:lnSpc>
                <a:spcPct val="95000"/>
              </a:lnSpc>
              <a:spcBef>
                <a:spcPts val="300"/>
              </a:spcBef>
            </a:pPr>
            <a:r>
              <a:rPr sz="780" b="1" i="0">
                <a:solidFill>
                  <a:srgbClr val="B33328"/>
                </a:solidFill>
                <a:latin typeface="Segoe UI"/>
              </a:rPr>
              <a:t>No LLM opinion can bypass this. Nothing executes until it passes.</a:t>
            </a:r>
          </a:p>
        </p:txBody>
      </p:sp>
      <p:sp>
        <p:nvSpPr>
          <p:cNvPr id="35" name="Rounded Rectangle 34"/>
          <p:cNvSpPr/>
          <p:nvPr/>
        </p:nvSpPr>
        <p:spPr>
          <a:xfrm>
            <a:off x="8741664" y="4032504"/>
            <a:ext cx="1097280" cy="603503"/>
          </a:xfrm>
          <a:prstGeom prst="roundRect">
            <a:avLst>
              <a:gd name="adj" fmla="val 14000"/>
            </a:avLst>
          </a:prstGeom>
          <a:solidFill>
            <a:srgbClr val="E3F3EA"/>
          </a:solidFill>
          <a:ln w="1270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i="0">
                <a:solidFill>
                  <a:srgbClr val="1B7A4B"/>
                </a:solidFill>
                <a:latin typeface="Segoe UI"/>
              </a:rPr>
              <a:t>✓  proceed</a:t>
            </a:r>
          </a:p>
        </p:txBody>
      </p:sp>
      <p:sp>
        <p:nvSpPr>
          <p:cNvPr id="36" name="Rounded Rectangle 35"/>
          <p:cNvSpPr/>
          <p:nvPr/>
        </p:nvSpPr>
        <p:spPr>
          <a:xfrm>
            <a:off x="9930384" y="4032504"/>
            <a:ext cx="1088136" cy="603503"/>
          </a:xfrm>
          <a:prstGeom prst="roundRect">
            <a:avLst>
              <a:gd name="adj" fmla="val 14000"/>
            </a:avLst>
          </a:prstGeom>
          <a:solidFill>
            <a:srgbClr val="FFFFFF"/>
          </a:solidFill>
          <a:ln w="12700">
            <a:solidFill>
              <a:srgbClr val="B3332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900" b="1" i="0">
                <a:solidFill>
                  <a:srgbClr val="B33328"/>
                </a:solidFill>
                <a:latin typeface="Segoe UI"/>
              </a:rPr>
              <a:t>✗  reject</a:t>
            </a:r>
          </a:p>
          <a:p>
            <a:pPr algn="ctr">
              <a:lnSpc>
                <a:spcPct val="90000"/>
              </a:lnSpc>
            </a:pPr>
            <a:r>
              <a:rPr sz="680" b="0" i="0">
                <a:solidFill>
                  <a:srgbClr val="B33328"/>
                </a:solidFill>
                <a:latin typeface="Segoe UI"/>
              </a:rPr>
              <a:t>with the exact reason</a:t>
            </a:r>
          </a:p>
        </p:txBody>
      </p:sp>
      <p:sp>
        <p:nvSpPr>
          <p:cNvPr id="37" name="TextBox 36"/>
          <p:cNvSpPr txBox="1"/>
          <p:nvPr/>
        </p:nvSpPr>
        <p:spPr>
          <a:xfrm>
            <a:off x="384048" y="4818888"/>
            <a:ext cx="1481328" cy="932688"/>
          </a:xfrm>
          <a:prstGeom prst="rect">
            <a:avLst/>
          </a:prstGeom>
          <a:noFill/>
        </p:spPr>
        <p:txBody>
          <a:bodyPr wrap="square" anchor="ctr" lIns="0" rIns="0" tIns="18288" bIns="18288">
            <a:spAutoFit/>
          </a:bodyPr>
          <a:lstStyle/>
          <a:p>
            <a:pPr algn="r">
              <a:lnSpc>
                <a:spcPct val="95000"/>
              </a:lnSpc>
            </a:pPr>
            <a:r>
              <a:rPr sz="919" b="1" i="0">
                <a:solidFill>
                  <a:srgbClr val="1B7A4B"/>
                </a:solidFill>
                <a:latin typeface="Segoe UI"/>
              </a:rPr>
              <a:t>REMOTE-SENSING EXECUTION</a:t>
            </a:r>
          </a:p>
          <a:p>
            <a:pPr algn="r">
              <a:lnSpc>
                <a:spcPct val="95000"/>
              </a:lnSpc>
              <a:spcBef>
                <a:spcPts val="200"/>
              </a:spcBef>
            </a:pPr>
            <a:r>
              <a:rPr sz="730" b="0" i="0">
                <a:solidFill>
                  <a:srgbClr val="6B7889"/>
                </a:solidFill>
                <a:latin typeface="Segoe UI"/>
              </a:rPr>
              <a:t>specialist compute</a:t>
            </a:r>
          </a:p>
        </p:txBody>
      </p:sp>
      <p:sp>
        <p:nvSpPr>
          <p:cNvPr id="38" name="Rounded Rectangle 37"/>
          <p:cNvSpPr/>
          <p:nvPr/>
        </p:nvSpPr>
        <p:spPr>
          <a:xfrm>
            <a:off x="1975104" y="4818888"/>
            <a:ext cx="9189720" cy="932688"/>
          </a:xfrm>
          <a:prstGeom prst="roundRect">
            <a:avLst>
              <a:gd name="adj" fmla="val 14000"/>
            </a:avLst>
          </a:prstGeom>
          <a:solidFill>
            <a:srgbClr val="FFFFFF"/>
          </a:solidFill>
          <a:ln w="1270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2112264" y="4901184"/>
            <a:ext cx="2146554" cy="347472"/>
          </a:xfrm>
          <a:prstGeom prst="roundRect">
            <a:avLst>
              <a:gd name="adj" fmla="val 14000"/>
            </a:avLst>
          </a:prstGeom>
          <a:solidFill>
            <a:srgbClr val="E3F3EA"/>
          </a:solidFill>
          <a:ln w="1143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1" i="0">
                <a:solidFill>
                  <a:srgbClr val="1B7A4B"/>
                </a:solidFill>
                <a:latin typeface="Segoe UI"/>
              </a:rPr>
              <a:t>NDVI</a:t>
            </a:r>
          </a:p>
        </p:txBody>
      </p:sp>
      <p:sp>
        <p:nvSpPr>
          <p:cNvPr id="40" name="Rounded Rectangle 39"/>
          <p:cNvSpPr/>
          <p:nvPr/>
        </p:nvSpPr>
        <p:spPr>
          <a:xfrm>
            <a:off x="4368546" y="4901184"/>
            <a:ext cx="2146554" cy="347472"/>
          </a:xfrm>
          <a:prstGeom prst="roundRect">
            <a:avLst>
              <a:gd name="adj" fmla="val 14000"/>
            </a:avLst>
          </a:prstGeom>
          <a:solidFill>
            <a:srgbClr val="E3F3EA"/>
          </a:solidFill>
          <a:ln w="1143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1" i="0">
                <a:solidFill>
                  <a:srgbClr val="1B7A4B"/>
                </a:solidFill>
                <a:latin typeface="Segoe UI"/>
              </a:rPr>
              <a:t>NDWI</a:t>
            </a:r>
          </a:p>
        </p:txBody>
      </p:sp>
      <p:sp>
        <p:nvSpPr>
          <p:cNvPr id="41" name="Rounded Rectangle 40"/>
          <p:cNvSpPr/>
          <p:nvPr/>
        </p:nvSpPr>
        <p:spPr>
          <a:xfrm>
            <a:off x="6624828" y="4901184"/>
            <a:ext cx="2146554" cy="347472"/>
          </a:xfrm>
          <a:prstGeom prst="roundRect">
            <a:avLst>
              <a:gd name="adj" fmla="val 14000"/>
            </a:avLst>
          </a:prstGeom>
          <a:solidFill>
            <a:srgbClr val="E3F3EA"/>
          </a:solidFill>
          <a:ln w="1143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1" i="0">
                <a:solidFill>
                  <a:srgbClr val="1B7A4B"/>
                </a:solidFill>
                <a:latin typeface="Segoe UI"/>
              </a:rPr>
              <a:t>NDBI</a:t>
            </a:r>
          </a:p>
        </p:txBody>
      </p:sp>
      <p:sp>
        <p:nvSpPr>
          <p:cNvPr id="42" name="Rounded Rectangle 41"/>
          <p:cNvSpPr/>
          <p:nvPr/>
        </p:nvSpPr>
        <p:spPr>
          <a:xfrm>
            <a:off x="8881110" y="4901184"/>
            <a:ext cx="2146554" cy="347472"/>
          </a:xfrm>
          <a:prstGeom prst="roundRect">
            <a:avLst>
              <a:gd name="adj" fmla="val 14000"/>
            </a:avLst>
          </a:prstGeom>
          <a:solidFill>
            <a:srgbClr val="E3F3EA"/>
          </a:solidFill>
          <a:ln w="1143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1" i="0">
                <a:solidFill>
                  <a:srgbClr val="1B7A4B"/>
                </a:solidFill>
                <a:latin typeface="Segoe UI"/>
              </a:rPr>
              <a:t>Bi-temporal change detection</a:t>
            </a:r>
          </a:p>
        </p:txBody>
      </p:sp>
      <p:sp>
        <p:nvSpPr>
          <p:cNvPr id="43" name="Rounded Rectangle 42"/>
          <p:cNvSpPr/>
          <p:nvPr/>
        </p:nvSpPr>
        <p:spPr>
          <a:xfrm>
            <a:off x="2112264" y="5321808"/>
            <a:ext cx="2146554" cy="347472"/>
          </a:xfrm>
          <a:prstGeom prst="roundRect">
            <a:avLst>
              <a:gd name="adj" fmla="val 14000"/>
            </a:avLst>
          </a:prstGeom>
          <a:solidFill>
            <a:srgbClr val="F1F4F8"/>
          </a:solidFill>
          <a:ln w="1143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i="0">
                <a:solidFill>
                  <a:srgbClr val="6B7889"/>
                </a:solidFill>
                <a:latin typeface="Segoe UI"/>
              </a:rPr>
              <a:t>Satellite VQA</a:t>
            </a:r>
          </a:p>
        </p:txBody>
      </p:sp>
      <p:sp>
        <p:nvSpPr>
          <p:cNvPr id="44" name="Rounded Rectangle 43"/>
          <p:cNvSpPr/>
          <p:nvPr/>
        </p:nvSpPr>
        <p:spPr>
          <a:xfrm>
            <a:off x="4368546" y="5321808"/>
            <a:ext cx="2146554" cy="347472"/>
          </a:xfrm>
          <a:prstGeom prst="roundRect">
            <a:avLst>
              <a:gd name="adj" fmla="val 14000"/>
            </a:avLst>
          </a:prstGeom>
          <a:solidFill>
            <a:srgbClr val="F1F4F8"/>
          </a:solidFill>
          <a:ln w="1143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i="0">
                <a:solidFill>
                  <a:srgbClr val="6B7889"/>
                </a:solidFill>
                <a:latin typeface="Segoe UI"/>
              </a:rPr>
              <a:t>Land-cover classification</a:t>
            </a:r>
          </a:p>
        </p:txBody>
      </p:sp>
      <p:sp>
        <p:nvSpPr>
          <p:cNvPr id="45" name="Rounded Rectangle 44"/>
          <p:cNvSpPr/>
          <p:nvPr/>
        </p:nvSpPr>
        <p:spPr>
          <a:xfrm>
            <a:off x="6624828" y="5321808"/>
            <a:ext cx="2146554" cy="347472"/>
          </a:xfrm>
          <a:prstGeom prst="roundRect">
            <a:avLst>
              <a:gd name="adj" fmla="val 14000"/>
            </a:avLst>
          </a:prstGeom>
          <a:solidFill>
            <a:srgbClr val="F1F4F8"/>
          </a:solidFill>
          <a:ln w="1143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i="0">
                <a:solidFill>
                  <a:srgbClr val="6B7889"/>
                </a:solidFill>
                <a:latin typeface="Segoe UI"/>
              </a:rPr>
              <a:t>Object detection</a:t>
            </a:r>
          </a:p>
        </p:txBody>
      </p:sp>
      <p:sp>
        <p:nvSpPr>
          <p:cNvPr id="46" name="Rounded Rectangle 45"/>
          <p:cNvSpPr/>
          <p:nvPr/>
        </p:nvSpPr>
        <p:spPr>
          <a:xfrm>
            <a:off x="8881110" y="5321808"/>
            <a:ext cx="2146554" cy="347472"/>
          </a:xfrm>
          <a:prstGeom prst="roundRect">
            <a:avLst>
              <a:gd name="adj" fmla="val 14000"/>
            </a:avLst>
          </a:prstGeom>
          <a:solidFill>
            <a:srgbClr val="F1F4F8"/>
          </a:solidFill>
          <a:ln w="1143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i="0">
                <a:solidFill>
                  <a:srgbClr val="6B7889"/>
                </a:solidFill>
                <a:latin typeface="Segoe UI"/>
              </a:rPr>
              <a:t>SAR analysis</a:t>
            </a:r>
          </a:p>
        </p:txBody>
      </p:sp>
      <p:sp>
        <p:nvSpPr>
          <p:cNvPr id="47" name="TextBox 46"/>
          <p:cNvSpPr txBox="1"/>
          <p:nvPr/>
        </p:nvSpPr>
        <p:spPr>
          <a:xfrm>
            <a:off x="384048" y="5852160"/>
            <a:ext cx="1481328" cy="658368"/>
          </a:xfrm>
          <a:prstGeom prst="rect">
            <a:avLst/>
          </a:prstGeom>
          <a:noFill/>
        </p:spPr>
        <p:txBody>
          <a:bodyPr wrap="square" anchor="ctr" lIns="0" rIns="0" tIns="18288" bIns="18288">
            <a:spAutoFit/>
          </a:bodyPr>
          <a:lstStyle/>
          <a:p>
            <a:pPr algn="r">
              <a:lnSpc>
                <a:spcPct val="95000"/>
              </a:lnSpc>
            </a:pPr>
            <a:r>
              <a:rPr sz="919" b="1" i="0">
                <a:solidFill>
                  <a:srgbClr val="0B2545"/>
                </a:solidFill>
                <a:latin typeface="Segoe UI"/>
              </a:rPr>
              <a:t>EVIDENCE &amp; RESULT</a:t>
            </a:r>
          </a:p>
          <a:p>
            <a:pPr algn="r">
              <a:lnSpc>
                <a:spcPct val="95000"/>
              </a:lnSpc>
              <a:spcBef>
                <a:spcPts val="200"/>
              </a:spcBef>
            </a:pPr>
            <a:r>
              <a:rPr sz="730" b="0" i="0">
                <a:solidFill>
                  <a:srgbClr val="6B7889"/>
                </a:solidFill>
                <a:latin typeface="Segoe UI"/>
              </a:rPr>
              <a:t>making it an answer</a:t>
            </a:r>
          </a:p>
        </p:txBody>
      </p:sp>
      <p:sp>
        <p:nvSpPr>
          <p:cNvPr id="48" name="Rounded Rectangle 47"/>
          <p:cNvSpPr/>
          <p:nvPr/>
        </p:nvSpPr>
        <p:spPr>
          <a:xfrm>
            <a:off x="1975104" y="5852160"/>
            <a:ext cx="9189720" cy="658368"/>
          </a:xfrm>
          <a:prstGeom prst="roundRect">
            <a:avLst>
              <a:gd name="adj" fmla="val 1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139696" y="5852160"/>
            <a:ext cx="5029200" cy="658368"/>
          </a:xfrm>
          <a:prstGeom prst="rect">
            <a:avLst/>
          </a:prstGeom>
          <a:noFill/>
        </p:spPr>
        <p:txBody>
          <a:bodyPr wrap="square" anchor="ctr" lIns="0" rIns="0" tIns="18288" bIns="18288">
            <a:spAutoFit/>
          </a:bodyPr>
          <a:lstStyle/>
          <a:p>
            <a:pPr algn="l">
              <a:lnSpc>
                <a:spcPct val="95000"/>
              </a:lnSpc>
            </a:pPr>
            <a:r>
              <a:rPr sz="860" b="1" i="0">
                <a:solidFill>
                  <a:srgbClr val="F58220"/>
                </a:solidFill>
                <a:latin typeface="Segoe UI"/>
              </a:rPr>
              <a:t>Heterogeneous outputs</a:t>
            </a:r>
          </a:p>
          <a:p>
            <a:pPr algn="l">
              <a:lnSpc>
                <a:spcPct val="100000"/>
              </a:lnSpc>
            </a:pPr>
            <a:r>
              <a:rPr sz="760" b="0" i="0">
                <a:solidFill>
                  <a:srgbClr val="B9C7DB"/>
                </a:solidFill>
                <a:latin typeface="Segoe UI"/>
              </a:rPr>
              <a:t>raster · mask · bounding boxes · classes · statistics · temporal delta · confidence</a:t>
            </a:r>
          </a:p>
        </p:txBody>
      </p:sp>
      <p:sp>
        <p:nvSpPr>
          <p:cNvPr id="50" name="Right Arrow 49"/>
          <p:cNvSpPr/>
          <p:nvPr/>
        </p:nvSpPr>
        <p:spPr>
          <a:xfrm>
            <a:off x="7205472" y="6112764"/>
            <a:ext cx="201168" cy="137160"/>
          </a:xfrm>
          <a:prstGeom prst="right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552944" y="5943600"/>
            <a:ext cx="3465576" cy="47548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840" b="1" i="0">
                <a:solidFill>
                  <a:srgbClr val="0B2545"/>
                </a:solidFill>
                <a:latin typeface="Segoe UI"/>
              </a:rPr>
              <a:t>Aggregated → spatially and temporally interpreted → human-readable answer + map + statistics + provenance</a:t>
            </a:r>
          </a:p>
        </p:txBody>
      </p:sp>
      <p:sp>
        <p:nvSpPr>
          <p:cNvPr id="52" name="Up Arrow 51"/>
          <p:cNvSpPr/>
          <p:nvPr/>
        </p:nvSpPr>
        <p:spPr>
          <a:xfrm>
            <a:off x="11247120" y="1673352"/>
            <a:ext cx="557784" cy="4837176"/>
          </a:xfrm>
          <a:prstGeom prst="upArrow">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1228832" y="2176272"/>
            <a:ext cx="594360" cy="3922776"/>
          </a:xfrm>
          <a:prstGeom prst="roundRect">
            <a:avLst>
              <a:gd name="adj" fmla="val 14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vert="vert270"/>
          <a:lstStyle/>
          <a:p>
            <a:pPr algn="ctr"/>
            <a:r>
              <a:rPr sz="800" b="1" i="0">
                <a:solidFill>
                  <a:srgbClr val="FFFFFF"/>
                </a:solidFill>
                <a:latin typeface="Segoe UI"/>
              </a:rPr>
              <a:t>RE-PLAN  on failure, rejection or low confidence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Feasibility and Viability</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4</a:t>
            </a:r>
          </a:p>
        </p:txBody>
      </p:sp>
      <p:sp>
        <p:nvSpPr>
          <p:cNvPr id="7" name="Rectangle 6"/>
          <p:cNvSpPr/>
          <p:nvPr/>
        </p:nvSpPr>
        <p:spPr>
          <a:xfrm>
            <a:off x="384048"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 y="768096"/>
            <a:ext cx="4572000" cy="237744"/>
          </a:xfrm>
          <a:prstGeom prst="rect">
            <a:avLst/>
          </a:prstGeom>
          <a:noFill/>
        </p:spPr>
        <p:txBody>
          <a:bodyPr wrap="square" anchor="ctr" lIns="0" rIns="0" tIns="18288" bIns="18288">
            <a:spAutoFit/>
          </a:bodyPr>
          <a:lstStyle/>
          <a:p>
            <a:pPr algn="l"/>
            <a:r>
              <a:rPr sz="1250" b="1" i="0">
                <a:solidFill>
                  <a:srgbClr val="0B2545"/>
                </a:solidFill>
                <a:latin typeface="Segoe UI"/>
              </a:rPr>
              <a:t>ALREADY BUILT AND PROVEN</a:t>
            </a:r>
          </a:p>
        </p:txBody>
      </p:sp>
      <p:sp>
        <p:nvSpPr>
          <p:cNvPr id="9" name="Rounded Rectangle 8"/>
          <p:cNvSpPr/>
          <p:nvPr/>
        </p:nvSpPr>
        <p:spPr>
          <a:xfrm>
            <a:off x="384048" y="1060704"/>
            <a:ext cx="1572768" cy="932688"/>
          </a:xfrm>
          <a:prstGeom prst="roundRect">
            <a:avLst>
              <a:gd name="adj" fmla="val 1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2700" b="1" i="0">
                <a:solidFill>
                  <a:srgbClr val="1B59A6"/>
                </a:solidFill>
                <a:latin typeface="Segoe UI"/>
              </a:rPr>
              <a:t>326</a:t>
            </a:r>
          </a:p>
          <a:p>
            <a:pPr algn="ctr">
              <a:lnSpc>
                <a:spcPct val="95000"/>
              </a:lnSpc>
              <a:spcBef>
                <a:spcPts val="200"/>
              </a:spcBef>
            </a:pPr>
            <a:r>
              <a:rPr sz="850" b="0" i="0">
                <a:solidFill>
                  <a:srgbClr val="151E2B"/>
                </a:solidFill>
                <a:latin typeface="Segoe UI"/>
              </a:rPr>
              <a:t>automated tests
passing</a:t>
            </a:r>
          </a:p>
        </p:txBody>
      </p:sp>
      <p:sp>
        <p:nvSpPr>
          <p:cNvPr id="10" name="Rounded Rectangle 9"/>
          <p:cNvSpPr/>
          <p:nvPr/>
        </p:nvSpPr>
        <p:spPr>
          <a:xfrm>
            <a:off x="2084831" y="1060704"/>
            <a:ext cx="1572768" cy="932688"/>
          </a:xfrm>
          <a:prstGeom prst="roundRect">
            <a:avLst>
              <a:gd name="adj" fmla="val 14000"/>
            </a:avLst>
          </a:prstGeom>
          <a:solidFill>
            <a:srgbClr val="E7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2700" b="1" i="0">
                <a:solidFill>
                  <a:srgbClr val="1B59A6"/>
                </a:solidFill>
                <a:latin typeface="Segoe UI"/>
              </a:rPr>
              <a:t>8</a:t>
            </a:r>
          </a:p>
          <a:p>
            <a:pPr algn="ctr">
              <a:lnSpc>
                <a:spcPct val="95000"/>
              </a:lnSpc>
              <a:spcBef>
                <a:spcPts val="200"/>
              </a:spcBef>
            </a:pPr>
            <a:r>
              <a:rPr sz="850" b="0" i="0">
                <a:solidFill>
                  <a:srgbClr val="151E2B"/>
                </a:solidFill>
                <a:latin typeface="Segoe UI"/>
              </a:rPr>
              <a:t>capabilities in the
registry</a:t>
            </a:r>
          </a:p>
        </p:txBody>
      </p:sp>
      <p:sp>
        <p:nvSpPr>
          <p:cNvPr id="11" name="Rounded Rectangle 10"/>
          <p:cNvSpPr/>
          <p:nvPr/>
        </p:nvSpPr>
        <p:spPr>
          <a:xfrm>
            <a:off x="3785615" y="1060704"/>
            <a:ext cx="1572768" cy="932688"/>
          </a:xfrm>
          <a:prstGeom prst="roundRect">
            <a:avLst>
              <a:gd name="adj" fmla="val 14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2700" b="1" i="0">
                <a:solidFill>
                  <a:srgbClr val="1B7A4B"/>
                </a:solidFill>
                <a:latin typeface="Segoe UI"/>
              </a:rPr>
              <a:t>4</a:t>
            </a:r>
          </a:p>
          <a:p>
            <a:pPr algn="ctr">
              <a:lnSpc>
                <a:spcPct val="95000"/>
              </a:lnSpc>
              <a:spcBef>
                <a:spcPts val="200"/>
              </a:spcBef>
            </a:pPr>
            <a:r>
              <a:rPr sz="850" b="0" i="0">
                <a:solidFill>
                  <a:srgbClr val="151E2B"/>
                </a:solidFill>
                <a:latin typeface="Segoe UI"/>
              </a:rPr>
              <a:t>specialist tools
executing today</a:t>
            </a:r>
          </a:p>
        </p:txBody>
      </p:sp>
      <p:sp>
        <p:nvSpPr>
          <p:cNvPr id="12" name="Rounded Rectangle 11"/>
          <p:cNvSpPr/>
          <p:nvPr/>
        </p:nvSpPr>
        <p:spPr>
          <a:xfrm>
            <a:off x="5486400" y="1060704"/>
            <a:ext cx="1572768" cy="932688"/>
          </a:xfrm>
          <a:prstGeom prst="roundRect">
            <a:avLst>
              <a:gd name="adj" fmla="val 14000"/>
            </a:avLst>
          </a:prstGeom>
          <a:solidFill>
            <a:srgbClr val="FDEF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95000"/>
              </a:lnSpc>
            </a:pPr>
            <a:r>
              <a:rPr sz="2700" b="1" i="0">
                <a:solidFill>
                  <a:srgbClr val="C45F0A"/>
                </a:solidFill>
                <a:latin typeface="Segoe UI"/>
              </a:rPr>
              <a:t>2</a:t>
            </a:r>
          </a:p>
          <a:p>
            <a:pPr algn="ctr">
              <a:lnSpc>
                <a:spcPct val="95000"/>
              </a:lnSpc>
              <a:spcBef>
                <a:spcPts val="200"/>
              </a:spcBef>
            </a:pPr>
            <a:r>
              <a:rPr sz="850" b="0" i="0">
                <a:solidFill>
                  <a:srgbClr val="151E2B"/>
                </a:solidFill>
                <a:latin typeface="Segoe UI"/>
              </a:rPr>
              <a:t>interchangeable
raster backends</a:t>
            </a:r>
          </a:p>
        </p:txBody>
      </p:sp>
      <p:sp>
        <p:nvSpPr>
          <p:cNvPr id="13" name="Rounded Rectangle 12"/>
          <p:cNvSpPr/>
          <p:nvPr/>
        </p:nvSpPr>
        <p:spPr>
          <a:xfrm>
            <a:off x="384048" y="2157984"/>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438912" y="2212848"/>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15" name="TextBox 14"/>
          <p:cNvSpPr txBox="1"/>
          <p:nvPr/>
        </p:nvSpPr>
        <p:spPr>
          <a:xfrm>
            <a:off x="1865376" y="2157984"/>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Ten-stage controller pipeline</a:t>
            </a:r>
          </a:p>
          <a:p>
            <a:pPr algn="l">
              <a:lnSpc>
                <a:spcPct val="95000"/>
              </a:lnSpc>
            </a:pPr>
            <a:r>
              <a:rPr sz="800" b="0" i="0">
                <a:solidFill>
                  <a:srgbClr val="6B7889"/>
                </a:solidFill>
                <a:latin typeface="Segoe UI"/>
              </a:rPr>
              <a:t>understanding → classification → planning → requirements → selection → validation → configuration → execution → integration</a:t>
            </a:r>
          </a:p>
        </p:txBody>
      </p:sp>
      <p:sp>
        <p:nvSpPr>
          <p:cNvPr id="16" name="Rounded Rectangle 15"/>
          <p:cNvSpPr/>
          <p:nvPr/>
        </p:nvSpPr>
        <p:spPr>
          <a:xfrm>
            <a:off x="384048" y="2628900"/>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38912" y="2683764"/>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18" name="TextBox 17"/>
          <p:cNvSpPr txBox="1"/>
          <p:nvPr/>
        </p:nvSpPr>
        <p:spPr>
          <a:xfrm>
            <a:off x="1865376" y="2628900"/>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Deterministic validator — 8 check families</a:t>
            </a:r>
          </a:p>
          <a:p>
            <a:pPr algn="l">
              <a:lnSpc>
                <a:spcPct val="95000"/>
              </a:lnSpc>
            </a:pPr>
            <a:r>
              <a:rPr sz="800" b="0" i="0">
                <a:solidFill>
                  <a:srgbClr val="6B7889"/>
                </a:solidFill>
                <a:latin typeface="Segoe UI"/>
              </a:rPr>
              <a:t>count, metadata, modality, temporal, CRS, bands, optical/SAR, pair distinctness</a:t>
            </a:r>
          </a:p>
        </p:txBody>
      </p:sp>
      <p:sp>
        <p:nvSpPr>
          <p:cNvPr id="19" name="Rounded Rectangle 18"/>
          <p:cNvSpPr/>
          <p:nvPr/>
        </p:nvSpPr>
        <p:spPr>
          <a:xfrm>
            <a:off x="384048" y="3099815"/>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38912" y="3154679"/>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21" name="TextBox 20"/>
          <p:cNvSpPr txBox="1"/>
          <p:nvPr/>
        </p:nvSpPr>
        <p:spPr>
          <a:xfrm>
            <a:off x="1865376" y="3099815"/>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Capability registry + implementation binding</a:t>
            </a:r>
          </a:p>
          <a:p>
            <a:pPr algn="l">
              <a:lnSpc>
                <a:spcPct val="95000"/>
              </a:lnSpc>
            </a:pPr>
            <a:r>
              <a:rPr sz="800" b="0" i="0">
                <a:solidFill>
                  <a:srgbClr val="6B7889"/>
                </a:solidFill>
                <a:latin typeface="Segoe UI"/>
              </a:rPr>
              <a:t>an implementation can never expose a capability the registry has not sanctioned</a:t>
            </a:r>
          </a:p>
        </p:txBody>
      </p:sp>
      <p:sp>
        <p:nvSpPr>
          <p:cNvPr id="22" name="Rounded Rectangle 21"/>
          <p:cNvSpPr/>
          <p:nvPr/>
        </p:nvSpPr>
        <p:spPr>
          <a:xfrm>
            <a:off x="384048" y="3570732"/>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438912" y="3625596"/>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24" name="TextBox 23"/>
          <p:cNvSpPr txBox="1"/>
          <p:nvPr/>
        </p:nvSpPr>
        <p:spPr>
          <a:xfrm>
            <a:off x="1865376" y="3570732"/>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NDVI, NDWI, NDBI on real rasters</a:t>
            </a:r>
          </a:p>
          <a:p>
            <a:pPr algn="l">
              <a:lnSpc>
                <a:spcPct val="95000"/>
              </a:lnSpc>
            </a:pPr>
            <a:r>
              <a:rPr sz="800" b="0" i="0">
                <a:solidFill>
                  <a:srgbClr val="6B7889"/>
                </a:solidFill>
                <a:latin typeface="Segoe UI"/>
              </a:rPr>
              <a:t>sensor scale/offset handling, SCL / QA_PIXEL cloud and shadow masking</a:t>
            </a:r>
          </a:p>
        </p:txBody>
      </p:sp>
      <p:sp>
        <p:nvSpPr>
          <p:cNvPr id="25" name="Rounded Rectangle 24"/>
          <p:cNvSpPr/>
          <p:nvPr/>
        </p:nvSpPr>
        <p:spPr>
          <a:xfrm>
            <a:off x="384048" y="4041648"/>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38912" y="4096511"/>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27" name="TextBox 26"/>
          <p:cNvSpPr txBox="1"/>
          <p:nvPr/>
        </p:nvSpPr>
        <p:spPr>
          <a:xfrm>
            <a:off x="1865376" y="4041648"/>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Bi-temporal change detection</a:t>
            </a:r>
          </a:p>
          <a:p>
            <a:pPr algn="l">
              <a:lnSpc>
                <a:spcPct val="95000"/>
              </a:lnSpc>
            </a:pPr>
            <a:r>
              <a:rPr sz="800" b="0" i="0">
                <a:solidFill>
                  <a:srgbClr val="6B7889"/>
                </a:solidFill>
                <a:latin typeface="Segoe UI"/>
              </a:rPr>
              <a:t>co-registration guard, Δ-index arithmetic, σ-based significance thresholding</a:t>
            </a:r>
          </a:p>
        </p:txBody>
      </p:sp>
      <p:sp>
        <p:nvSpPr>
          <p:cNvPr id="28" name="Rounded Rectangle 27"/>
          <p:cNvSpPr/>
          <p:nvPr/>
        </p:nvSpPr>
        <p:spPr>
          <a:xfrm>
            <a:off x="384048" y="4512564"/>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38912" y="4567428"/>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30" name="TextBox 29"/>
          <p:cNvSpPr txBox="1"/>
          <p:nvPr/>
        </p:nvSpPr>
        <p:spPr>
          <a:xfrm>
            <a:off x="1865376" y="4512564"/>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Dual raster backend</a:t>
            </a:r>
          </a:p>
          <a:p>
            <a:pPr algn="l">
              <a:lnSpc>
                <a:spcPct val="95000"/>
              </a:lnSpc>
            </a:pPr>
            <a:r>
              <a:rPr sz="800" b="0" i="0">
                <a:solidFill>
                  <a:srgbClr val="6B7889"/>
                </a:solidFill>
                <a:latin typeface="Segoe UI"/>
              </a:rPr>
              <a:t>rasterio/GDAL, plus a dependency-free GeoTIFF codec; tests prove both agree</a:t>
            </a:r>
          </a:p>
        </p:txBody>
      </p:sp>
      <p:sp>
        <p:nvSpPr>
          <p:cNvPr id="31" name="Rounded Rectangle 30"/>
          <p:cNvSpPr/>
          <p:nvPr/>
        </p:nvSpPr>
        <p:spPr>
          <a:xfrm>
            <a:off x="384048" y="4983479"/>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438912" y="5038343"/>
            <a:ext cx="1335024" cy="310896"/>
          </a:xfrm>
          <a:prstGeom prst="roundRect">
            <a:avLst>
              <a:gd name="adj" fmla="val 30000"/>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1B7A4B"/>
                </a:solidFill>
                <a:latin typeface="Segoe UI"/>
              </a:rPr>
              <a:t>VALIDATED</a:t>
            </a:r>
          </a:p>
        </p:txBody>
      </p:sp>
      <p:sp>
        <p:nvSpPr>
          <p:cNvPr id="33" name="TextBox 32"/>
          <p:cNvSpPr txBox="1"/>
          <p:nvPr/>
        </p:nvSpPr>
        <p:spPr>
          <a:xfrm>
            <a:off x="1865376" y="4983479"/>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HTTP service — 8 endpoints</a:t>
            </a:r>
          </a:p>
          <a:p>
            <a:pPr algn="l">
              <a:lnSpc>
                <a:spcPct val="95000"/>
              </a:lnSpc>
            </a:pPr>
            <a:r>
              <a:rPr sz="800" b="0" i="0">
                <a:solidFill>
                  <a:srgbClr val="6B7889"/>
                </a:solidFill>
                <a:latin typeface="Segoe UI"/>
              </a:rPr>
              <a:t>submit, validate-only, list, fetch, artefact download, registry, health</a:t>
            </a:r>
          </a:p>
        </p:txBody>
      </p:sp>
      <p:sp>
        <p:nvSpPr>
          <p:cNvPr id="34" name="Rounded Rectangle 33"/>
          <p:cNvSpPr/>
          <p:nvPr/>
        </p:nvSpPr>
        <p:spPr>
          <a:xfrm>
            <a:off x="384048" y="5454396"/>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438912" y="5509259"/>
            <a:ext cx="1335024" cy="310896"/>
          </a:xfrm>
          <a:prstGeom prst="roundRect">
            <a:avLst>
              <a:gd name="adj" fmla="val 30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A97300"/>
                </a:solidFill>
                <a:latin typeface="Segoe UI"/>
              </a:rPr>
              <a:t>INTEGRATING</a:t>
            </a:r>
          </a:p>
        </p:txBody>
      </p:sp>
      <p:sp>
        <p:nvSpPr>
          <p:cNvPr id="36" name="TextBox 35"/>
          <p:cNvSpPr txBox="1"/>
          <p:nvPr/>
        </p:nvSpPr>
        <p:spPr>
          <a:xfrm>
            <a:off x="1865376" y="5454396"/>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LLM reasoning and decomposition layer</a:t>
            </a:r>
          </a:p>
          <a:p>
            <a:pPr algn="l">
              <a:lnSpc>
                <a:spcPct val="95000"/>
              </a:lnSpc>
            </a:pPr>
            <a:r>
              <a:rPr sz="800" b="0" i="0">
                <a:solidFill>
                  <a:srgbClr val="6B7889"/>
                </a:solidFill>
                <a:latin typeface="Segoe UI"/>
              </a:rPr>
              <a:t>the pipeline is already shaped to receive it; registry + validator keep the veto</a:t>
            </a:r>
          </a:p>
        </p:txBody>
      </p:sp>
      <p:sp>
        <p:nvSpPr>
          <p:cNvPr id="37" name="Rounded Rectangle 36"/>
          <p:cNvSpPr/>
          <p:nvPr/>
        </p:nvSpPr>
        <p:spPr>
          <a:xfrm>
            <a:off x="384048" y="5925312"/>
            <a:ext cx="6675120" cy="42062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438912" y="5980176"/>
            <a:ext cx="1335024" cy="310896"/>
          </a:xfrm>
          <a:prstGeom prst="roundRect">
            <a:avLst>
              <a:gd name="adj" fmla="val 30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80" b="1" i="0">
                <a:solidFill>
                  <a:srgbClr val="5C697A"/>
                </a:solidFill>
                <a:latin typeface="Segoe UI"/>
              </a:rPr>
              <a:t>NEXT STAGE</a:t>
            </a:r>
          </a:p>
        </p:txBody>
      </p:sp>
      <p:sp>
        <p:nvSpPr>
          <p:cNvPr id="39" name="TextBox 38"/>
          <p:cNvSpPr txBox="1"/>
          <p:nvPr/>
        </p:nvSpPr>
        <p:spPr>
          <a:xfrm>
            <a:off x="1865376" y="5925312"/>
            <a:ext cx="5102352" cy="420624"/>
          </a:xfrm>
          <a:prstGeom prst="rect">
            <a:avLst/>
          </a:prstGeom>
          <a:noFill/>
        </p:spPr>
        <p:txBody>
          <a:bodyPr wrap="square" anchor="ctr" lIns="0" rIns="0" tIns="18288" bIns="18288">
            <a:spAutoFit/>
          </a:bodyPr>
          <a:lstStyle/>
          <a:p>
            <a:pPr algn="l">
              <a:lnSpc>
                <a:spcPct val="95000"/>
              </a:lnSpc>
            </a:pPr>
            <a:r>
              <a:rPr sz="950" b="1" i="0">
                <a:solidFill>
                  <a:srgbClr val="151E2B"/>
                </a:solidFill>
                <a:latin typeface="Segoe UI"/>
              </a:rPr>
              <a:t>VQA, land-cover, detection, SAR specialists</a:t>
            </a:r>
          </a:p>
          <a:p>
            <a:pPr algn="l">
              <a:lnSpc>
                <a:spcPct val="95000"/>
              </a:lnSpc>
            </a:pPr>
            <a:r>
              <a:rPr sz="800" b="0" i="0">
                <a:solidFill>
                  <a:srgbClr val="6B7889"/>
                </a:solidFill>
                <a:latin typeface="Segoe UI"/>
              </a:rPr>
              <a:t>declared in the registry today; the executor reports them honestly as unbound</a:t>
            </a:r>
          </a:p>
        </p:txBody>
      </p:sp>
      <p:sp>
        <p:nvSpPr>
          <p:cNvPr id="40" name="Rectangle 39"/>
          <p:cNvSpPr/>
          <p:nvPr/>
        </p:nvSpPr>
        <p:spPr>
          <a:xfrm>
            <a:off x="7269480"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397496" y="768096"/>
            <a:ext cx="3657600" cy="237744"/>
          </a:xfrm>
          <a:prstGeom prst="rect">
            <a:avLst/>
          </a:prstGeom>
          <a:noFill/>
        </p:spPr>
        <p:txBody>
          <a:bodyPr wrap="square" anchor="ctr" lIns="0" rIns="0" tIns="18288" bIns="18288">
            <a:spAutoFit/>
          </a:bodyPr>
          <a:lstStyle/>
          <a:p>
            <a:pPr algn="l"/>
            <a:r>
              <a:rPr sz="1250" b="1" i="0">
                <a:solidFill>
                  <a:srgbClr val="0B2545"/>
                </a:solidFill>
                <a:latin typeface="Segoe UI"/>
              </a:rPr>
              <a:t>RISKS AND HOW WE CONTAIN THEM</a:t>
            </a:r>
          </a:p>
        </p:txBody>
      </p:sp>
      <p:sp>
        <p:nvSpPr>
          <p:cNvPr id="42" name="Rounded Rectangle 41"/>
          <p:cNvSpPr/>
          <p:nvPr/>
        </p:nvSpPr>
        <p:spPr>
          <a:xfrm>
            <a:off x="7269480" y="1060704"/>
            <a:ext cx="4535424" cy="98755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950" b="1" i="0">
                <a:solidFill>
                  <a:srgbClr val="B33328"/>
                </a:solidFill>
                <a:latin typeface="Segoe UI"/>
              </a:rPr>
              <a:t>Reasoning proposes an invalid workflow</a:t>
            </a:r>
          </a:p>
          <a:p>
            <a:pPr algn="l">
              <a:lnSpc>
                <a:spcPct val="100000"/>
              </a:lnSpc>
              <a:spcBef>
                <a:spcPts val="400"/>
              </a:spcBef>
            </a:pPr>
            <a:r>
              <a:rPr sz="800" b="0" i="0">
                <a:solidFill>
                  <a:srgbClr val="151E2B"/>
                </a:solidFill>
                <a:latin typeface="Segoe UI"/>
              </a:rPr>
              <a:t>The registry bounds what can be called and the validator bounds what can run. A bad plan is refused with a reason, not executed.</a:t>
            </a:r>
          </a:p>
        </p:txBody>
      </p:sp>
      <p:sp>
        <p:nvSpPr>
          <p:cNvPr id="43" name="Rectangle 42"/>
          <p:cNvSpPr/>
          <p:nvPr/>
        </p:nvSpPr>
        <p:spPr>
          <a:xfrm>
            <a:off x="7269480" y="1060704"/>
            <a:ext cx="54864" cy="987552"/>
          </a:xfrm>
          <a:prstGeom prst="rect">
            <a:avLst/>
          </a:prstGeom>
          <a:solidFill>
            <a:srgbClr val="B3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7269480" y="2116836"/>
            <a:ext cx="4535424" cy="98755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950" b="1" i="0">
                <a:solidFill>
                  <a:srgbClr val="C45F0A"/>
                </a:solidFill>
                <a:latin typeface="Segoe UI"/>
              </a:rPr>
              <a:t>Heavy GDAL dependency blocks deployment</a:t>
            </a:r>
          </a:p>
          <a:p>
            <a:pPr algn="l">
              <a:lnSpc>
                <a:spcPct val="100000"/>
              </a:lnSpc>
              <a:spcBef>
                <a:spcPts val="400"/>
              </a:spcBef>
            </a:pPr>
            <a:r>
              <a:rPr sz="800" b="0" i="0">
                <a:solidFill>
                  <a:srgbClr val="151E2B"/>
                </a:solidFill>
                <a:latin typeface="Segoe UI"/>
              </a:rPr>
              <a:t>A dependency-free GeoTIFF path ships alongside rasterio, and the test suite proves the two backends produce identical results.</a:t>
            </a:r>
          </a:p>
        </p:txBody>
      </p:sp>
      <p:sp>
        <p:nvSpPr>
          <p:cNvPr id="45" name="Rectangle 44"/>
          <p:cNvSpPr/>
          <p:nvPr/>
        </p:nvSpPr>
        <p:spPr>
          <a:xfrm>
            <a:off x="7269480" y="2116836"/>
            <a:ext cx="54864" cy="987552"/>
          </a:xfrm>
          <a:prstGeom prst="rect">
            <a:avLst/>
          </a:prstGeom>
          <a:solidFill>
            <a:srgbClr val="C45F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7269480" y="3172968"/>
            <a:ext cx="4535424" cy="98755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950" b="1" i="0">
                <a:solidFill>
                  <a:srgbClr val="B33328"/>
                </a:solidFill>
                <a:latin typeface="Segoe UI"/>
              </a:rPr>
              <a:t>A misaligned image pair yields a confident, wrong change map</a:t>
            </a:r>
          </a:p>
          <a:p>
            <a:pPr algn="l">
              <a:lnSpc>
                <a:spcPct val="100000"/>
              </a:lnSpc>
              <a:spcBef>
                <a:spcPts val="400"/>
              </a:spcBef>
            </a:pPr>
            <a:r>
              <a:rPr sz="800" b="0" i="0">
                <a:solidFill>
                  <a:srgbClr val="151E2B"/>
                </a:solidFill>
                <a:latin typeface="Segoe UI"/>
              </a:rPr>
              <a:t>Alignment is checked on grid, CRS, pixel size and origin before any arithmetic — and refuses rather than silently resampling.</a:t>
            </a:r>
          </a:p>
        </p:txBody>
      </p:sp>
      <p:sp>
        <p:nvSpPr>
          <p:cNvPr id="47" name="Rectangle 46"/>
          <p:cNvSpPr/>
          <p:nvPr/>
        </p:nvSpPr>
        <p:spPr>
          <a:xfrm>
            <a:off x="7269480" y="3172968"/>
            <a:ext cx="54864" cy="987552"/>
          </a:xfrm>
          <a:prstGeom prst="rect">
            <a:avLst/>
          </a:prstGeom>
          <a:solidFill>
            <a:srgbClr val="B3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7269480" y="4229100"/>
            <a:ext cx="4535424" cy="98755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950" b="1" i="0">
                <a:solidFill>
                  <a:srgbClr val="C45F0A"/>
                </a:solidFill>
                <a:latin typeface="Segoe UI"/>
              </a:rPr>
              <a:t>Cloud contamination distorts index statistics</a:t>
            </a:r>
          </a:p>
          <a:p>
            <a:pPr algn="l">
              <a:lnSpc>
                <a:spcPct val="100000"/>
              </a:lnSpc>
              <a:spcBef>
                <a:spcPts val="400"/>
              </a:spcBef>
            </a:pPr>
            <a:r>
              <a:rPr sz="800" b="0" i="0">
                <a:solidFill>
                  <a:srgbClr val="151E2B"/>
                </a:solidFill>
                <a:latin typeface="Segoe UI"/>
              </a:rPr>
              <a:t>Sentinel-2 SCL and Landsat QA_PIXEL masking, plus baseline 04.00 scale/offset correction, are applied before aggregation.</a:t>
            </a:r>
          </a:p>
        </p:txBody>
      </p:sp>
      <p:sp>
        <p:nvSpPr>
          <p:cNvPr id="49" name="Rectangle 48"/>
          <p:cNvSpPr/>
          <p:nvPr/>
        </p:nvSpPr>
        <p:spPr>
          <a:xfrm>
            <a:off x="7269480" y="4229100"/>
            <a:ext cx="54864" cy="987552"/>
          </a:xfrm>
          <a:prstGeom prst="rect">
            <a:avLst/>
          </a:prstGeom>
          <a:solidFill>
            <a:srgbClr val="C45F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7269480" y="5285232"/>
            <a:ext cx="4535424" cy="98755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950" b="1" i="0">
                <a:solidFill>
                  <a:srgbClr val="1B59A6"/>
                </a:solidFill>
                <a:latin typeface="Segoe UI"/>
              </a:rPr>
              <a:t>New models force a core rewrite</a:t>
            </a:r>
          </a:p>
          <a:p>
            <a:pPr algn="l">
              <a:lnSpc>
                <a:spcPct val="100000"/>
              </a:lnSpc>
              <a:spcBef>
                <a:spcPts val="400"/>
              </a:spcBef>
            </a:pPr>
            <a:r>
              <a:rPr sz="800" b="0" i="0">
                <a:solidFill>
                  <a:srgbClr val="151E2B"/>
                </a:solidFill>
                <a:latin typeface="Segoe UI"/>
              </a:rPr>
              <a:t>Adding a capability is a registry entry plus a binding. The controller, validator and API are untouched.</a:t>
            </a:r>
          </a:p>
        </p:txBody>
      </p:sp>
      <p:sp>
        <p:nvSpPr>
          <p:cNvPr id="51" name="Rectangle 50"/>
          <p:cNvSpPr/>
          <p:nvPr/>
        </p:nvSpPr>
        <p:spPr>
          <a:xfrm>
            <a:off x="7269480" y="5285232"/>
            <a:ext cx="54864" cy="987552"/>
          </a:xfrm>
          <a:prstGeom prst="rect">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Impact and Benefits</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5</a:t>
            </a:r>
          </a:p>
        </p:txBody>
      </p:sp>
      <p:sp>
        <p:nvSpPr>
          <p:cNvPr id="7" name="Rectangle 6"/>
          <p:cNvSpPr/>
          <p:nvPr/>
        </p:nvSpPr>
        <p:spPr>
          <a:xfrm>
            <a:off x="384048"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 y="768096"/>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THE CHANGE SATQUERY MAKES</a:t>
            </a:r>
          </a:p>
        </p:txBody>
      </p:sp>
      <p:sp>
        <p:nvSpPr>
          <p:cNvPr id="9" name="Rounded Rectangle 8"/>
          <p:cNvSpPr/>
          <p:nvPr/>
        </p:nvSpPr>
        <p:spPr>
          <a:xfrm>
            <a:off x="384048" y="1060704"/>
            <a:ext cx="1298448" cy="512064"/>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1" i="0">
                <a:solidFill>
                  <a:srgbClr val="5C697A"/>
                </a:solidFill>
                <a:latin typeface="Segoe UI"/>
              </a:rPr>
              <a:t>TODAY</a:t>
            </a:r>
          </a:p>
        </p:txBody>
      </p:sp>
      <p:sp>
        <p:nvSpPr>
          <p:cNvPr id="10" name="Rounded Rectangle 9"/>
          <p:cNvSpPr/>
          <p:nvPr/>
        </p:nvSpPr>
        <p:spPr>
          <a:xfrm>
            <a:off x="1792224" y="1060704"/>
            <a:ext cx="1600657" cy="512064"/>
          </a:xfrm>
          <a:prstGeom prst="roundRect">
            <a:avLst>
              <a:gd name="adj" fmla="val 14000"/>
            </a:avLst>
          </a:prstGeom>
          <a:solidFill>
            <a:srgbClr val="FFFFFF"/>
          </a:solidFill>
          <a:ln w="1016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0" i="0">
                <a:solidFill>
                  <a:srgbClr val="6B7889"/>
                </a:solidFill>
                <a:latin typeface="Segoe UI"/>
              </a:rPr>
              <a:t>Raw satellite
data</a:t>
            </a:r>
          </a:p>
        </p:txBody>
      </p:sp>
      <p:sp>
        <p:nvSpPr>
          <p:cNvPr id="11" name="Right Arrow 10"/>
          <p:cNvSpPr/>
          <p:nvPr/>
        </p:nvSpPr>
        <p:spPr>
          <a:xfrm>
            <a:off x="3397453" y="124815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75177" y="1060704"/>
            <a:ext cx="1600657" cy="512064"/>
          </a:xfrm>
          <a:prstGeom prst="roundRect">
            <a:avLst>
              <a:gd name="adj" fmla="val 14000"/>
            </a:avLst>
          </a:prstGeom>
          <a:solidFill>
            <a:srgbClr val="FFFFFF"/>
          </a:solidFill>
          <a:ln w="1016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0" i="0">
                <a:solidFill>
                  <a:srgbClr val="6B7889"/>
                </a:solidFill>
                <a:latin typeface="Segoe UI"/>
              </a:rPr>
              <a:t>Domain expert
required</a:t>
            </a:r>
          </a:p>
        </p:txBody>
      </p:sp>
      <p:sp>
        <p:nvSpPr>
          <p:cNvPr id="13" name="Right Arrow 12"/>
          <p:cNvSpPr/>
          <p:nvPr/>
        </p:nvSpPr>
        <p:spPr>
          <a:xfrm>
            <a:off x="5080406" y="124815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58130" y="1060704"/>
            <a:ext cx="1600657" cy="512064"/>
          </a:xfrm>
          <a:prstGeom prst="roundRect">
            <a:avLst>
              <a:gd name="adj" fmla="val 14000"/>
            </a:avLst>
          </a:prstGeom>
          <a:solidFill>
            <a:srgbClr val="FFFFFF"/>
          </a:solidFill>
          <a:ln w="1016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0" i="0">
                <a:solidFill>
                  <a:srgbClr val="6B7889"/>
                </a:solidFill>
                <a:latin typeface="Segoe UI"/>
              </a:rPr>
              <a:t>Manual
preprocessing</a:t>
            </a:r>
          </a:p>
        </p:txBody>
      </p:sp>
      <p:sp>
        <p:nvSpPr>
          <p:cNvPr id="15" name="Right Arrow 14"/>
          <p:cNvSpPr/>
          <p:nvPr/>
        </p:nvSpPr>
        <p:spPr>
          <a:xfrm>
            <a:off x="6763359" y="124815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841083" y="1060704"/>
            <a:ext cx="1600657" cy="512064"/>
          </a:xfrm>
          <a:prstGeom prst="roundRect">
            <a:avLst>
              <a:gd name="adj" fmla="val 14000"/>
            </a:avLst>
          </a:prstGeom>
          <a:solidFill>
            <a:srgbClr val="FFFFFF"/>
          </a:solidFill>
          <a:ln w="1016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0" i="0">
                <a:solidFill>
                  <a:srgbClr val="6B7889"/>
                </a:solidFill>
                <a:latin typeface="Segoe UI"/>
              </a:rPr>
              <a:t>Manual tool
selection</a:t>
            </a:r>
          </a:p>
        </p:txBody>
      </p:sp>
      <p:sp>
        <p:nvSpPr>
          <p:cNvPr id="17" name="Right Arrow 16"/>
          <p:cNvSpPr/>
          <p:nvPr/>
        </p:nvSpPr>
        <p:spPr>
          <a:xfrm>
            <a:off x="8446312" y="124815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24036" y="1060704"/>
            <a:ext cx="1600657" cy="512064"/>
          </a:xfrm>
          <a:prstGeom prst="roundRect">
            <a:avLst>
              <a:gd name="adj" fmla="val 14000"/>
            </a:avLst>
          </a:prstGeom>
          <a:solidFill>
            <a:srgbClr val="FFFFFF"/>
          </a:solidFill>
          <a:ln w="1016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0" i="0">
                <a:solidFill>
                  <a:srgbClr val="6B7889"/>
                </a:solidFill>
                <a:latin typeface="Segoe UI"/>
              </a:rPr>
              <a:t>Isolated
algorithms</a:t>
            </a:r>
          </a:p>
        </p:txBody>
      </p:sp>
      <p:sp>
        <p:nvSpPr>
          <p:cNvPr id="19" name="Right Arrow 18"/>
          <p:cNvSpPr/>
          <p:nvPr/>
        </p:nvSpPr>
        <p:spPr>
          <a:xfrm>
            <a:off x="10129266" y="124815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206990" y="1060704"/>
            <a:ext cx="1600657" cy="512064"/>
          </a:xfrm>
          <a:prstGeom prst="roundRect">
            <a:avLst>
              <a:gd name="adj" fmla="val 14000"/>
            </a:avLst>
          </a:prstGeom>
          <a:solidFill>
            <a:srgbClr val="FFFFFF"/>
          </a:solidFill>
          <a:ln w="10160">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0" i="0">
                <a:solidFill>
                  <a:srgbClr val="6B7889"/>
                </a:solidFill>
                <a:latin typeface="Segoe UI"/>
              </a:rPr>
              <a:t>Fragmented,
unexplained results</a:t>
            </a:r>
          </a:p>
        </p:txBody>
      </p:sp>
      <p:sp>
        <p:nvSpPr>
          <p:cNvPr id="21" name="Rounded Rectangle 20"/>
          <p:cNvSpPr/>
          <p:nvPr/>
        </p:nvSpPr>
        <p:spPr>
          <a:xfrm>
            <a:off x="384048" y="1700784"/>
            <a:ext cx="1298448" cy="512064"/>
          </a:xfrm>
          <a:prstGeom prst="roundRect">
            <a:avLst>
              <a:gd name="adj" fmla="val 14000"/>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1" i="0">
                <a:solidFill>
                  <a:srgbClr val="FFFFFF"/>
                </a:solidFill>
                <a:latin typeface="Segoe UI"/>
              </a:rPr>
              <a:t>SATQUERY</a:t>
            </a:r>
          </a:p>
        </p:txBody>
      </p:sp>
      <p:sp>
        <p:nvSpPr>
          <p:cNvPr id="22" name="Rounded Rectangle 21"/>
          <p:cNvSpPr/>
          <p:nvPr/>
        </p:nvSpPr>
        <p:spPr>
          <a:xfrm>
            <a:off x="1792224"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Natural-language
intent</a:t>
            </a:r>
          </a:p>
        </p:txBody>
      </p:sp>
      <p:sp>
        <p:nvSpPr>
          <p:cNvPr id="23" name="Right Arrow 22"/>
          <p:cNvSpPr/>
          <p:nvPr/>
        </p:nvSpPr>
        <p:spPr>
          <a:xfrm>
            <a:off x="2976714"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054438"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Task
reasoning</a:t>
            </a:r>
          </a:p>
        </p:txBody>
      </p:sp>
      <p:sp>
        <p:nvSpPr>
          <p:cNvPr id="25" name="Right Arrow 24"/>
          <p:cNvSpPr/>
          <p:nvPr/>
        </p:nvSpPr>
        <p:spPr>
          <a:xfrm>
            <a:off x="4238929"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16653"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Workflow
decomposition</a:t>
            </a:r>
          </a:p>
        </p:txBody>
      </p:sp>
      <p:sp>
        <p:nvSpPr>
          <p:cNvPr id="27" name="Right Arrow 26"/>
          <p:cNvSpPr/>
          <p:nvPr/>
        </p:nvSpPr>
        <p:spPr>
          <a:xfrm>
            <a:off x="5501144"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578868"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Capability
selection</a:t>
            </a:r>
          </a:p>
        </p:txBody>
      </p:sp>
      <p:sp>
        <p:nvSpPr>
          <p:cNvPr id="29" name="Right Arrow 28"/>
          <p:cNvSpPr/>
          <p:nvPr/>
        </p:nvSpPr>
        <p:spPr>
          <a:xfrm>
            <a:off x="6763359"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41083"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Deterministic
validation</a:t>
            </a:r>
          </a:p>
        </p:txBody>
      </p:sp>
      <p:sp>
        <p:nvSpPr>
          <p:cNvPr id="31" name="Right Arrow 30"/>
          <p:cNvSpPr/>
          <p:nvPr/>
        </p:nvSpPr>
        <p:spPr>
          <a:xfrm>
            <a:off x="8025574"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03298"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Specialist RS
execution</a:t>
            </a:r>
          </a:p>
        </p:txBody>
      </p:sp>
      <p:sp>
        <p:nvSpPr>
          <p:cNvPr id="33" name="Right Arrow 32"/>
          <p:cNvSpPr/>
          <p:nvPr/>
        </p:nvSpPr>
        <p:spPr>
          <a:xfrm>
            <a:off x="9287789"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365513"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Evidence
integration</a:t>
            </a:r>
          </a:p>
        </p:txBody>
      </p:sp>
      <p:sp>
        <p:nvSpPr>
          <p:cNvPr id="35" name="Right Arrow 34"/>
          <p:cNvSpPr/>
          <p:nvPr/>
        </p:nvSpPr>
        <p:spPr>
          <a:xfrm>
            <a:off x="10550004" y="1888236"/>
            <a:ext cx="73152"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0627728" y="1700784"/>
            <a:ext cx="1179918" cy="512064"/>
          </a:xfrm>
          <a:prstGeom prst="roundRect">
            <a:avLst>
              <a:gd name="adj" fmla="val 14000"/>
            </a:avLst>
          </a:prstGeom>
          <a:solidFill>
            <a:srgbClr val="E7EEF8"/>
          </a:solidFill>
          <a:ln w="1016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780" b="1" i="0">
                <a:solidFill>
                  <a:srgbClr val="0B2545"/>
                </a:solidFill>
                <a:latin typeface="Segoe UI"/>
              </a:rPr>
              <a:t>Interpretable
geospatial answer</a:t>
            </a:r>
          </a:p>
        </p:txBody>
      </p:sp>
      <p:sp>
        <p:nvSpPr>
          <p:cNvPr id="37" name="Rectangle 36"/>
          <p:cNvSpPr/>
          <p:nvPr/>
        </p:nvSpPr>
        <p:spPr>
          <a:xfrm>
            <a:off x="384048" y="2473452"/>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12064" y="2432304"/>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WHO THIS REACHES</a:t>
            </a:r>
          </a:p>
        </p:txBody>
      </p:sp>
      <p:sp>
        <p:nvSpPr>
          <p:cNvPr id="39" name="Rounded Rectangle 38"/>
          <p:cNvSpPr/>
          <p:nvPr/>
        </p:nvSpPr>
        <p:spPr>
          <a:xfrm>
            <a:off x="384048" y="2724912"/>
            <a:ext cx="1812493" cy="1170432"/>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ctr">
              <a:lnSpc>
                <a:spcPct val="95000"/>
              </a:lnSpc>
            </a:pPr>
            <a:r>
              <a:rPr sz="950" b="1" i="0">
                <a:solidFill>
                  <a:srgbClr val="0B2545"/>
                </a:solidFill>
                <a:latin typeface="Segoe UI"/>
              </a:rPr>
              <a:t>Agriculture
departments</a:t>
            </a:r>
          </a:p>
          <a:p>
            <a:pPr algn="ctr">
              <a:lnSpc>
                <a:spcPct val="105000"/>
              </a:lnSpc>
              <a:spcBef>
                <a:spcPts val="400"/>
              </a:spcBef>
            </a:pPr>
            <a:r>
              <a:rPr sz="740" b="0" i="0">
                <a:solidFill>
                  <a:srgbClr val="151E2B"/>
                </a:solidFill>
                <a:latin typeface="Segoe UI"/>
              </a:rPr>
              <a:t>crop stress, sowing extent and seasonal vegetation loss without a GIS analyst in the loop</a:t>
            </a:r>
          </a:p>
        </p:txBody>
      </p:sp>
      <p:sp>
        <p:nvSpPr>
          <p:cNvPr id="40" name="Rounded Rectangle 39"/>
          <p:cNvSpPr/>
          <p:nvPr/>
        </p:nvSpPr>
        <p:spPr>
          <a:xfrm>
            <a:off x="2306269" y="2724912"/>
            <a:ext cx="1812493" cy="1170432"/>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ctr">
              <a:lnSpc>
                <a:spcPct val="95000"/>
              </a:lnSpc>
            </a:pPr>
            <a:r>
              <a:rPr sz="950" b="1" i="0">
                <a:solidFill>
                  <a:srgbClr val="0B2545"/>
                </a:solidFill>
                <a:latin typeface="Segoe UI"/>
              </a:rPr>
              <a:t>Disaster
response</a:t>
            </a:r>
          </a:p>
          <a:p>
            <a:pPr algn="ctr">
              <a:lnSpc>
                <a:spcPct val="105000"/>
              </a:lnSpc>
              <a:spcBef>
                <a:spcPts val="400"/>
              </a:spcBef>
            </a:pPr>
            <a:r>
              <a:rPr sz="740" b="0" i="0">
                <a:solidFill>
                  <a:srgbClr val="151E2B"/>
                </a:solidFill>
                <a:latin typeface="Segoe UI"/>
              </a:rPr>
              <a:t>rapid before/after assessment of flood, fire and landslide extent from a plain question</a:t>
            </a:r>
          </a:p>
        </p:txBody>
      </p:sp>
      <p:sp>
        <p:nvSpPr>
          <p:cNvPr id="41" name="Rounded Rectangle 40"/>
          <p:cNvSpPr/>
          <p:nvPr/>
        </p:nvSpPr>
        <p:spPr>
          <a:xfrm>
            <a:off x="4228490" y="2724912"/>
            <a:ext cx="1812493" cy="1170432"/>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ctr">
              <a:lnSpc>
                <a:spcPct val="95000"/>
              </a:lnSpc>
            </a:pPr>
            <a:r>
              <a:rPr sz="950" b="1" i="0">
                <a:solidFill>
                  <a:srgbClr val="0B2545"/>
                </a:solidFill>
                <a:latin typeface="Segoe UI"/>
              </a:rPr>
              <a:t>Urban planning
bodies</a:t>
            </a:r>
          </a:p>
          <a:p>
            <a:pPr algn="ctr">
              <a:lnSpc>
                <a:spcPct val="105000"/>
              </a:lnSpc>
              <a:spcBef>
                <a:spcPts val="400"/>
              </a:spcBef>
            </a:pPr>
            <a:r>
              <a:rPr sz="740" b="0" i="0">
                <a:solidFill>
                  <a:srgbClr val="151E2B"/>
                </a:solidFill>
                <a:latin typeface="Segoe UI"/>
              </a:rPr>
              <a:t>built-up growth and encroachment measured over time with a reproducible method</a:t>
            </a:r>
          </a:p>
        </p:txBody>
      </p:sp>
      <p:sp>
        <p:nvSpPr>
          <p:cNvPr id="42" name="Rounded Rectangle 41"/>
          <p:cNvSpPr/>
          <p:nvPr/>
        </p:nvSpPr>
        <p:spPr>
          <a:xfrm>
            <a:off x="6150711" y="2724912"/>
            <a:ext cx="1812493" cy="1170432"/>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ctr">
              <a:lnSpc>
                <a:spcPct val="95000"/>
              </a:lnSpc>
            </a:pPr>
            <a:r>
              <a:rPr sz="950" b="1" i="0">
                <a:solidFill>
                  <a:srgbClr val="0B2545"/>
                </a:solidFill>
                <a:latin typeface="Segoe UI"/>
              </a:rPr>
              <a:t>Forest and
environment</a:t>
            </a:r>
          </a:p>
          <a:p>
            <a:pPr algn="ctr">
              <a:lnSpc>
                <a:spcPct val="105000"/>
              </a:lnSpc>
              <a:spcBef>
                <a:spcPts val="400"/>
              </a:spcBef>
            </a:pPr>
            <a:r>
              <a:rPr sz="740" b="0" i="0">
                <a:solidFill>
                  <a:srgbClr val="151E2B"/>
                </a:solidFill>
                <a:latin typeface="Segoe UI"/>
              </a:rPr>
              <a:t>deforestation and water-body change tracked with auditable, repeatable evidence</a:t>
            </a:r>
          </a:p>
        </p:txBody>
      </p:sp>
      <p:sp>
        <p:nvSpPr>
          <p:cNvPr id="43" name="Rounded Rectangle 42"/>
          <p:cNvSpPr/>
          <p:nvPr/>
        </p:nvSpPr>
        <p:spPr>
          <a:xfrm>
            <a:off x="8072932" y="2724912"/>
            <a:ext cx="1812493" cy="1170432"/>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ctr">
              <a:lnSpc>
                <a:spcPct val="95000"/>
              </a:lnSpc>
            </a:pPr>
            <a:r>
              <a:rPr sz="950" b="1" i="0">
                <a:solidFill>
                  <a:srgbClr val="0B2545"/>
                </a:solidFill>
                <a:latin typeface="Segoe UI"/>
              </a:rPr>
              <a:t>Space and defence
analysts</a:t>
            </a:r>
          </a:p>
          <a:p>
            <a:pPr algn="ctr">
              <a:lnSpc>
                <a:spcPct val="105000"/>
              </a:lnSpc>
              <a:spcBef>
                <a:spcPts val="400"/>
              </a:spcBef>
            </a:pPr>
            <a:r>
              <a:rPr sz="740" b="0" i="0">
                <a:solidFill>
                  <a:srgbClr val="151E2B"/>
                </a:solidFill>
                <a:latin typeface="Segoe UI"/>
              </a:rPr>
              <a:t>a controlled, extensible surface for adding new specialist models safely</a:t>
            </a:r>
          </a:p>
        </p:txBody>
      </p:sp>
      <p:sp>
        <p:nvSpPr>
          <p:cNvPr id="44" name="Rounded Rectangle 43"/>
          <p:cNvSpPr/>
          <p:nvPr/>
        </p:nvSpPr>
        <p:spPr>
          <a:xfrm>
            <a:off x="9995154" y="2724912"/>
            <a:ext cx="1812493" cy="1170432"/>
          </a:xfrm>
          <a:prstGeom prst="roundRect">
            <a:avLst>
              <a:gd name="adj" fmla="val 14000"/>
            </a:avLst>
          </a:prstGeom>
          <a:solidFill>
            <a:srgbClr val="F4F7FC"/>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18288" bIns="18288"/>
          <a:lstStyle/>
          <a:p>
            <a:pPr algn="ctr">
              <a:lnSpc>
                <a:spcPct val="95000"/>
              </a:lnSpc>
            </a:pPr>
            <a:r>
              <a:rPr sz="950" b="1" i="0">
                <a:solidFill>
                  <a:srgbClr val="0B2545"/>
                </a:solidFill>
                <a:latin typeface="Segoe UI"/>
              </a:rPr>
              <a:t>Students and
researchers</a:t>
            </a:r>
          </a:p>
          <a:p>
            <a:pPr algn="ctr">
              <a:lnSpc>
                <a:spcPct val="105000"/>
              </a:lnSpc>
              <a:spcBef>
                <a:spcPts val="400"/>
              </a:spcBef>
            </a:pPr>
            <a:r>
              <a:rPr sz="740" b="0" i="0">
                <a:solidFill>
                  <a:srgbClr val="151E2B"/>
                </a:solidFill>
                <a:latin typeface="Segoe UI"/>
              </a:rPr>
              <a:t>remote-sensing analysis becomes accessible without mastering the toolchain first</a:t>
            </a:r>
          </a:p>
        </p:txBody>
      </p:sp>
      <p:sp>
        <p:nvSpPr>
          <p:cNvPr id="45" name="Rectangle 44"/>
          <p:cNvSpPr/>
          <p:nvPr/>
        </p:nvSpPr>
        <p:spPr>
          <a:xfrm>
            <a:off x="384048" y="410108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12064" y="4059936"/>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BENEFITS</a:t>
            </a:r>
          </a:p>
        </p:txBody>
      </p:sp>
      <p:sp>
        <p:nvSpPr>
          <p:cNvPr id="47" name="Rounded Rectangle 46"/>
          <p:cNvSpPr/>
          <p:nvPr/>
        </p:nvSpPr>
        <p:spPr>
          <a:xfrm>
            <a:off x="384048" y="4352544"/>
            <a:ext cx="2670733" cy="1874519"/>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200" b="1" i="0">
                <a:solidFill>
                  <a:srgbClr val="C45F0A"/>
                </a:solidFill>
                <a:latin typeface="Segoe UI"/>
              </a:rPr>
              <a:t>Social</a:t>
            </a:r>
          </a:p>
          <a:p>
            <a:pPr algn="l">
              <a:lnSpc>
                <a:spcPct val="100000"/>
              </a:lnSpc>
              <a:spcBef>
                <a:spcPts val="400"/>
              </a:spcBef>
            </a:pPr>
            <a:r>
              <a:rPr sz="900" b="0" i="0">
                <a:solidFill>
                  <a:srgbClr val="151E2B"/>
                </a:solidFill>
                <a:latin typeface="Segoe UI"/>
              </a:rPr>
              <a:t>Geospatial evidence stops being the preserve of trained specialists. A district officer can ask a question in their own words and receive a defensible, explained answer.</a:t>
            </a:r>
          </a:p>
        </p:txBody>
      </p:sp>
      <p:sp>
        <p:nvSpPr>
          <p:cNvPr id="48" name="Rectangle 47"/>
          <p:cNvSpPr/>
          <p:nvPr/>
        </p:nvSpPr>
        <p:spPr>
          <a:xfrm>
            <a:off x="384048" y="4352544"/>
            <a:ext cx="54864" cy="1874519"/>
          </a:xfrm>
          <a:prstGeom prst="rect">
            <a:avLst/>
          </a:prstGeom>
          <a:solidFill>
            <a:srgbClr val="C45F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3301669" y="4352544"/>
            <a:ext cx="2670733" cy="1874519"/>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200" b="1" i="0">
                <a:solidFill>
                  <a:srgbClr val="1B59A6"/>
                </a:solidFill>
                <a:latin typeface="Segoe UI"/>
              </a:rPr>
              <a:t>Economic</a:t>
            </a:r>
          </a:p>
          <a:p>
            <a:pPr algn="l">
              <a:lnSpc>
                <a:spcPct val="100000"/>
              </a:lnSpc>
              <a:spcBef>
                <a:spcPts val="400"/>
              </a:spcBef>
            </a:pPr>
            <a:r>
              <a:rPr sz="900" b="0" i="0">
                <a:solidFill>
                  <a:srgbClr val="151E2B"/>
                </a:solidFill>
                <a:latin typeface="Segoe UI"/>
              </a:rPr>
              <a:t>Removes repeated manual preprocessing and per-task scripting. One controlled workflow layer serves many departments instead of each rebuilding its own analysis chain.</a:t>
            </a:r>
          </a:p>
        </p:txBody>
      </p:sp>
      <p:sp>
        <p:nvSpPr>
          <p:cNvPr id="50" name="Rectangle 49"/>
          <p:cNvSpPr/>
          <p:nvPr/>
        </p:nvSpPr>
        <p:spPr>
          <a:xfrm>
            <a:off x="3301669" y="4352544"/>
            <a:ext cx="54864" cy="1874519"/>
          </a:xfrm>
          <a:prstGeom prst="rect">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6219291" y="4352544"/>
            <a:ext cx="2670733" cy="1874519"/>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200" b="1" i="0">
                <a:solidFill>
                  <a:srgbClr val="1B7A4B"/>
                </a:solidFill>
                <a:latin typeface="Segoe UI"/>
              </a:rPr>
              <a:t>Environmental</a:t>
            </a:r>
          </a:p>
          <a:p>
            <a:pPr algn="l">
              <a:lnSpc>
                <a:spcPct val="100000"/>
              </a:lnSpc>
              <a:spcBef>
                <a:spcPts val="400"/>
              </a:spcBef>
            </a:pPr>
            <a:r>
              <a:rPr sz="900" b="0" i="0">
                <a:solidFill>
                  <a:srgbClr val="151E2B"/>
                </a:solidFill>
                <a:latin typeface="Segoe UI"/>
              </a:rPr>
              <a:t>Makes routine monitoring of vegetation loss, water extent and built-up encroachment cheap enough to run often — which is what turns monitoring into intervention.</a:t>
            </a:r>
          </a:p>
        </p:txBody>
      </p:sp>
      <p:sp>
        <p:nvSpPr>
          <p:cNvPr id="52" name="Rectangle 51"/>
          <p:cNvSpPr/>
          <p:nvPr/>
        </p:nvSpPr>
        <p:spPr>
          <a:xfrm>
            <a:off x="6219291" y="4352544"/>
            <a:ext cx="54864" cy="1874519"/>
          </a:xfrm>
          <a:prstGeom prst="rect">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9136913" y="4352544"/>
            <a:ext cx="2670733" cy="1874519"/>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200" b="1" i="0">
                <a:solidFill>
                  <a:srgbClr val="0B2545"/>
                </a:solidFill>
                <a:latin typeface="Segoe UI"/>
              </a:rPr>
              <a:t>Operational</a:t>
            </a:r>
          </a:p>
          <a:p>
            <a:pPr algn="l">
              <a:lnSpc>
                <a:spcPct val="100000"/>
              </a:lnSpc>
              <a:spcBef>
                <a:spcPts val="400"/>
              </a:spcBef>
            </a:pPr>
            <a:r>
              <a:rPr sz="900" b="0" i="0">
                <a:solidFill>
                  <a:srgbClr val="151E2B"/>
                </a:solidFill>
                <a:latin typeface="Segoe UI"/>
              </a:rPr>
              <a:t>Every answer carries its provenance: which tool ran, on which imagery, with which parameters. Results are reproducible and auditable, not one-off outputs.</a:t>
            </a:r>
          </a:p>
        </p:txBody>
      </p:sp>
      <p:sp>
        <p:nvSpPr>
          <p:cNvPr id="54" name="Rectangle 53"/>
          <p:cNvSpPr/>
          <p:nvPr/>
        </p:nvSpPr>
        <p:spPr>
          <a:xfrm>
            <a:off x="9136913" y="4352544"/>
            <a:ext cx="54864" cy="1874519"/>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Research and References</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6</a:t>
            </a:r>
          </a:p>
        </p:txBody>
      </p:sp>
      <p:sp>
        <p:nvSpPr>
          <p:cNvPr id="7" name="Rectangle 6"/>
          <p:cNvSpPr/>
          <p:nvPr/>
        </p:nvSpPr>
        <p:spPr>
          <a:xfrm>
            <a:off x="384048"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 y="768096"/>
            <a:ext cx="7315200" cy="237744"/>
          </a:xfrm>
          <a:prstGeom prst="rect">
            <a:avLst/>
          </a:prstGeom>
          <a:noFill/>
        </p:spPr>
        <p:txBody>
          <a:bodyPr wrap="square" anchor="ctr" lIns="0" rIns="0" tIns="18288" bIns="18288">
            <a:spAutoFit/>
          </a:bodyPr>
          <a:lstStyle/>
          <a:p>
            <a:pPr algn="l"/>
            <a:r>
              <a:rPr sz="1250" b="1" i="0">
                <a:solidFill>
                  <a:srgbClr val="0B2545"/>
                </a:solidFill>
                <a:latin typeface="Segoe UI"/>
              </a:rPr>
              <a:t>WHY THE ARCHITECTURE IS SHAPED THIS WAY</a:t>
            </a:r>
          </a:p>
        </p:txBody>
      </p:sp>
      <p:sp>
        <p:nvSpPr>
          <p:cNvPr id="9" name="Rounded Rectangle 8"/>
          <p:cNvSpPr/>
          <p:nvPr/>
        </p:nvSpPr>
        <p:spPr>
          <a:xfrm>
            <a:off x="384048" y="1060704"/>
            <a:ext cx="3698138" cy="1481328"/>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100" b="1" i="0">
                <a:solidFill>
                  <a:srgbClr val="C45F0A"/>
                </a:solidFill>
                <a:latin typeface="Segoe UI"/>
              </a:rPr>
              <a:t>Agentic planning and task decomposition</a:t>
            </a:r>
          </a:p>
          <a:p>
            <a:pPr algn="l">
              <a:lnSpc>
                <a:spcPct val="110000"/>
              </a:lnSpc>
              <a:spcBef>
                <a:spcPts val="500"/>
              </a:spcBef>
            </a:pPr>
            <a:r>
              <a:rPr sz="900" b="0" i="0">
                <a:solidFill>
                  <a:srgbClr val="151E2B"/>
                </a:solidFill>
                <a:latin typeface="Segoe UI"/>
              </a:rPr>
              <a:t>Interleaved reasoning and acting lets one question become an ordered set of executable subtasks instead of a single opaque call.</a:t>
            </a:r>
          </a:p>
          <a:p>
            <a:pPr algn="l">
              <a:lnSpc>
                <a:spcPct val="95000"/>
              </a:lnSpc>
              <a:spcBef>
                <a:spcPts val="600"/>
              </a:spcBef>
            </a:pPr>
            <a:r>
              <a:rPr sz="850" b="1" i="0">
                <a:solidFill>
                  <a:srgbClr val="6B7889"/>
                </a:solidFill>
                <a:latin typeface="Segoe UI"/>
              </a:rPr>
              <a:t>→ Reasoning layer</a:t>
            </a:r>
          </a:p>
        </p:txBody>
      </p:sp>
      <p:sp>
        <p:nvSpPr>
          <p:cNvPr id="10" name="Rectangle 9"/>
          <p:cNvSpPr/>
          <p:nvPr/>
        </p:nvSpPr>
        <p:spPr>
          <a:xfrm>
            <a:off x="384048" y="1060704"/>
            <a:ext cx="54864" cy="1481328"/>
          </a:xfrm>
          <a:prstGeom prst="rect">
            <a:avLst/>
          </a:prstGeom>
          <a:solidFill>
            <a:srgbClr val="C45F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246778" y="1060704"/>
            <a:ext cx="3698138" cy="1481328"/>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100" b="1" i="0">
                <a:solidFill>
                  <a:srgbClr val="1B59A6"/>
                </a:solidFill>
                <a:latin typeface="Segoe UI"/>
              </a:rPr>
              <a:t>Schema-constrained tool calling</a:t>
            </a:r>
          </a:p>
          <a:p>
            <a:pPr algn="l">
              <a:lnSpc>
                <a:spcPct val="110000"/>
              </a:lnSpc>
              <a:spcBef>
                <a:spcPts val="500"/>
              </a:spcBef>
            </a:pPr>
            <a:r>
              <a:rPr sz="900" b="0" i="0">
                <a:solidFill>
                  <a:srgbClr val="151E2B"/>
                </a:solidFill>
                <a:latin typeface="Segoe UI"/>
              </a:rPr>
              <a:t>A model calling arbitrary functions is unsafe on real data. Calls are restricted to declared signatures with typed parameters.</a:t>
            </a:r>
          </a:p>
          <a:p>
            <a:pPr algn="l">
              <a:lnSpc>
                <a:spcPct val="95000"/>
              </a:lnSpc>
              <a:spcBef>
                <a:spcPts val="600"/>
              </a:spcBef>
            </a:pPr>
            <a:r>
              <a:rPr sz="850" b="1" i="0">
                <a:solidFill>
                  <a:srgbClr val="6B7889"/>
                </a:solidFill>
                <a:latin typeface="Segoe UI"/>
              </a:rPr>
              <a:t>→ Capability registry</a:t>
            </a:r>
          </a:p>
        </p:txBody>
      </p:sp>
      <p:sp>
        <p:nvSpPr>
          <p:cNvPr id="12" name="Rectangle 11"/>
          <p:cNvSpPr/>
          <p:nvPr/>
        </p:nvSpPr>
        <p:spPr>
          <a:xfrm>
            <a:off x="4246778" y="1060704"/>
            <a:ext cx="54864" cy="1481328"/>
          </a:xfrm>
          <a:prstGeom prst="rect">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109508" y="1060704"/>
            <a:ext cx="3698138" cy="1481328"/>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100" b="1" i="0">
                <a:solidFill>
                  <a:srgbClr val="1B59A6"/>
                </a:solidFill>
                <a:latin typeface="Segoe UI"/>
              </a:rPr>
              <a:t>Capability-aware orchestration</a:t>
            </a:r>
          </a:p>
          <a:p>
            <a:pPr algn="l">
              <a:lnSpc>
                <a:spcPct val="110000"/>
              </a:lnSpc>
              <a:spcBef>
                <a:spcPts val="500"/>
              </a:spcBef>
            </a:pPr>
            <a:r>
              <a:rPr sz="900" b="0" i="0">
                <a:solidFill>
                  <a:srgbClr val="151E2B"/>
                </a:solidFill>
                <a:latin typeface="Segoe UI"/>
              </a:rPr>
              <a:t>Selection is driven by each tool's declared input contract — modality, bands, image count — not by name similarity to the query.</a:t>
            </a:r>
          </a:p>
          <a:p>
            <a:pPr algn="l">
              <a:lnSpc>
                <a:spcPct val="95000"/>
              </a:lnSpc>
              <a:spcBef>
                <a:spcPts val="600"/>
              </a:spcBef>
            </a:pPr>
            <a:r>
              <a:rPr sz="850" b="1" i="0">
                <a:solidFill>
                  <a:srgbClr val="6B7889"/>
                </a:solidFill>
                <a:latin typeface="Segoe UI"/>
              </a:rPr>
              <a:t>→ Selection stage</a:t>
            </a:r>
          </a:p>
        </p:txBody>
      </p:sp>
      <p:sp>
        <p:nvSpPr>
          <p:cNvPr id="14" name="Rectangle 13"/>
          <p:cNvSpPr/>
          <p:nvPr/>
        </p:nvSpPr>
        <p:spPr>
          <a:xfrm>
            <a:off x="8109508" y="1060704"/>
            <a:ext cx="54864" cy="1481328"/>
          </a:xfrm>
          <a:prstGeom prst="rect">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84048" y="2688336"/>
            <a:ext cx="3698138" cy="1481328"/>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100" b="1" i="0">
                <a:solidFill>
                  <a:srgbClr val="B33328"/>
                </a:solidFill>
                <a:latin typeface="Segoe UI"/>
              </a:rPr>
              <a:t>Deterministic verification of model output</a:t>
            </a:r>
          </a:p>
          <a:p>
            <a:pPr algn="l">
              <a:lnSpc>
                <a:spcPct val="110000"/>
              </a:lnSpc>
              <a:spcBef>
                <a:spcPts val="500"/>
              </a:spcBef>
            </a:pPr>
            <a:r>
              <a:rPr sz="900" b="0" i="0">
                <a:solidFill>
                  <a:srgbClr val="151E2B"/>
                </a:solidFill>
                <a:latin typeface="Segoe UI"/>
              </a:rPr>
              <a:t>Language models are strong proposers and unreliable verifiers, so technical admissibility is decided by code that cannot be persuaded.</a:t>
            </a:r>
          </a:p>
          <a:p>
            <a:pPr algn="l">
              <a:lnSpc>
                <a:spcPct val="95000"/>
              </a:lnSpc>
              <a:spcBef>
                <a:spcPts val="600"/>
              </a:spcBef>
            </a:pPr>
            <a:r>
              <a:rPr sz="850" b="1" i="0">
                <a:solidFill>
                  <a:srgbClr val="6B7889"/>
                </a:solidFill>
                <a:latin typeface="Segoe UI"/>
              </a:rPr>
              <a:t>→ Validation gate</a:t>
            </a:r>
          </a:p>
        </p:txBody>
      </p:sp>
      <p:sp>
        <p:nvSpPr>
          <p:cNvPr id="16" name="Rectangle 15"/>
          <p:cNvSpPr/>
          <p:nvPr/>
        </p:nvSpPr>
        <p:spPr>
          <a:xfrm>
            <a:off x="384048" y="2688336"/>
            <a:ext cx="54864" cy="1481328"/>
          </a:xfrm>
          <a:prstGeom prst="rect">
            <a:avLst/>
          </a:prstGeom>
          <a:solidFill>
            <a:srgbClr val="B3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246778" y="2688336"/>
            <a:ext cx="3698138" cy="1481328"/>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100" b="1" i="0">
                <a:solidFill>
                  <a:srgbClr val="1B7A4B"/>
                </a:solidFill>
                <a:latin typeface="Segoe UI"/>
              </a:rPr>
              <a:t>Remote-sensing foundation models and VQA</a:t>
            </a:r>
          </a:p>
          <a:p>
            <a:pPr algn="l">
              <a:lnSpc>
                <a:spcPct val="110000"/>
              </a:lnSpc>
              <a:spcBef>
                <a:spcPts val="500"/>
              </a:spcBef>
            </a:pPr>
            <a:r>
              <a:rPr sz="900" b="0" i="0">
                <a:solidFill>
                  <a:srgbClr val="151E2B"/>
                </a:solidFill>
                <a:latin typeface="Segoe UI"/>
              </a:rPr>
              <a:t>Pretrained geospatial and multimodal models supply scene-level understanding that index arithmetic alone cannot express.</a:t>
            </a:r>
          </a:p>
          <a:p>
            <a:pPr algn="l">
              <a:lnSpc>
                <a:spcPct val="95000"/>
              </a:lnSpc>
              <a:spcBef>
                <a:spcPts val="600"/>
              </a:spcBef>
            </a:pPr>
            <a:r>
              <a:rPr sz="850" b="1" i="0">
                <a:solidFill>
                  <a:srgbClr val="6B7889"/>
                </a:solidFill>
                <a:latin typeface="Segoe UI"/>
              </a:rPr>
              <a:t>→ Execution layer (next stage)</a:t>
            </a:r>
          </a:p>
        </p:txBody>
      </p:sp>
      <p:sp>
        <p:nvSpPr>
          <p:cNvPr id="18" name="Rectangle 17"/>
          <p:cNvSpPr/>
          <p:nvPr/>
        </p:nvSpPr>
        <p:spPr>
          <a:xfrm>
            <a:off x="4246778" y="2688336"/>
            <a:ext cx="54864" cy="1481328"/>
          </a:xfrm>
          <a:prstGeom prst="rect">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109508" y="2688336"/>
            <a:ext cx="3698138" cy="1481328"/>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100" b="1" i="0">
                <a:solidFill>
                  <a:srgbClr val="0B2545"/>
                </a:solidFill>
                <a:latin typeface="Segoe UI"/>
              </a:rPr>
              <a:t>Multi-temporal analysis and provenance</a:t>
            </a:r>
          </a:p>
          <a:p>
            <a:pPr algn="l">
              <a:lnSpc>
                <a:spcPct val="110000"/>
              </a:lnSpc>
              <a:spcBef>
                <a:spcPts val="500"/>
              </a:spcBef>
            </a:pPr>
            <a:r>
              <a:rPr sz="900" b="0" i="0">
                <a:solidFill>
                  <a:srgbClr val="151E2B"/>
                </a:solidFill>
                <a:latin typeface="Segoe UI"/>
              </a:rPr>
              <a:t>Change is only meaningful on co-registered pairs, and an answer is only trustworthy when the path that produced it is recorded.</a:t>
            </a:r>
          </a:p>
          <a:p>
            <a:pPr algn="l">
              <a:lnSpc>
                <a:spcPct val="95000"/>
              </a:lnSpc>
              <a:spcBef>
                <a:spcPts val="600"/>
              </a:spcBef>
            </a:pPr>
            <a:r>
              <a:rPr sz="850" b="1" i="0">
                <a:solidFill>
                  <a:srgbClr val="6B7889"/>
                </a:solidFill>
                <a:latin typeface="Segoe UI"/>
              </a:rPr>
              <a:t>→ Execution + evidence integration</a:t>
            </a:r>
          </a:p>
        </p:txBody>
      </p:sp>
      <p:sp>
        <p:nvSpPr>
          <p:cNvPr id="20" name="Rectangle 19"/>
          <p:cNvSpPr/>
          <p:nvPr/>
        </p:nvSpPr>
        <p:spPr>
          <a:xfrm>
            <a:off x="8109508" y="2688336"/>
            <a:ext cx="54864" cy="1481328"/>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84048" y="4357116"/>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12064" y="4315968"/>
            <a:ext cx="7315200" cy="237744"/>
          </a:xfrm>
          <a:prstGeom prst="rect">
            <a:avLst/>
          </a:prstGeom>
          <a:noFill/>
        </p:spPr>
        <p:txBody>
          <a:bodyPr wrap="square" anchor="ctr" lIns="0" rIns="0" tIns="18288" bIns="18288">
            <a:spAutoFit/>
          </a:bodyPr>
          <a:lstStyle/>
          <a:p>
            <a:pPr algn="l"/>
            <a:r>
              <a:rPr sz="1250" b="1" i="0">
                <a:solidFill>
                  <a:srgbClr val="0B2545"/>
                </a:solidFill>
                <a:latin typeface="Segoe UI"/>
              </a:rPr>
              <a:t>REFERENCES</a:t>
            </a:r>
          </a:p>
        </p:txBody>
      </p:sp>
      <p:sp>
        <p:nvSpPr>
          <p:cNvPr id="23" name="Rounded Rectangle 22"/>
          <p:cNvSpPr/>
          <p:nvPr/>
        </p:nvSpPr>
        <p:spPr>
          <a:xfrm>
            <a:off x="384048" y="4590288"/>
            <a:ext cx="11423599" cy="1810512"/>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5216" y="4718304"/>
            <a:ext cx="5483199" cy="1234440"/>
          </a:xfrm>
          <a:prstGeom prst="rect">
            <a:avLst/>
          </a:prstGeom>
          <a:noFill/>
        </p:spPr>
        <p:txBody>
          <a:bodyPr wrap="square" anchor="t" lIns="0" rIns="0" tIns="18288" bIns="18288">
            <a:spAutoFit/>
          </a:bodyPr>
          <a:lstStyle/>
          <a:p>
            <a:pPr algn="l">
              <a:lnSpc>
                <a:spcPct val="105000"/>
              </a:lnSpc>
            </a:pPr>
            <a:r>
              <a:rPr sz="860" b="0" i="0">
                <a:solidFill>
                  <a:srgbClr val="151E2B"/>
                </a:solidFill>
                <a:latin typeface="Segoe UI"/>
              </a:rPr>
              <a:t>•  Yao et al., ReAct: Synergizing Reasoning and Acting in Language Models, ICLR 2023.</a:t>
            </a:r>
          </a:p>
          <a:p>
            <a:pPr algn="l">
              <a:lnSpc>
                <a:spcPct val="105000"/>
              </a:lnSpc>
              <a:spcBef>
                <a:spcPts val="700"/>
              </a:spcBef>
            </a:pPr>
            <a:r>
              <a:rPr sz="860" b="0" i="0">
                <a:solidFill>
                  <a:srgbClr val="151E2B"/>
                </a:solidFill>
                <a:latin typeface="Segoe UI"/>
              </a:rPr>
              <a:t>•  Schick et al., Toolformer: Language Models Can Teach Themselves to Use Tools, NeurIPS 2023.</a:t>
            </a:r>
          </a:p>
          <a:p>
            <a:pPr algn="l">
              <a:lnSpc>
                <a:spcPct val="105000"/>
              </a:lnSpc>
              <a:spcBef>
                <a:spcPts val="700"/>
              </a:spcBef>
            </a:pPr>
            <a:r>
              <a:rPr sz="860" b="0" i="0">
                <a:solidFill>
                  <a:srgbClr val="151E2B"/>
                </a:solidFill>
                <a:latin typeface="Segoe UI"/>
              </a:rPr>
              <a:t>•  Patil et al., Gorilla: Large Language Model Connected with Massive APIs, 2023.</a:t>
            </a:r>
          </a:p>
          <a:p>
            <a:pPr algn="l">
              <a:lnSpc>
                <a:spcPct val="105000"/>
              </a:lnSpc>
              <a:spcBef>
                <a:spcPts val="700"/>
              </a:spcBef>
            </a:pPr>
            <a:r>
              <a:rPr sz="860" b="0" i="0">
                <a:solidFill>
                  <a:srgbClr val="151E2B"/>
                </a:solidFill>
                <a:latin typeface="Segoe UI"/>
              </a:rPr>
              <a:t>•  Jakubik et al., Foundation Models for Generalist Geospatial Artificial Intelligence (Prithvi, IBM–NASA), 2023.</a:t>
            </a:r>
          </a:p>
        </p:txBody>
      </p:sp>
      <p:sp>
        <p:nvSpPr>
          <p:cNvPr id="25" name="TextBox 24"/>
          <p:cNvSpPr txBox="1"/>
          <p:nvPr/>
        </p:nvSpPr>
        <p:spPr>
          <a:xfrm>
            <a:off x="6214719" y="4718304"/>
            <a:ext cx="5483199" cy="1234440"/>
          </a:xfrm>
          <a:prstGeom prst="rect">
            <a:avLst/>
          </a:prstGeom>
          <a:noFill/>
        </p:spPr>
        <p:txBody>
          <a:bodyPr wrap="square" anchor="t" lIns="0" rIns="0" tIns="18288" bIns="18288">
            <a:spAutoFit/>
          </a:bodyPr>
          <a:lstStyle/>
          <a:p>
            <a:pPr algn="l">
              <a:lnSpc>
                <a:spcPct val="105000"/>
              </a:lnSpc>
            </a:pPr>
            <a:r>
              <a:rPr sz="860" b="0" i="0">
                <a:solidFill>
                  <a:srgbClr val="151E2B"/>
                </a:solidFill>
                <a:latin typeface="Segoe UI"/>
              </a:rPr>
              <a:t>•  Lobry et al., RSVQA: Visual Question Answering for Remote Sensing Data, IEEE TGRS 2020.</a:t>
            </a:r>
          </a:p>
          <a:p>
            <a:pPr algn="l">
              <a:lnSpc>
                <a:spcPct val="105000"/>
              </a:lnSpc>
              <a:spcBef>
                <a:spcPts val="700"/>
              </a:spcBef>
            </a:pPr>
            <a:r>
              <a:rPr sz="860" b="0" i="0">
                <a:solidFill>
                  <a:srgbClr val="151E2B"/>
                </a:solidFill>
                <a:latin typeface="Segoe UI"/>
              </a:rPr>
              <a:t>•  Bastani et al., SatlasPretrain: A Large-Scale Dataset for Remote Sensing Image Understanding, ICCV 2023.</a:t>
            </a:r>
          </a:p>
          <a:p>
            <a:pPr algn="l">
              <a:lnSpc>
                <a:spcPct val="105000"/>
              </a:lnSpc>
              <a:spcBef>
                <a:spcPts val="700"/>
              </a:spcBef>
            </a:pPr>
            <a:r>
              <a:rPr sz="860" b="0" i="0">
                <a:solidFill>
                  <a:srgbClr val="151E2B"/>
                </a:solidFill>
                <a:latin typeface="Segoe UI"/>
              </a:rPr>
              <a:t>•  ESA, Sentinel-2 Level-2A Product Specification — Scene Classification (SCL) and processing baseline 04.00 offsets.</a:t>
            </a:r>
          </a:p>
          <a:p>
            <a:pPr algn="l">
              <a:lnSpc>
                <a:spcPct val="105000"/>
              </a:lnSpc>
              <a:spcBef>
                <a:spcPts val="700"/>
              </a:spcBef>
            </a:pPr>
            <a:r>
              <a:rPr sz="860" b="0" i="0">
                <a:solidFill>
                  <a:srgbClr val="151E2B"/>
                </a:solidFill>
                <a:latin typeface="Segoe UI"/>
              </a:rPr>
              <a:t>•  USGS, Landsat Collection 2 Level-2 Science Products — QA_PIXEL bit definitions.</a:t>
            </a:r>
          </a:p>
        </p:txBody>
      </p:sp>
      <p:sp>
        <p:nvSpPr>
          <p:cNvPr id="26" name="TextBox 25"/>
          <p:cNvSpPr txBox="1"/>
          <p:nvPr/>
        </p:nvSpPr>
        <p:spPr>
          <a:xfrm>
            <a:off x="585216" y="5870448"/>
            <a:ext cx="11021263" cy="310896"/>
          </a:xfrm>
          <a:prstGeom prst="rect">
            <a:avLst/>
          </a:prstGeom>
          <a:noFill/>
        </p:spPr>
        <p:txBody>
          <a:bodyPr wrap="square" anchor="ctr" lIns="0" rIns="0" tIns="18288" bIns="18288">
            <a:spAutoFit/>
          </a:bodyPr>
          <a:lstStyle/>
          <a:p>
            <a:pPr algn="l"/>
            <a:r>
              <a:rPr sz="950" b="1" i="0">
                <a:solidFill>
                  <a:srgbClr val="0B2545"/>
                </a:solidFill>
                <a:latin typeface="Segoe UI"/>
              </a:rPr>
              <a:t>Implementation:  github.com/VinayakGupta-1/SatQuery-AI     ·     Live demo:  [ INSERT WEB DEMO LINK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Appendix — Capability contracts and the validation gate</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7</a:t>
            </a:r>
          </a:p>
        </p:txBody>
      </p:sp>
      <p:sp>
        <p:nvSpPr>
          <p:cNvPr id="7" name="Rectangle 6"/>
          <p:cNvSpPr/>
          <p:nvPr/>
        </p:nvSpPr>
        <p:spPr>
          <a:xfrm>
            <a:off x="384048"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 y="768096"/>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A REGISTRY ENTRY IS A CONTRACT</a:t>
            </a:r>
          </a:p>
        </p:txBody>
      </p:sp>
      <p:sp>
        <p:nvSpPr>
          <p:cNvPr id="9" name="Rounded Rectangle 8"/>
          <p:cNvSpPr/>
          <p:nvPr/>
        </p:nvSpPr>
        <p:spPr>
          <a:xfrm>
            <a:off x="384048" y="1060704"/>
            <a:ext cx="5532120" cy="4251960"/>
          </a:xfrm>
          <a:prstGeom prst="roundRect">
            <a:avLst>
              <a:gd name="adj" fmla="val 14000"/>
            </a:avLst>
          </a:prstGeom>
          <a:solidFill>
            <a:srgbClr val="FFFFFF"/>
          </a:solidFill>
          <a:ln w="1778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84048" y="1060704"/>
            <a:ext cx="5532120" cy="384048"/>
          </a:xfrm>
          <a:prstGeom prst="roundRect">
            <a:avLst>
              <a:gd name="adj" fmla="val 14000"/>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100" b="1" i="0">
                <a:solidFill>
                  <a:srgbClr val="FFFFFF"/>
                </a:solidFill>
                <a:latin typeface="Segoe UI"/>
              </a:rPr>
              <a:t>change_detection</a:t>
            </a:r>
          </a:p>
        </p:txBody>
      </p:sp>
      <p:sp>
        <p:nvSpPr>
          <p:cNvPr id="11" name="TextBox 10"/>
          <p:cNvSpPr txBox="1"/>
          <p:nvPr/>
        </p:nvSpPr>
        <p:spPr>
          <a:xfrm>
            <a:off x="548640" y="1627632"/>
            <a:ext cx="1783080" cy="274320"/>
          </a:xfrm>
          <a:prstGeom prst="rect">
            <a:avLst/>
          </a:prstGeom>
          <a:noFill/>
        </p:spPr>
        <p:txBody>
          <a:bodyPr wrap="square" anchor="t" lIns="0" rIns="0" tIns="18288" bIns="18288">
            <a:spAutoFit/>
          </a:bodyPr>
          <a:lstStyle/>
          <a:p>
            <a:pPr algn="l"/>
            <a:r>
              <a:rPr sz="919" b="1" i="0">
                <a:solidFill>
                  <a:srgbClr val="1B59A6"/>
                </a:solidFill>
                <a:latin typeface="Segoe UI"/>
              </a:rPr>
              <a:t>name</a:t>
            </a:r>
          </a:p>
        </p:txBody>
      </p:sp>
      <p:sp>
        <p:nvSpPr>
          <p:cNvPr id="12" name="TextBox 11"/>
          <p:cNvSpPr txBox="1"/>
          <p:nvPr/>
        </p:nvSpPr>
        <p:spPr>
          <a:xfrm>
            <a:off x="2395728" y="1627632"/>
            <a:ext cx="3337560" cy="274320"/>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Bi-Temporal Change Detection</a:t>
            </a:r>
          </a:p>
        </p:txBody>
      </p:sp>
      <p:sp>
        <p:nvSpPr>
          <p:cNvPr id="13" name="TextBox 12"/>
          <p:cNvSpPr txBox="1"/>
          <p:nvPr/>
        </p:nvSpPr>
        <p:spPr>
          <a:xfrm>
            <a:off x="548640" y="1984248"/>
            <a:ext cx="1783080" cy="274320"/>
          </a:xfrm>
          <a:prstGeom prst="rect">
            <a:avLst/>
          </a:prstGeom>
          <a:noFill/>
        </p:spPr>
        <p:txBody>
          <a:bodyPr wrap="square" anchor="t" lIns="0" rIns="0" tIns="18288" bIns="18288">
            <a:spAutoFit/>
          </a:bodyPr>
          <a:lstStyle/>
          <a:p>
            <a:pPr algn="l"/>
            <a:r>
              <a:rPr sz="919" b="1" i="0">
                <a:solidFill>
                  <a:srgbClr val="1B59A6"/>
                </a:solidFill>
                <a:latin typeface="Segoe UI"/>
              </a:rPr>
              <a:t>tool_type</a:t>
            </a:r>
          </a:p>
        </p:txBody>
      </p:sp>
      <p:sp>
        <p:nvSpPr>
          <p:cNvPr id="14" name="TextBox 13"/>
          <p:cNvSpPr txBox="1"/>
          <p:nvPr/>
        </p:nvSpPr>
        <p:spPr>
          <a:xfrm>
            <a:off x="2395728" y="1984248"/>
            <a:ext cx="3337560" cy="274320"/>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change_detection</a:t>
            </a:r>
          </a:p>
        </p:txBody>
      </p:sp>
      <p:sp>
        <p:nvSpPr>
          <p:cNvPr id="15" name="TextBox 14"/>
          <p:cNvSpPr txBox="1"/>
          <p:nvPr/>
        </p:nvSpPr>
        <p:spPr>
          <a:xfrm>
            <a:off x="548640" y="2340864"/>
            <a:ext cx="1783080" cy="274320"/>
          </a:xfrm>
          <a:prstGeom prst="rect">
            <a:avLst/>
          </a:prstGeom>
          <a:noFill/>
        </p:spPr>
        <p:txBody>
          <a:bodyPr wrap="square" anchor="t" lIns="0" rIns="0" tIns="18288" bIns="18288">
            <a:spAutoFit/>
          </a:bodyPr>
          <a:lstStyle/>
          <a:p>
            <a:pPr algn="l"/>
            <a:r>
              <a:rPr sz="919" b="1" i="0">
                <a:solidFill>
                  <a:srgbClr val="1B59A6"/>
                </a:solidFill>
                <a:latin typeface="Segoe UI"/>
              </a:rPr>
              <a:t>supported_modalities</a:t>
            </a:r>
          </a:p>
        </p:txBody>
      </p:sp>
      <p:sp>
        <p:nvSpPr>
          <p:cNvPr id="16" name="TextBox 15"/>
          <p:cNvSpPr txBox="1"/>
          <p:nvPr/>
        </p:nvSpPr>
        <p:spPr>
          <a:xfrm>
            <a:off x="2395728" y="2340864"/>
            <a:ext cx="3337560" cy="274320"/>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optical, SAR</a:t>
            </a:r>
          </a:p>
        </p:txBody>
      </p:sp>
      <p:sp>
        <p:nvSpPr>
          <p:cNvPr id="17" name="TextBox 16"/>
          <p:cNvSpPr txBox="1"/>
          <p:nvPr/>
        </p:nvSpPr>
        <p:spPr>
          <a:xfrm>
            <a:off x="548640" y="2697480"/>
            <a:ext cx="1783080" cy="274320"/>
          </a:xfrm>
          <a:prstGeom prst="rect">
            <a:avLst/>
          </a:prstGeom>
          <a:noFill/>
        </p:spPr>
        <p:txBody>
          <a:bodyPr wrap="square" anchor="t" lIns="0" rIns="0" tIns="18288" bIns="18288">
            <a:spAutoFit/>
          </a:bodyPr>
          <a:lstStyle/>
          <a:p>
            <a:pPr algn="l"/>
            <a:r>
              <a:rPr sz="919" b="1" i="0">
                <a:solidFill>
                  <a:srgbClr val="1B59A6"/>
                </a:solidFill>
                <a:latin typeface="Segoe UI"/>
              </a:rPr>
              <a:t>min / max images</a:t>
            </a:r>
          </a:p>
        </p:txBody>
      </p:sp>
      <p:sp>
        <p:nvSpPr>
          <p:cNvPr id="18" name="TextBox 17"/>
          <p:cNvSpPr txBox="1"/>
          <p:nvPr/>
        </p:nvSpPr>
        <p:spPr>
          <a:xfrm>
            <a:off x="2395728" y="2697480"/>
            <a:ext cx="3337560" cy="274320"/>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2 / 2</a:t>
            </a:r>
          </a:p>
        </p:txBody>
      </p:sp>
      <p:sp>
        <p:nvSpPr>
          <p:cNvPr id="19" name="TextBox 18"/>
          <p:cNvSpPr txBox="1"/>
          <p:nvPr/>
        </p:nvSpPr>
        <p:spPr>
          <a:xfrm>
            <a:off x="548640" y="3054096"/>
            <a:ext cx="1783080" cy="274320"/>
          </a:xfrm>
          <a:prstGeom prst="rect">
            <a:avLst/>
          </a:prstGeom>
          <a:noFill/>
        </p:spPr>
        <p:txBody>
          <a:bodyPr wrap="square" anchor="t" lIns="0" rIns="0" tIns="18288" bIns="18288">
            <a:spAutoFit/>
          </a:bodyPr>
          <a:lstStyle/>
          <a:p>
            <a:pPr algn="l"/>
            <a:r>
              <a:rPr sz="919" b="1" i="0">
                <a:solidFill>
                  <a:srgbClr val="1B59A6"/>
                </a:solidFill>
                <a:latin typeface="Segoe UI"/>
              </a:rPr>
              <a:t>requires_temporal_pair</a:t>
            </a:r>
          </a:p>
        </p:txBody>
      </p:sp>
      <p:sp>
        <p:nvSpPr>
          <p:cNvPr id="20" name="TextBox 19"/>
          <p:cNvSpPr txBox="1"/>
          <p:nvPr/>
        </p:nvSpPr>
        <p:spPr>
          <a:xfrm>
            <a:off x="2395728" y="3054096"/>
            <a:ext cx="3337560" cy="274320"/>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true</a:t>
            </a:r>
          </a:p>
        </p:txBody>
      </p:sp>
      <p:sp>
        <p:nvSpPr>
          <p:cNvPr id="21" name="TextBox 20"/>
          <p:cNvSpPr txBox="1"/>
          <p:nvPr/>
        </p:nvSpPr>
        <p:spPr>
          <a:xfrm>
            <a:off x="548640" y="3410712"/>
            <a:ext cx="1783080" cy="585216"/>
          </a:xfrm>
          <a:prstGeom prst="rect">
            <a:avLst/>
          </a:prstGeom>
          <a:noFill/>
        </p:spPr>
        <p:txBody>
          <a:bodyPr wrap="square" anchor="t" lIns="0" rIns="0" tIns="18288" bIns="18288">
            <a:spAutoFit/>
          </a:bodyPr>
          <a:lstStyle/>
          <a:p>
            <a:pPr algn="l"/>
            <a:r>
              <a:rPr sz="919" b="1" i="0">
                <a:solidFill>
                  <a:srgbClr val="1B59A6"/>
                </a:solidFill>
                <a:latin typeface="Segoe UI"/>
              </a:rPr>
              <a:t>parameters</a:t>
            </a:r>
          </a:p>
        </p:txBody>
      </p:sp>
      <p:sp>
        <p:nvSpPr>
          <p:cNvPr id="22" name="TextBox 21"/>
          <p:cNvSpPr txBox="1"/>
          <p:nvPr/>
        </p:nvSpPr>
        <p:spPr>
          <a:xfrm>
            <a:off x="2395728" y="3410712"/>
            <a:ext cx="3337560" cy="585216"/>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index, band overrides, threshold,
threshold_method, sigma_multiplier,
scale, offset, mask_band, sensor</a:t>
            </a:r>
          </a:p>
        </p:txBody>
      </p:sp>
      <p:sp>
        <p:nvSpPr>
          <p:cNvPr id="23" name="TextBox 22"/>
          <p:cNvSpPr txBox="1"/>
          <p:nvPr/>
        </p:nvSpPr>
        <p:spPr>
          <a:xfrm>
            <a:off x="548640" y="4078224"/>
            <a:ext cx="1783080" cy="274320"/>
          </a:xfrm>
          <a:prstGeom prst="rect">
            <a:avLst/>
          </a:prstGeom>
          <a:noFill/>
        </p:spPr>
        <p:txBody>
          <a:bodyPr wrap="square" anchor="t" lIns="0" rIns="0" tIns="18288" bIns="18288">
            <a:spAutoFit/>
          </a:bodyPr>
          <a:lstStyle/>
          <a:p>
            <a:pPr algn="l"/>
            <a:r>
              <a:rPr sz="919" b="1" i="0">
                <a:solidFill>
                  <a:srgbClr val="1B59A6"/>
                </a:solidFill>
                <a:latin typeface="Segoe UI"/>
              </a:rPr>
              <a:t>enabled</a:t>
            </a:r>
          </a:p>
        </p:txBody>
      </p:sp>
      <p:sp>
        <p:nvSpPr>
          <p:cNvPr id="24" name="TextBox 23"/>
          <p:cNvSpPr txBox="1"/>
          <p:nvPr/>
        </p:nvSpPr>
        <p:spPr>
          <a:xfrm>
            <a:off x="2395728" y="4078224"/>
            <a:ext cx="3337560" cy="274320"/>
          </a:xfrm>
          <a:prstGeom prst="rect">
            <a:avLst/>
          </a:prstGeom>
          <a:noFill/>
        </p:spPr>
        <p:txBody>
          <a:bodyPr wrap="square" anchor="t" lIns="0" rIns="0" tIns="18288" bIns="18288">
            <a:spAutoFit/>
          </a:bodyPr>
          <a:lstStyle/>
          <a:p>
            <a:pPr algn="l">
              <a:lnSpc>
                <a:spcPct val="110000"/>
              </a:lnSpc>
            </a:pPr>
            <a:r>
              <a:rPr sz="919" b="0" i="0">
                <a:solidFill>
                  <a:srgbClr val="151E2B"/>
                </a:solidFill>
                <a:latin typeface="Segoe UI"/>
              </a:rPr>
              <a:t>true</a:t>
            </a:r>
          </a:p>
        </p:txBody>
      </p:sp>
      <p:sp>
        <p:nvSpPr>
          <p:cNvPr id="25" name="TextBox 24"/>
          <p:cNvSpPr txBox="1"/>
          <p:nvPr/>
        </p:nvSpPr>
        <p:spPr>
          <a:xfrm>
            <a:off x="548640" y="4791456"/>
            <a:ext cx="5212080" cy="438912"/>
          </a:xfrm>
          <a:prstGeom prst="rect">
            <a:avLst/>
          </a:prstGeom>
          <a:noFill/>
        </p:spPr>
        <p:txBody>
          <a:bodyPr wrap="square" anchor="t" lIns="0" rIns="0" tIns="18288" bIns="18288">
            <a:spAutoFit/>
          </a:bodyPr>
          <a:lstStyle/>
          <a:p>
            <a:pPr algn="l">
              <a:lnSpc>
                <a:spcPct val="105000"/>
              </a:lnSpc>
            </a:pPr>
            <a:r>
              <a:rPr sz="860" b="1" i="1">
                <a:solidFill>
                  <a:srgbClr val="6B7889"/>
                </a:solidFill>
                <a:latin typeface="Segoe UI"/>
              </a:rPr>
              <a:t>The agent may call this and nothing else. Capability selection and the validation gate both read from here.</a:t>
            </a:r>
          </a:p>
        </p:txBody>
      </p:sp>
      <p:sp>
        <p:nvSpPr>
          <p:cNvPr id="26" name="Rectangle 25"/>
          <p:cNvSpPr/>
          <p:nvPr/>
        </p:nvSpPr>
        <p:spPr>
          <a:xfrm>
            <a:off x="6291072"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19088" y="768096"/>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THE GATE, IN PRACTICE</a:t>
            </a:r>
          </a:p>
        </p:txBody>
      </p:sp>
      <p:sp>
        <p:nvSpPr>
          <p:cNvPr id="28" name="Rounded Rectangle 27"/>
          <p:cNvSpPr/>
          <p:nvPr/>
        </p:nvSpPr>
        <p:spPr>
          <a:xfrm>
            <a:off x="6291072" y="1060704"/>
            <a:ext cx="5516575" cy="566928"/>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364224" y="1143000"/>
            <a:ext cx="347472" cy="402336"/>
          </a:xfrm>
          <a:prstGeom prst="roundRect">
            <a:avLst>
              <a:gd name="adj" fmla="val 14000"/>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FFFFFF"/>
                </a:solidFill>
                <a:latin typeface="Segoe UI"/>
              </a:rPr>
              <a:t>✓</a:t>
            </a:r>
          </a:p>
        </p:txBody>
      </p:sp>
      <p:sp>
        <p:nvSpPr>
          <p:cNvPr id="30" name="TextBox 29"/>
          <p:cNvSpPr txBox="1"/>
          <p:nvPr/>
        </p:nvSpPr>
        <p:spPr>
          <a:xfrm>
            <a:off x="6803136" y="1060704"/>
            <a:ext cx="4858207" cy="566928"/>
          </a:xfrm>
          <a:prstGeom prst="rect">
            <a:avLst/>
          </a:prstGeom>
          <a:noFill/>
        </p:spPr>
        <p:txBody>
          <a:bodyPr wrap="square" anchor="ctr" lIns="0" rIns="0" tIns="18288" bIns="18288">
            <a:spAutoFit/>
          </a:bodyPr>
          <a:lstStyle/>
          <a:p>
            <a:pPr algn="l">
              <a:lnSpc>
                <a:spcPct val="95000"/>
              </a:lnSpc>
            </a:pPr>
            <a:r>
              <a:rPr sz="930" b="1" i="0">
                <a:solidFill>
                  <a:srgbClr val="151E2B"/>
                </a:solidFill>
                <a:latin typeface="Segoe UI"/>
              </a:rPr>
              <a:t>Two images supplied?</a:t>
            </a:r>
          </a:p>
          <a:p>
            <a:pPr algn="l">
              <a:lnSpc>
                <a:spcPct val="95000"/>
              </a:lnSpc>
            </a:pPr>
            <a:r>
              <a:rPr sz="780" b="0" i="0">
                <a:solidFill>
                  <a:srgbClr val="6B7889"/>
                </a:solidFill>
                <a:latin typeface="Segoe UI"/>
              </a:rPr>
              <a:t>count checked against min/max from the registry</a:t>
            </a:r>
          </a:p>
        </p:txBody>
      </p:sp>
      <p:sp>
        <p:nvSpPr>
          <p:cNvPr id="31" name="Rounded Rectangle 30"/>
          <p:cNvSpPr/>
          <p:nvPr/>
        </p:nvSpPr>
        <p:spPr>
          <a:xfrm>
            <a:off x="6291072" y="1709928"/>
            <a:ext cx="5516575" cy="566928"/>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364224" y="1792224"/>
            <a:ext cx="347472" cy="402336"/>
          </a:xfrm>
          <a:prstGeom prst="roundRect">
            <a:avLst>
              <a:gd name="adj" fmla="val 14000"/>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FFFFFF"/>
                </a:solidFill>
                <a:latin typeface="Segoe UI"/>
              </a:rPr>
              <a:t>✓</a:t>
            </a:r>
          </a:p>
        </p:txBody>
      </p:sp>
      <p:sp>
        <p:nvSpPr>
          <p:cNvPr id="33" name="TextBox 32"/>
          <p:cNvSpPr txBox="1"/>
          <p:nvPr/>
        </p:nvSpPr>
        <p:spPr>
          <a:xfrm>
            <a:off x="6803136" y="1709928"/>
            <a:ext cx="4858207" cy="566928"/>
          </a:xfrm>
          <a:prstGeom prst="rect">
            <a:avLst/>
          </a:prstGeom>
          <a:noFill/>
        </p:spPr>
        <p:txBody>
          <a:bodyPr wrap="square" anchor="ctr" lIns="0" rIns="0" tIns="18288" bIns="18288">
            <a:spAutoFit/>
          </a:bodyPr>
          <a:lstStyle/>
          <a:p>
            <a:pPr algn="l">
              <a:lnSpc>
                <a:spcPct val="95000"/>
              </a:lnSpc>
            </a:pPr>
            <a:r>
              <a:rPr sz="930" b="1" i="0">
                <a:solidFill>
                  <a:srgbClr val="151E2B"/>
                </a:solidFill>
                <a:latin typeface="Segoe UI"/>
              </a:rPr>
              <a:t>Both optical?</a:t>
            </a:r>
          </a:p>
          <a:p>
            <a:pPr algn="l">
              <a:lnSpc>
                <a:spcPct val="95000"/>
              </a:lnSpc>
            </a:pPr>
            <a:r>
              <a:rPr sz="780" b="0" i="0">
                <a:solidFill>
                  <a:srgbClr val="6B7889"/>
                </a:solidFill>
                <a:latin typeface="Segoe UI"/>
              </a:rPr>
              <a:t>modality read from metadata, compared to the contract</a:t>
            </a:r>
          </a:p>
        </p:txBody>
      </p:sp>
      <p:sp>
        <p:nvSpPr>
          <p:cNvPr id="34" name="Rounded Rectangle 33"/>
          <p:cNvSpPr/>
          <p:nvPr/>
        </p:nvSpPr>
        <p:spPr>
          <a:xfrm>
            <a:off x="6291072" y="2359152"/>
            <a:ext cx="5516575" cy="566928"/>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364224" y="2441448"/>
            <a:ext cx="347472" cy="402336"/>
          </a:xfrm>
          <a:prstGeom prst="roundRect">
            <a:avLst>
              <a:gd name="adj" fmla="val 14000"/>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FFFFFF"/>
                </a:solidFill>
                <a:latin typeface="Segoe UI"/>
              </a:rPr>
              <a:t>✓</a:t>
            </a:r>
          </a:p>
        </p:txBody>
      </p:sp>
      <p:sp>
        <p:nvSpPr>
          <p:cNvPr id="36" name="TextBox 35"/>
          <p:cNvSpPr txBox="1"/>
          <p:nvPr/>
        </p:nvSpPr>
        <p:spPr>
          <a:xfrm>
            <a:off x="6803136" y="2359152"/>
            <a:ext cx="4858207" cy="566928"/>
          </a:xfrm>
          <a:prstGeom prst="rect">
            <a:avLst/>
          </a:prstGeom>
          <a:noFill/>
        </p:spPr>
        <p:txBody>
          <a:bodyPr wrap="square" anchor="ctr" lIns="0" rIns="0" tIns="18288" bIns="18288">
            <a:spAutoFit/>
          </a:bodyPr>
          <a:lstStyle/>
          <a:p>
            <a:pPr algn="l">
              <a:lnSpc>
                <a:spcPct val="95000"/>
              </a:lnSpc>
            </a:pPr>
            <a:r>
              <a:rPr sz="930" b="1" i="0">
                <a:solidFill>
                  <a:srgbClr val="151E2B"/>
                </a:solidFill>
                <a:latin typeface="Segoe UI"/>
              </a:rPr>
              <a:t>RED and NIR present?</a:t>
            </a:r>
          </a:p>
          <a:p>
            <a:pPr algn="l">
              <a:lnSpc>
                <a:spcPct val="95000"/>
              </a:lnSpc>
            </a:pPr>
            <a:r>
              <a:rPr sz="780" b="0" i="0">
                <a:solidFill>
                  <a:srgbClr val="6B7889"/>
                </a:solidFill>
                <a:latin typeface="Segoe UI"/>
              </a:rPr>
              <a:t>band names canonicalised first, so B4 ≡ red ≡ B04</a:t>
            </a:r>
          </a:p>
        </p:txBody>
      </p:sp>
      <p:sp>
        <p:nvSpPr>
          <p:cNvPr id="37" name="Rounded Rectangle 36"/>
          <p:cNvSpPr/>
          <p:nvPr/>
        </p:nvSpPr>
        <p:spPr>
          <a:xfrm>
            <a:off x="6291072" y="3008376"/>
            <a:ext cx="5516575" cy="566928"/>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364224" y="3090672"/>
            <a:ext cx="347472" cy="402336"/>
          </a:xfrm>
          <a:prstGeom prst="roundRect">
            <a:avLst>
              <a:gd name="adj" fmla="val 14000"/>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FFFFFF"/>
                </a:solidFill>
                <a:latin typeface="Segoe UI"/>
              </a:rPr>
              <a:t>✓</a:t>
            </a:r>
          </a:p>
        </p:txBody>
      </p:sp>
      <p:sp>
        <p:nvSpPr>
          <p:cNvPr id="39" name="TextBox 38"/>
          <p:cNvSpPr txBox="1"/>
          <p:nvPr/>
        </p:nvSpPr>
        <p:spPr>
          <a:xfrm>
            <a:off x="6803136" y="3008376"/>
            <a:ext cx="4858207" cy="566928"/>
          </a:xfrm>
          <a:prstGeom prst="rect">
            <a:avLst/>
          </a:prstGeom>
          <a:noFill/>
        </p:spPr>
        <p:txBody>
          <a:bodyPr wrap="square" anchor="ctr" lIns="0" rIns="0" tIns="18288" bIns="18288">
            <a:spAutoFit/>
          </a:bodyPr>
          <a:lstStyle/>
          <a:p>
            <a:pPr algn="l">
              <a:lnSpc>
                <a:spcPct val="95000"/>
              </a:lnSpc>
            </a:pPr>
            <a:r>
              <a:rPr sz="930" b="1" i="0">
                <a:solidFill>
                  <a:srgbClr val="151E2B"/>
                </a:solidFill>
                <a:latin typeface="Segoe UI"/>
              </a:rPr>
              <a:t>Acquisition dates present and different?</a:t>
            </a:r>
          </a:p>
          <a:p>
            <a:pPr algn="l">
              <a:lnSpc>
                <a:spcPct val="95000"/>
              </a:lnSpc>
            </a:pPr>
            <a:r>
              <a:rPr sz="780" b="0" i="0">
                <a:solidFill>
                  <a:srgbClr val="6B7889"/>
                </a:solidFill>
                <a:latin typeface="Segoe UI"/>
              </a:rPr>
              <a:t>a “change” between one date and itself is refused</a:t>
            </a:r>
          </a:p>
        </p:txBody>
      </p:sp>
      <p:sp>
        <p:nvSpPr>
          <p:cNvPr id="40" name="Rounded Rectangle 39"/>
          <p:cNvSpPr/>
          <p:nvPr/>
        </p:nvSpPr>
        <p:spPr>
          <a:xfrm>
            <a:off x="6291072" y="3657600"/>
            <a:ext cx="5516575" cy="566928"/>
          </a:xfrm>
          <a:prstGeom prst="roundRect">
            <a:avLst>
              <a:gd name="adj" fmla="val 14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364224" y="3739896"/>
            <a:ext cx="347472" cy="402336"/>
          </a:xfrm>
          <a:prstGeom prst="roundRect">
            <a:avLst>
              <a:gd name="adj" fmla="val 14000"/>
            </a:avLst>
          </a:prstGeom>
          <a:solidFill>
            <a:srgbClr val="1B7A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200" b="1" i="0">
                <a:solidFill>
                  <a:srgbClr val="FFFFFF"/>
                </a:solidFill>
                <a:latin typeface="Segoe UI"/>
              </a:rPr>
              <a:t>✓</a:t>
            </a:r>
          </a:p>
        </p:txBody>
      </p:sp>
      <p:sp>
        <p:nvSpPr>
          <p:cNvPr id="42" name="TextBox 41"/>
          <p:cNvSpPr txBox="1"/>
          <p:nvPr/>
        </p:nvSpPr>
        <p:spPr>
          <a:xfrm>
            <a:off x="6803136" y="3657600"/>
            <a:ext cx="4858207" cy="566928"/>
          </a:xfrm>
          <a:prstGeom prst="rect">
            <a:avLst/>
          </a:prstGeom>
          <a:noFill/>
        </p:spPr>
        <p:txBody>
          <a:bodyPr wrap="square" anchor="ctr" lIns="0" rIns="0" tIns="18288" bIns="18288">
            <a:spAutoFit/>
          </a:bodyPr>
          <a:lstStyle/>
          <a:p>
            <a:pPr algn="l">
              <a:lnSpc>
                <a:spcPct val="95000"/>
              </a:lnSpc>
            </a:pPr>
            <a:r>
              <a:rPr sz="930" b="1" i="0">
                <a:solidFill>
                  <a:srgbClr val="151E2B"/>
                </a:solidFill>
                <a:latin typeface="Segoe UI"/>
              </a:rPr>
              <a:t>Same CRS, grid, pixel size and origin?</a:t>
            </a:r>
          </a:p>
          <a:p>
            <a:pPr algn="l">
              <a:lnSpc>
                <a:spcPct val="95000"/>
              </a:lnSpc>
            </a:pPr>
            <a:r>
              <a:rPr sz="780" b="0" i="0">
                <a:solidFill>
                  <a:srgbClr val="6B7889"/>
                </a:solidFill>
                <a:latin typeface="Segoe UI"/>
              </a:rPr>
              <a:t>checked before arithmetic — refuses, never silently resamples</a:t>
            </a:r>
          </a:p>
        </p:txBody>
      </p:sp>
      <p:sp>
        <p:nvSpPr>
          <p:cNvPr id="43" name="Rounded Rectangle 42"/>
          <p:cNvSpPr/>
          <p:nvPr/>
        </p:nvSpPr>
        <p:spPr>
          <a:xfrm>
            <a:off x="6291072" y="4306824"/>
            <a:ext cx="5516575" cy="1005840"/>
          </a:xfrm>
          <a:prstGeom prst="roundRect">
            <a:avLst>
              <a:gd name="adj" fmla="val 14000"/>
            </a:avLst>
          </a:prstGeom>
          <a:solidFill>
            <a:srgbClr val="FBE8E6"/>
          </a:solidFill>
          <a:ln w="15240">
            <a:solidFill>
              <a:srgbClr val="B33328"/>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8288" bIns="18288"/>
          <a:lstStyle/>
          <a:p>
            <a:pPr algn="l">
              <a:lnSpc>
                <a:spcPct val="95000"/>
              </a:lnSpc>
            </a:pPr>
            <a:r>
              <a:rPr sz="1000" b="1" i="0">
                <a:solidFill>
                  <a:srgbClr val="B33328"/>
                </a:solidFill>
                <a:latin typeface="Segoe UI"/>
              </a:rPr>
              <a:t>When a check fails</a:t>
            </a:r>
          </a:p>
          <a:p>
            <a:pPr algn="l">
              <a:lnSpc>
                <a:spcPct val="110000"/>
              </a:lnSpc>
              <a:spcBef>
                <a:spcPts val="400"/>
              </a:spcBef>
            </a:pPr>
            <a:r>
              <a:rPr sz="880" b="0" i="0">
                <a:solidFill>
                  <a:srgbClr val="151E2B"/>
                </a:solidFill>
                <a:latin typeface="Segoe UI"/>
              </a:rPr>
              <a:t>The run stops before execution and returns the failing check, the field it applies to and a machine-readable error code — so the user is told what to fix, and a re-plan has something concrete to act on.</a:t>
            </a:r>
          </a:p>
        </p:txBody>
      </p:sp>
      <p:sp>
        <p:nvSpPr>
          <p:cNvPr id="44" name="Rounded Rectangle 43"/>
          <p:cNvSpPr/>
          <p:nvPr/>
        </p:nvSpPr>
        <p:spPr>
          <a:xfrm>
            <a:off x="384048" y="5449824"/>
            <a:ext cx="11423599" cy="1042415"/>
          </a:xfrm>
          <a:prstGeom prst="roundRect">
            <a:avLst>
              <a:gd name="adj" fmla="val 1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lstStyle/>
          <a:p>
            <a:pPr algn="l">
              <a:lnSpc>
                <a:spcPct val="95000"/>
              </a:lnSpc>
            </a:pPr>
            <a:r>
              <a:rPr sz="1050" b="1" i="0">
                <a:solidFill>
                  <a:srgbClr val="F58220"/>
                </a:solidFill>
                <a:latin typeface="Segoe UI"/>
              </a:rPr>
              <a:t>Declared ≠ implemented</a:t>
            </a:r>
          </a:p>
          <a:p>
            <a:pPr algn="l">
              <a:lnSpc>
                <a:spcPct val="110000"/>
              </a:lnSpc>
              <a:spcBef>
                <a:spcPts val="400"/>
              </a:spcBef>
            </a:pPr>
            <a:r>
              <a:rPr sz="900" b="0" i="0">
                <a:solidFill>
                  <a:srgbClr val="B9C7DB"/>
                </a:solidFill>
                <a:latin typeface="Segoe UI"/>
              </a:rPr>
              <a:t>Four of the eight registered capabilities have real implementations bound today. The other four are declared contracts with no binding — and the executor reports exactly that instead of returning a placeholder result. Being honest about what actually runs is part of the design, not a gap in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Appendix — Interface, demo and code</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8</a:t>
            </a:r>
          </a:p>
        </p:txBody>
      </p:sp>
      <p:sp>
        <p:nvSpPr>
          <p:cNvPr id="7" name="Rectangle 6"/>
          <p:cNvSpPr/>
          <p:nvPr/>
        </p:nvSpPr>
        <p:spPr>
          <a:xfrm>
            <a:off x="384048"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 y="768096"/>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WEB INTERFACE</a:t>
            </a:r>
          </a:p>
        </p:txBody>
      </p:sp>
      <p:sp>
        <p:nvSpPr>
          <p:cNvPr id="9" name="Rounded Rectangle 8"/>
          <p:cNvSpPr/>
          <p:nvPr/>
        </p:nvSpPr>
        <p:spPr>
          <a:xfrm>
            <a:off x="384048" y="1060704"/>
            <a:ext cx="7452360" cy="5038344"/>
          </a:xfrm>
          <a:prstGeom prst="roundRect">
            <a:avLst>
              <a:gd name="adj" fmla="val 3000"/>
            </a:avLst>
          </a:prstGeom>
          <a:solidFill>
            <a:srgbClr val="F1F4F8"/>
          </a:solidFill>
          <a:ln w="1905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500" b="1" i="0">
                <a:solidFill>
                  <a:srgbClr val="6B7889"/>
                </a:solidFill>
                <a:latin typeface="Segoe UI"/>
              </a:rPr>
              <a:t>[  INSERT WEB INTERFACE SCREENSHOT  ]</a:t>
            </a:r>
          </a:p>
          <a:p>
            <a:pPr algn="ctr">
              <a:spcBef>
                <a:spcPts val="800"/>
              </a:spcBef>
            </a:pPr>
            <a:r>
              <a:rPr sz="900" b="0" i="0">
                <a:solidFill>
                  <a:srgbClr val="6B7889"/>
                </a:solidFill>
                <a:latin typeface="Segoe UI"/>
              </a:rPr>
              <a:t>query box  ·  uploaded scenes  ·  validation verdict  ·  workflow trace  ·  result map and statistics</a:t>
            </a:r>
          </a:p>
        </p:txBody>
      </p:sp>
      <p:sp>
        <p:nvSpPr>
          <p:cNvPr id="10" name="Rectangle 9"/>
          <p:cNvSpPr/>
          <p:nvPr/>
        </p:nvSpPr>
        <p:spPr>
          <a:xfrm>
            <a:off x="8092440"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0456" y="768096"/>
            <a:ext cx="3657600" cy="237744"/>
          </a:xfrm>
          <a:prstGeom prst="rect">
            <a:avLst/>
          </a:prstGeom>
          <a:noFill/>
        </p:spPr>
        <p:txBody>
          <a:bodyPr wrap="square" anchor="ctr" lIns="0" rIns="0" tIns="18288" bIns="18288">
            <a:spAutoFit/>
          </a:bodyPr>
          <a:lstStyle/>
          <a:p>
            <a:pPr algn="l"/>
            <a:r>
              <a:rPr sz="1250" b="1" i="0">
                <a:solidFill>
                  <a:srgbClr val="0B2545"/>
                </a:solidFill>
                <a:latin typeface="Segoe UI"/>
              </a:rPr>
              <a:t>SAMPLE OUTPUTS</a:t>
            </a:r>
          </a:p>
        </p:txBody>
      </p:sp>
      <p:sp>
        <p:nvSpPr>
          <p:cNvPr id="12" name="Rounded Rectangle 11"/>
          <p:cNvSpPr/>
          <p:nvPr/>
        </p:nvSpPr>
        <p:spPr>
          <a:xfrm>
            <a:off x="8092440" y="1060704"/>
            <a:ext cx="3715207" cy="1298448"/>
          </a:xfrm>
          <a:prstGeom prst="roundRect">
            <a:avLst>
              <a:gd name="adj" fmla="val 5000"/>
            </a:avLst>
          </a:prstGeom>
          <a:solidFill>
            <a:srgbClr val="F1F4F8"/>
          </a:solidFill>
          <a:ln w="1524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i="0">
                <a:solidFill>
                  <a:srgbClr val="6B7889"/>
                </a:solidFill>
                <a:latin typeface="Segoe UI"/>
              </a:rPr>
              <a:t>[ NDVI RASTER OUTPUT ]</a:t>
            </a:r>
          </a:p>
        </p:txBody>
      </p:sp>
      <p:sp>
        <p:nvSpPr>
          <p:cNvPr id="13" name="Rounded Rectangle 12"/>
          <p:cNvSpPr/>
          <p:nvPr/>
        </p:nvSpPr>
        <p:spPr>
          <a:xfrm>
            <a:off x="8092440" y="2487168"/>
            <a:ext cx="3715207" cy="1298448"/>
          </a:xfrm>
          <a:prstGeom prst="roundRect">
            <a:avLst>
              <a:gd name="adj" fmla="val 5000"/>
            </a:avLst>
          </a:prstGeom>
          <a:solidFill>
            <a:srgbClr val="F1F4F8"/>
          </a:solidFill>
          <a:ln w="15240">
            <a:solidFill>
              <a:srgbClr val="C6CF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1" i="0">
                <a:solidFill>
                  <a:srgbClr val="6B7889"/>
                </a:solidFill>
                <a:latin typeface="Segoe UI"/>
              </a:rPr>
              <a:t>[ CHANGE HOTSPOT MAP ]</a:t>
            </a:r>
          </a:p>
        </p:txBody>
      </p:sp>
      <p:sp>
        <p:nvSpPr>
          <p:cNvPr id="14" name="Rectangle 13"/>
          <p:cNvSpPr/>
          <p:nvPr/>
        </p:nvSpPr>
        <p:spPr>
          <a:xfrm>
            <a:off x="8092440" y="3973068"/>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0456" y="3931920"/>
            <a:ext cx="3657600" cy="237744"/>
          </a:xfrm>
          <a:prstGeom prst="rect">
            <a:avLst/>
          </a:prstGeom>
          <a:noFill/>
        </p:spPr>
        <p:txBody>
          <a:bodyPr wrap="square" anchor="ctr" lIns="0" rIns="0" tIns="18288" bIns="18288">
            <a:spAutoFit/>
          </a:bodyPr>
          <a:lstStyle/>
          <a:p>
            <a:pPr algn="l"/>
            <a:r>
              <a:rPr sz="1250" b="1" i="0">
                <a:solidFill>
                  <a:srgbClr val="0B2545"/>
                </a:solidFill>
                <a:latin typeface="Segoe UI"/>
              </a:rPr>
              <a:t>CODE AND DEMO</a:t>
            </a:r>
          </a:p>
        </p:txBody>
      </p:sp>
      <p:sp>
        <p:nvSpPr>
          <p:cNvPr id="16" name="Rounded Rectangle 15"/>
          <p:cNvSpPr/>
          <p:nvPr/>
        </p:nvSpPr>
        <p:spPr>
          <a:xfrm>
            <a:off x="8092440" y="4224528"/>
            <a:ext cx="3715207" cy="1874519"/>
          </a:xfrm>
          <a:prstGeom prst="roundRect">
            <a:avLst>
              <a:gd name="adj" fmla="val 1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238744" y="4370832"/>
            <a:ext cx="11887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1" i="0">
                <a:solidFill>
                  <a:srgbClr val="6B7889"/>
                </a:solidFill>
                <a:latin typeface="Segoe UI"/>
              </a:rPr>
              <a:t>[ QR ]</a:t>
            </a:r>
          </a:p>
        </p:txBody>
      </p:sp>
      <p:sp>
        <p:nvSpPr>
          <p:cNvPr id="18" name="TextBox 17"/>
          <p:cNvSpPr txBox="1"/>
          <p:nvPr/>
        </p:nvSpPr>
        <p:spPr>
          <a:xfrm>
            <a:off x="9573767" y="4389120"/>
            <a:ext cx="2087575" cy="1691640"/>
          </a:xfrm>
          <a:prstGeom prst="rect">
            <a:avLst/>
          </a:prstGeom>
          <a:noFill/>
        </p:spPr>
        <p:txBody>
          <a:bodyPr wrap="square" anchor="t" lIns="0" rIns="0" tIns="18288" bIns="18288">
            <a:spAutoFit/>
          </a:bodyPr>
          <a:lstStyle/>
          <a:p>
            <a:pPr algn="l"/>
            <a:r>
              <a:rPr sz="800" b="1" i="0">
                <a:solidFill>
                  <a:srgbClr val="F58220"/>
                </a:solidFill>
                <a:latin typeface="Segoe UI"/>
              </a:rPr>
              <a:t>GITHUB</a:t>
            </a:r>
          </a:p>
          <a:p>
            <a:pPr algn="l">
              <a:lnSpc>
                <a:spcPct val="105000"/>
              </a:lnSpc>
            </a:pPr>
            <a:r>
              <a:rPr sz="900" b="1" i="0">
                <a:solidFill>
                  <a:srgbClr val="FFFFFF"/>
                </a:solidFill>
                <a:latin typeface="Segoe UI"/>
              </a:rPr>
              <a:t>github.com/VinayakGupta-1/
SatQuery-AI</a:t>
            </a:r>
          </a:p>
          <a:p>
            <a:pPr algn="l">
              <a:spcBef>
                <a:spcPts val="800"/>
              </a:spcBef>
            </a:pPr>
            <a:r>
              <a:rPr sz="800" b="1" i="0">
                <a:solidFill>
                  <a:srgbClr val="F58220"/>
                </a:solidFill>
                <a:latin typeface="Segoe UI"/>
              </a:rPr>
              <a:t>LIVE DEMO</a:t>
            </a:r>
          </a:p>
          <a:p>
            <a:pPr algn="l">
              <a:lnSpc>
                <a:spcPct val="105000"/>
              </a:lnSpc>
            </a:pPr>
            <a:r>
              <a:rPr sz="900" b="1" i="0">
                <a:solidFill>
                  <a:srgbClr val="FFFFFF"/>
                </a:solidFill>
                <a:latin typeface="Segoe UI"/>
              </a:rPr>
              <a:t>[ INSERT WEB DEMO LINK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548640"/>
            <a:ext cx="12191695" cy="50292"/>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84048" y="18288"/>
            <a:ext cx="7863840" cy="512064"/>
          </a:xfrm>
          <a:prstGeom prst="rect">
            <a:avLst/>
          </a:prstGeom>
          <a:noFill/>
        </p:spPr>
        <p:txBody>
          <a:bodyPr wrap="square" anchor="ctr" lIns="0" rIns="0" tIns="18288" bIns="18288">
            <a:spAutoFit/>
          </a:bodyPr>
          <a:lstStyle/>
          <a:p>
            <a:pPr algn="l"/>
            <a:r>
              <a:rPr sz="2100" b="1" i="0">
                <a:solidFill>
                  <a:srgbClr val="FFFFFF"/>
                </a:solidFill>
                <a:latin typeface="Segoe UI"/>
              </a:rPr>
              <a:t>Appendix — Scaling beyond the current implementation</a:t>
            </a:r>
          </a:p>
        </p:txBody>
      </p:sp>
      <p:sp>
        <p:nvSpPr>
          <p:cNvPr id="5" name="TextBox 4"/>
          <p:cNvSpPr txBox="1"/>
          <p:nvPr/>
        </p:nvSpPr>
        <p:spPr>
          <a:xfrm>
            <a:off x="7498079" y="18288"/>
            <a:ext cx="4309567" cy="512064"/>
          </a:xfrm>
          <a:prstGeom prst="rect">
            <a:avLst/>
          </a:prstGeom>
          <a:noFill/>
        </p:spPr>
        <p:txBody>
          <a:bodyPr wrap="square" anchor="ctr" lIns="0" rIns="0" tIns="18288" bIns="18288">
            <a:spAutoFit/>
          </a:bodyPr>
          <a:lstStyle/>
          <a:p>
            <a:pPr algn="r"/>
            <a:r>
              <a:rPr sz="950" b="0" i="0">
                <a:solidFill>
                  <a:srgbClr val="B9C7DB"/>
                </a:solidFill>
                <a:latin typeface="Segoe UI"/>
              </a:rPr>
              <a:t>SIH 2026   ·   SatQuery AI   ·   PS SIH26167</a:t>
            </a:r>
          </a:p>
        </p:txBody>
      </p:sp>
      <p:sp>
        <p:nvSpPr>
          <p:cNvPr id="6" name="TextBox 5"/>
          <p:cNvSpPr txBox="1"/>
          <p:nvPr/>
        </p:nvSpPr>
        <p:spPr>
          <a:xfrm>
            <a:off x="11094415" y="6528816"/>
            <a:ext cx="731520" cy="219456"/>
          </a:xfrm>
          <a:prstGeom prst="rect">
            <a:avLst/>
          </a:prstGeom>
          <a:noFill/>
        </p:spPr>
        <p:txBody>
          <a:bodyPr wrap="square" anchor="ctr" lIns="0" rIns="0" tIns="18288" bIns="18288">
            <a:spAutoFit/>
          </a:bodyPr>
          <a:lstStyle/>
          <a:p>
            <a:pPr algn="r"/>
            <a:r>
              <a:rPr sz="900" b="0" i="0">
                <a:solidFill>
                  <a:srgbClr val="6B7889"/>
                </a:solidFill>
                <a:latin typeface="Segoe UI"/>
              </a:rPr>
              <a:t>9</a:t>
            </a:r>
          </a:p>
        </p:txBody>
      </p:sp>
      <p:sp>
        <p:nvSpPr>
          <p:cNvPr id="7" name="Rectangle 6"/>
          <p:cNvSpPr/>
          <p:nvPr/>
        </p:nvSpPr>
        <p:spPr>
          <a:xfrm>
            <a:off x="384048" y="809244"/>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12064" y="768096"/>
            <a:ext cx="5486400" cy="237744"/>
          </a:xfrm>
          <a:prstGeom prst="rect">
            <a:avLst/>
          </a:prstGeom>
          <a:noFill/>
        </p:spPr>
        <p:txBody>
          <a:bodyPr wrap="square" anchor="ctr" lIns="0" rIns="0" tIns="18288" bIns="18288">
            <a:spAutoFit/>
          </a:bodyPr>
          <a:lstStyle/>
          <a:p>
            <a:pPr algn="l"/>
            <a:r>
              <a:rPr sz="1250" b="1" i="0">
                <a:solidFill>
                  <a:srgbClr val="0B2545"/>
                </a:solidFill>
                <a:latin typeface="Segoe UI"/>
              </a:rPr>
              <a:t>WHAT GROWS, STAGE BY STAGE</a:t>
            </a:r>
          </a:p>
        </p:txBody>
      </p:sp>
      <p:sp>
        <p:nvSpPr>
          <p:cNvPr id="9" name="Rounded Rectangle 8"/>
          <p:cNvSpPr/>
          <p:nvPr/>
        </p:nvSpPr>
        <p:spPr>
          <a:xfrm>
            <a:off x="384048" y="1060704"/>
            <a:ext cx="2691307" cy="1737360"/>
          </a:xfrm>
          <a:prstGeom prst="roundRect">
            <a:avLst>
              <a:gd name="adj" fmla="val 14000"/>
            </a:avLst>
          </a:prstGeom>
          <a:solidFill>
            <a:srgbClr val="E3F3EA"/>
          </a:solidFill>
          <a:ln w="13970">
            <a:solidFill>
              <a:srgbClr val="1B7A4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8288" bIns="18288"/>
          <a:lstStyle/>
          <a:p>
            <a:pPr algn="l"/>
            <a:r>
              <a:rPr sz="850" b="1" i="0">
                <a:solidFill>
                  <a:srgbClr val="1B7A4B"/>
                </a:solidFill>
                <a:latin typeface="Segoe UI"/>
              </a:rPr>
              <a:t>NOW</a:t>
            </a:r>
          </a:p>
          <a:p>
            <a:pPr algn="l">
              <a:lnSpc>
                <a:spcPct val="95000"/>
              </a:lnSpc>
              <a:spcBef>
                <a:spcPts val="300"/>
              </a:spcBef>
            </a:pPr>
            <a:r>
              <a:rPr sz="1350" b="1" i="0">
                <a:solidFill>
                  <a:srgbClr val="151E2B"/>
                </a:solidFill>
                <a:latin typeface="Segoe UI"/>
              </a:rPr>
              <a:t>Deterministic core</a:t>
            </a:r>
          </a:p>
          <a:p>
            <a:pPr algn="l">
              <a:lnSpc>
                <a:spcPct val="112000"/>
              </a:lnSpc>
              <a:spcBef>
                <a:spcPts val="600"/>
              </a:spcBef>
            </a:pPr>
            <a:r>
              <a:rPr sz="900" b="0" i="0">
                <a:solidFill>
                  <a:srgbClr val="151E2B"/>
                </a:solidFill>
                <a:latin typeface="Segoe UI"/>
              </a:rPr>
              <a:t>Ten-stage pipeline, registry, validator and four executing remote-sensing tools, covered by 326 passing tests.</a:t>
            </a:r>
          </a:p>
        </p:txBody>
      </p:sp>
      <p:sp>
        <p:nvSpPr>
          <p:cNvPr id="10" name="Right Arrow 9"/>
          <p:cNvSpPr/>
          <p:nvPr/>
        </p:nvSpPr>
        <p:spPr>
          <a:xfrm>
            <a:off x="3093643" y="1860803"/>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94811" y="1060704"/>
            <a:ext cx="2691307" cy="1737360"/>
          </a:xfrm>
          <a:prstGeom prst="roundRect">
            <a:avLst>
              <a:gd name="adj" fmla="val 14000"/>
            </a:avLst>
          </a:prstGeom>
          <a:solidFill>
            <a:srgbClr val="FDF4DC"/>
          </a:solidFill>
          <a:ln w="13970">
            <a:solidFill>
              <a:srgbClr val="A97300"/>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8288" bIns="18288"/>
          <a:lstStyle/>
          <a:p>
            <a:pPr algn="l"/>
            <a:r>
              <a:rPr sz="850" b="1" i="0">
                <a:solidFill>
                  <a:srgbClr val="A97300"/>
                </a:solidFill>
                <a:latin typeface="Segoe UI"/>
              </a:rPr>
              <a:t>INTEGRATING</a:t>
            </a:r>
          </a:p>
          <a:p>
            <a:pPr algn="l">
              <a:lnSpc>
                <a:spcPct val="95000"/>
              </a:lnSpc>
              <a:spcBef>
                <a:spcPts val="300"/>
              </a:spcBef>
            </a:pPr>
            <a:r>
              <a:rPr sz="1350" b="1" i="0">
                <a:solidFill>
                  <a:srgbClr val="151E2B"/>
                </a:solidFill>
                <a:latin typeface="Segoe UI"/>
              </a:rPr>
              <a:t>Reasoning layer</a:t>
            </a:r>
          </a:p>
          <a:p>
            <a:pPr algn="l">
              <a:lnSpc>
                <a:spcPct val="112000"/>
              </a:lnSpc>
              <a:spcBef>
                <a:spcPts val="600"/>
              </a:spcBef>
            </a:pPr>
            <a:r>
              <a:rPr sz="900" b="0" i="0">
                <a:solidFill>
                  <a:srgbClr val="151E2B"/>
                </a:solidFill>
                <a:latin typeface="Segoe UI"/>
              </a:rPr>
              <a:t>An LLM proposes the interpretation, decomposition and parameters. The registry and validator keep their veto over everything it proposes.</a:t>
            </a:r>
          </a:p>
        </p:txBody>
      </p:sp>
      <p:sp>
        <p:nvSpPr>
          <p:cNvPr id="12" name="Right Arrow 11"/>
          <p:cNvSpPr/>
          <p:nvPr/>
        </p:nvSpPr>
        <p:spPr>
          <a:xfrm>
            <a:off x="6004407" y="1860803"/>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05575" y="1060704"/>
            <a:ext cx="2691307" cy="1737360"/>
          </a:xfrm>
          <a:prstGeom prst="roundRect">
            <a:avLst>
              <a:gd name="adj" fmla="val 14000"/>
            </a:avLst>
          </a:prstGeom>
          <a:solidFill>
            <a:srgbClr val="E7EEF8"/>
          </a:solidFill>
          <a:ln w="13970">
            <a:solidFill>
              <a:srgbClr val="1B59A6"/>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8288" bIns="18288"/>
          <a:lstStyle/>
          <a:p>
            <a:pPr algn="l"/>
            <a:r>
              <a:rPr sz="850" b="1" i="0">
                <a:solidFill>
                  <a:srgbClr val="1B59A6"/>
                </a:solidFill>
                <a:latin typeface="Segoe UI"/>
              </a:rPr>
              <a:t>NEXT</a:t>
            </a:r>
          </a:p>
          <a:p>
            <a:pPr algn="l">
              <a:lnSpc>
                <a:spcPct val="95000"/>
              </a:lnSpc>
              <a:spcBef>
                <a:spcPts val="300"/>
              </a:spcBef>
            </a:pPr>
            <a:r>
              <a:rPr sz="1350" b="1" i="0">
                <a:solidFill>
                  <a:srgbClr val="151E2B"/>
                </a:solidFill>
                <a:latin typeface="Segoe UI"/>
              </a:rPr>
              <a:t>Specialist model tier</a:t>
            </a:r>
          </a:p>
          <a:p>
            <a:pPr algn="l">
              <a:lnSpc>
                <a:spcPct val="112000"/>
              </a:lnSpc>
              <a:spcBef>
                <a:spcPts val="600"/>
              </a:spcBef>
            </a:pPr>
            <a:r>
              <a:rPr sz="900" b="0" i="0">
                <a:solidFill>
                  <a:srgbClr val="151E2B"/>
                </a:solidFill>
                <a:latin typeface="Segoe UI"/>
              </a:rPr>
              <a:t>VQA, land-cover classification, object detection and SAR analysis bind to contracts that already exist in the registry.</a:t>
            </a:r>
          </a:p>
        </p:txBody>
      </p:sp>
      <p:sp>
        <p:nvSpPr>
          <p:cNvPr id="14" name="Right Arrow 13"/>
          <p:cNvSpPr/>
          <p:nvPr/>
        </p:nvSpPr>
        <p:spPr>
          <a:xfrm>
            <a:off x="8915171" y="1860803"/>
            <a:ext cx="182880" cy="137160"/>
          </a:xfrm>
          <a:prstGeom prst="rightArrow">
            <a:avLst/>
          </a:prstGeom>
          <a:solidFill>
            <a:srgbClr val="C6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16339" y="1060704"/>
            <a:ext cx="2691307" cy="1737360"/>
          </a:xfrm>
          <a:prstGeom prst="roundRect">
            <a:avLst>
              <a:gd name="adj" fmla="val 14000"/>
            </a:avLst>
          </a:prstGeom>
          <a:solidFill>
            <a:srgbClr val="F4F7FC"/>
          </a:solidFill>
          <a:ln w="13970">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8288" bIns="18288"/>
          <a:lstStyle/>
          <a:p>
            <a:pPr algn="l"/>
            <a:r>
              <a:rPr sz="850" b="1" i="0">
                <a:solidFill>
                  <a:srgbClr val="0B2545"/>
                </a:solidFill>
                <a:latin typeface="Segoe UI"/>
              </a:rPr>
              <a:t>THEN</a:t>
            </a:r>
          </a:p>
          <a:p>
            <a:pPr algn="l">
              <a:lnSpc>
                <a:spcPct val="95000"/>
              </a:lnSpc>
              <a:spcBef>
                <a:spcPts val="300"/>
              </a:spcBef>
            </a:pPr>
            <a:r>
              <a:rPr sz="1350" b="1" i="0">
                <a:solidFill>
                  <a:srgbClr val="151E2B"/>
                </a:solidFill>
                <a:latin typeface="Segoe UI"/>
              </a:rPr>
              <a:t>Data and scale tier</a:t>
            </a:r>
          </a:p>
          <a:p>
            <a:pPr algn="l">
              <a:lnSpc>
                <a:spcPct val="112000"/>
              </a:lnSpc>
              <a:spcBef>
                <a:spcPts val="600"/>
              </a:spcBef>
            </a:pPr>
            <a:r>
              <a:rPr sz="900" b="0" i="0">
                <a:solidFill>
                  <a:srgbClr val="151E2B"/>
                </a:solidFill>
                <a:latin typeface="Segoe UI"/>
              </a:rPr>
              <a:t>Catalogue-backed imagery search, tiled and distributed execution, cached intermediate artefacts, multi-step composed workflows.</a:t>
            </a:r>
          </a:p>
        </p:txBody>
      </p:sp>
      <p:sp>
        <p:nvSpPr>
          <p:cNvPr id="16" name="Rectangle 15"/>
          <p:cNvSpPr/>
          <p:nvPr/>
        </p:nvSpPr>
        <p:spPr>
          <a:xfrm>
            <a:off x="384048" y="3076956"/>
            <a:ext cx="50292" cy="155448"/>
          </a:xfrm>
          <a:prstGeom prst="rect">
            <a:avLst/>
          </a:prstGeom>
          <a:solidFill>
            <a:srgbClr val="F58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2064" y="3035808"/>
            <a:ext cx="7315200" cy="237744"/>
          </a:xfrm>
          <a:prstGeom prst="rect">
            <a:avLst/>
          </a:prstGeom>
          <a:noFill/>
        </p:spPr>
        <p:txBody>
          <a:bodyPr wrap="square" anchor="ctr" lIns="0" rIns="0" tIns="18288" bIns="18288">
            <a:spAutoFit/>
          </a:bodyPr>
          <a:lstStyle/>
          <a:p>
            <a:pPr algn="l"/>
            <a:r>
              <a:rPr sz="1250" b="1" i="0">
                <a:solidFill>
                  <a:srgbClr val="0B2545"/>
                </a:solidFill>
                <a:latin typeface="Segoe UI"/>
              </a:rPr>
              <a:t>WHAT DOES NOT CHANGE AS IT GROWS</a:t>
            </a:r>
          </a:p>
        </p:txBody>
      </p:sp>
      <p:sp>
        <p:nvSpPr>
          <p:cNvPr id="18" name="Rounded Rectangle 17"/>
          <p:cNvSpPr/>
          <p:nvPr/>
        </p:nvSpPr>
        <p:spPr>
          <a:xfrm>
            <a:off x="384048" y="3328416"/>
            <a:ext cx="3661562" cy="135331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100" b="1" i="0">
                <a:solidFill>
                  <a:srgbClr val="B33328"/>
                </a:solidFill>
                <a:latin typeface="Segoe UI"/>
              </a:rPr>
              <a:t>The validation gate stays in the path</a:t>
            </a:r>
          </a:p>
          <a:p>
            <a:pPr algn="l">
              <a:lnSpc>
                <a:spcPct val="100000"/>
              </a:lnSpc>
              <a:spcBef>
                <a:spcPts val="400"/>
              </a:spcBef>
            </a:pPr>
            <a:r>
              <a:rPr sz="900" b="0" i="0">
                <a:solidFill>
                  <a:srgbClr val="151E2B"/>
                </a:solidFill>
                <a:latin typeface="Segoe UI"/>
              </a:rPr>
              <a:t>Every new capability is validated against its own declared contract by the same deterministic code. Adding models never widens the trust boundary.</a:t>
            </a:r>
          </a:p>
        </p:txBody>
      </p:sp>
      <p:sp>
        <p:nvSpPr>
          <p:cNvPr id="19" name="Rectangle 18"/>
          <p:cNvSpPr/>
          <p:nvPr/>
        </p:nvSpPr>
        <p:spPr>
          <a:xfrm>
            <a:off x="384048" y="3328416"/>
            <a:ext cx="54864" cy="1353312"/>
          </a:xfrm>
          <a:prstGeom prst="rect">
            <a:avLst/>
          </a:prstGeom>
          <a:solidFill>
            <a:srgbClr val="B33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265066" y="3328416"/>
            <a:ext cx="3661562" cy="135331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100" b="1" i="0">
                <a:solidFill>
                  <a:srgbClr val="1B59A6"/>
                </a:solidFill>
                <a:latin typeface="Segoe UI"/>
              </a:rPr>
              <a:t>The registry stays the only door</a:t>
            </a:r>
          </a:p>
          <a:p>
            <a:pPr algn="l">
              <a:lnSpc>
                <a:spcPct val="100000"/>
              </a:lnSpc>
              <a:spcBef>
                <a:spcPts val="400"/>
              </a:spcBef>
            </a:pPr>
            <a:r>
              <a:rPr sz="900" b="0" i="0">
                <a:solidFill>
                  <a:srgbClr val="151E2B"/>
                </a:solidFill>
                <a:latin typeface="Segoe UI"/>
              </a:rPr>
              <a:t>A capability that is not declared cannot be selected and cannot be executed, however the reasoning layer is prompted.</a:t>
            </a:r>
          </a:p>
        </p:txBody>
      </p:sp>
      <p:sp>
        <p:nvSpPr>
          <p:cNvPr id="21" name="Rectangle 20"/>
          <p:cNvSpPr/>
          <p:nvPr/>
        </p:nvSpPr>
        <p:spPr>
          <a:xfrm>
            <a:off x="4265066" y="3328416"/>
            <a:ext cx="54864" cy="1353312"/>
          </a:xfrm>
          <a:prstGeom prst="rect">
            <a:avLst/>
          </a:prstGeom>
          <a:solidFill>
            <a:srgbClr val="1B5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146084" y="3328416"/>
            <a:ext cx="3661562" cy="1353312"/>
          </a:xfrm>
          <a:prstGeom prst="roundRect">
            <a:avLst>
              <a:gd name="adj" fmla="val 14000"/>
            </a:avLst>
          </a:prstGeom>
          <a:solidFill>
            <a:srgbClr val="FFFFFF"/>
          </a:solidFill>
          <a:ln w="9525">
            <a:solidFill>
              <a:srgbClr val="C6CFDA"/>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18288" bIns="18288"/>
          <a:lstStyle/>
          <a:p>
            <a:pPr algn="l">
              <a:lnSpc>
                <a:spcPct val="95000"/>
              </a:lnSpc>
            </a:pPr>
            <a:r>
              <a:rPr sz="1100" b="1" i="0">
                <a:solidFill>
                  <a:srgbClr val="0B2545"/>
                </a:solidFill>
                <a:latin typeface="Segoe UI"/>
              </a:rPr>
              <a:t>The controller stays untouched</a:t>
            </a:r>
          </a:p>
          <a:p>
            <a:pPr algn="l">
              <a:lnSpc>
                <a:spcPct val="100000"/>
              </a:lnSpc>
              <a:spcBef>
                <a:spcPts val="400"/>
              </a:spcBef>
            </a:pPr>
            <a:r>
              <a:rPr sz="900" b="0" i="0">
                <a:solidFill>
                  <a:srgbClr val="151E2B"/>
                </a:solidFill>
                <a:latin typeface="Segoe UI"/>
              </a:rPr>
              <a:t>Extending the system is a registry entry plus a bound implementation. No orchestration rewrite, no API change.</a:t>
            </a:r>
          </a:p>
        </p:txBody>
      </p:sp>
      <p:sp>
        <p:nvSpPr>
          <p:cNvPr id="23" name="Rectangle 22"/>
          <p:cNvSpPr/>
          <p:nvPr/>
        </p:nvSpPr>
        <p:spPr>
          <a:xfrm>
            <a:off x="8146084" y="3328416"/>
            <a:ext cx="54864" cy="135331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84048" y="5074920"/>
            <a:ext cx="11423599" cy="1298448"/>
          </a:xfrm>
          <a:prstGeom prst="roundRect">
            <a:avLst>
              <a:gd name="adj" fmla="val 1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rIns="457200" tIns="18288" bIns="18288"/>
          <a:lstStyle/>
          <a:p>
            <a:pPr algn="ctr">
              <a:lnSpc>
                <a:spcPct val="110000"/>
              </a:lnSpc>
            </a:pPr>
            <a:r>
              <a:rPr sz="1400" b="1" i="0">
                <a:solidFill>
                  <a:srgbClr val="FFFFFF"/>
                </a:solidFill>
                <a:latin typeface="Segoe UI"/>
              </a:rPr>
              <a:t>SatQuery AI is not a chatbot over satellite imagery. It is a reasoning and orchestration layer that turns natural-language geospatial intent into validated, executable remote-sensing workflows.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