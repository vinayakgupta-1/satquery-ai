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1" d="100"/>
          <a:sy n="101" d="100"/>
        </p:scale>
        <p:origin x="876" y="138"/>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Take this question. A person asks it in one sentence, but answering it needs spatial and temporal reasoning, band selection, index computation, co-registration, differencing and statistical thresholding. SatQuery derives all seven stages from the sentence. Look at stages four and five: a capability is chosen from a registry, and only then does deterministic code check whether the imagery can support it. The model proposes; the system verifies.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This is the architecture. Orange is where the language model reasons. Everything below it is deterministic. The registry is the only door — the agent cannot call a function that is not declared there, and those same declarations supply the constraints the validation gate enforces. The gate is a hard boundary. On the right are our technologies and the working prototype. When a run is rejected, the loop re-plans rather than failing silently.</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This is what already runs, not what we intend to build. 326 automated tests pass. Eight capabilities are declared and four execute on real rasters today. Two interchangeable raster backends, and the tests prove they agree, so a GDAL-free deployment is possible. We are explicit about status: the reasoning layer is integrating, four specialists are declared but unbound. On risk — our containment is not a promise that the model behaves; it is that the registry and validator hold the veto regardless.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Today, answering a geospatial question needs an expert, manual preprocessing and manual tool selection, and results arrive fragmented. SatQuery collapses that into a question. That matters most where expertise is scarce — a district agriculture office, a disaster cell in the first hours of a flood. And because every answer carries its provenance, the output is auditable rather than a one-off image.</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Each design choice traces to a body of work rather than to a trend. Agentic planning gives us decomposition. Schema-constrained tool calling is why we built a registry instead of free-form function access. The most important is the fourth: language models are strong proposers and unreliable verifiers. That is precisely why our validation gate is code, and not a prompt. The repository is linked on the right; we can run a live query on request.</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presenting SatQuery AI for problem statement SIH26167. In one line: SatQuery turns a plain-language geospatial question into a validated, executable remote-sensing workflow. The important word is validated — we will show you exactly where AI reasoning stops and deterministic engineering takes over.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914400" y="-538164"/>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29184" y="2670048"/>
            <a:ext cx="5669280" cy="3291840"/>
          </a:xfrm>
          <a:prstGeom prst="rect">
            <a:avLst/>
          </a:prstGeom>
          <a:noFill/>
        </p:spPr>
        <p:txBody>
          <a:bodyPr wrap="square" rtlCol="0">
            <a:spAutoFit/>
          </a:bodyPr>
          <a:lstStyle/>
          <a:p>
            <a:pPr marL="285750" indent="-285750" algn="l">
              <a:lnSpc>
                <a:spcPct val="100000"/>
              </a:lnSpc>
              <a:spcBef>
                <a:spcPts val="1000"/>
              </a:spcBef>
              <a:spcAft>
                <a:spcPts val="0"/>
              </a:spcAft>
              <a:buFont typeface="Arial" panose="020B0604020202020204" pitchFamily="34" charset="0"/>
              <a:buChar char="•"/>
            </a:pPr>
            <a:r>
              <a:rPr lang="en-US" sz="1500" b="1" dirty="0">
                <a:solidFill>
                  <a:srgbClr val="1A1A1A"/>
                </a:solidFill>
                <a:latin typeface="Arial" panose="020B0604020202020204" pitchFamily="34" charset="0"/>
                <a:cs typeface="Arial" panose="020B0604020202020204" pitchFamily="34" charset="0"/>
              </a:rPr>
              <a:t>Problem Statement ID –  SIH26167</a:t>
            </a:r>
          </a:p>
          <a:p>
            <a:pPr marL="285750" indent="-285750" algn="l">
              <a:lnSpc>
                <a:spcPct val="100000"/>
              </a:lnSpc>
              <a:spcBef>
                <a:spcPts val="1000"/>
              </a:spcBef>
              <a:spcAft>
                <a:spcPts val="0"/>
              </a:spcAft>
              <a:buFont typeface="Arial" panose="020B0604020202020204" pitchFamily="34" charset="0"/>
              <a:buChar char="•"/>
            </a:pPr>
            <a:r>
              <a:rPr lang="en-US" sz="1500" b="1" dirty="0">
                <a:solidFill>
                  <a:srgbClr val="1A1A1A"/>
                </a:solidFill>
                <a:latin typeface="Arial" panose="020B0604020202020204" pitchFamily="34" charset="0"/>
                <a:cs typeface="Arial" panose="020B0604020202020204" pitchFamily="34" charset="0"/>
              </a:rPr>
              <a:t>Problem Statement Title-  [ FILL FROM SIH PORTAL ]</a:t>
            </a:r>
          </a:p>
          <a:p>
            <a:pPr marL="285750" indent="-285750" algn="l">
              <a:lnSpc>
                <a:spcPct val="100000"/>
              </a:lnSpc>
              <a:spcBef>
                <a:spcPts val="1000"/>
              </a:spcBef>
              <a:spcAft>
                <a:spcPts val="0"/>
              </a:spcAft>
              <a:buFont typeface="Arial" panose="020B0604020202020204" pitchFamily="34" charset="0"/>
              <a:buChar char="•"/>
            </a:pPr>
            <a:r>
              <a:rPr lang="en-US" sz="1500" b="1" dirty="0">
                <a:solidFill>
                  <a:srgbClr val="1A1A1A"/>
                </a:solidFill>
                <a:latin typeface="Arial" panose="020B0604020202020204" pitchFamily="34" charset="0"/>
                <a:cs typeface="Arial" panose="020B0604020202020204" pitchFamily="34" charset="0"/>
              </a:rPr>
              <a:t>Theme-  [ FILL ]</a:t>
            </a:r>
          </a:p>
          <a:p>
            <a:pPr marL="285750" indent="-285750" algn="l">
              <a:lnSpc>
                <a:spcPct val="100000"/>
              </a:lnSpc>
              <a:spcBef>
                <a:spcPts val="1000"/>
              </a:spcBef>
              <a:spcAft>
                <a:spcPts val="0"/>
              </a:spcAft>
              <a:buFont typeface="Arial" panose="020B0604020202020204" pitchFamily="34" charset="0"/>
              <a:buChar char="•"/>
            </a:pPr>
            <a:r>
              <a:rPr lang="en-US" sz="1500" b="1" dirty="0">
                <a:solidFill>
                  <a:srgbClr val="1A1A1A"/>
                </a:solidFill>
                <a:latin typeface="Arial" panose="020B0604020202020204" pitchFamily="34" charset="0"/>
                <a:cs typeface="Arial" panose="020B0604020202020204" pitchFamily="34" charset="0"/>
              </a:rPr>
              <a:t>PS Category-  Software</a:t>
            </a:r>
          </a:p>
          <a:p>
            <a:pPr marL="285750" indent="-285750" algn="l">
              <a:lnSpc>
                <a:spcPct val="100000"/>
              </a:lnSpc>
              <a:spcBef>
                <a:spcPts val="1000"/>
              </a:spcBef>
              <a:spcAft>
                <a:spcPts val="0"/>
              </a:spcAft>
              <a:buFont typeface="Arial" panose="020B0604020202020204" pitchFamily="34" charset="0"/>
              <a:buChar char="•"/>
            </a:pPr>
            <a:r>
              <a:rPr lang="en-US" sz="1500" b="1" dirty="0">
                <a:solidFill>
                  <a:srgbClr val="1A1A1A"/>
                </a:solidFill>
                <a:latin typeface="Arial" panose="020B0604020202020204" pitchFamily="34" charset="0"/>
                <a:cs typeface="Arial" panose="020B0604020202020204" pitchFamily="34" charset="0"/>
              </a:rPr>
              <a:t>Team ID-  [ FILL ]</a:t>
            </a:r>
          </a:p>
          <a:p>
            <a:pPr marL="285750" indent="-285750" algn="l">
              <a:lnSpc>
                <a:spcPct val="100000"/>
              </a:lnSpc>
              <a:spcBef>
                <a:spcPts val="1000"/>
              </a:spcBef>
              <a:spcAft>
                <a:spcPts val="0"/>
              </a:spcAft>
              <a:buFont typeface="Arial" panose="020B0604020202020204" pitchFamily="34" charset="0"/>
              <a:buChar char="•"/>
            </a:pPr>
            <a:r>
              <a:rPr lang="en-US" sz="1500" b="1" dirty="0">
                <a:solidFill>
                  <a:srgbClr val="1A1A1A"/>
                </a:solidFill>
                <a:latin typeface="Arial" panose="020B0604020202020204" pitchFamily="34" charset="0"/>
                <a:cs typeface="Arial" panose="020B0604020202020204" pitchFamily="34" charset="0"/>
              </a:rPr>
              <a:t>Team Name (Registered on portal) -  [ FILL ]</a:t>
            </a:r>
            <a:endParaRPr lang="en-IN" sz="2400" b="1"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21389" y="5319713"/>
            <a:ext cx="2249850" cy="1062337"/>
          </a:xfrm>
          <a:prstGeom prst="rect">
            <a:avLst/>
          </a:prstGeom>
        </p:spPr>
      </p:pic>
      <p:pic>
        <p:nvPicPr>
          <p:cNvPr id="3" name="Google Shape;95;p1">
            <a:extLst>
              <a:ext uri="{FF2B5EF4-FFF2-40B4-BE49-F238E27FC236}">
                <a16:creationId xmlns:a16="http://schemas.microsoft.com/office/drawing/2014/main" id="{AC49D1E0-7E47-6C1D-ABA2-F56F0C4148C4}"/>
              </a:ext>
            </a:extLst>
          </p:cNvPr>
          <p:cNvPicPr preferRelativeResize="0"/>
          <p:nvPr/>
        </p:nvPicPr>
        <p:blipFill>
          <a:blip r:embed="rId4">
            <a:alphaModFix/>
          </a:blip>
          <a:stretch>
            <a:fillRect/>
          </a:stretch>
        </p:blipFill>
        <p:spPr>
          <a:xfrm>
            <a:off x="-329875" y="180975"/>
            <a:ext cx="2453950" cy="603931"/>
          </a:xfrm>
          <a:prstGeom prst="rect">
            <a:avLst/>
          </a:prstGeom>
          <a:noFill/>
          <a:ln>
            <a:noFill/>
          </a:ln>
        </p:spPr>
      </p:pic>
      <p:pic>
        <p:nvPicPr>
          <p:cNvPr id="6" name="Google Shape;96;p1">
            <a:extLst>
              <a:ext uri="{FF2B5EF4-FFF2-40B4-BE49-F238E27FC236}">
                <a16:creationId xmlns:a16="http://schemas.microsoft.com/office/drawing/2014/main" id="{B703185C-3017-5559-0204-545078F8BDF9}"/>
              </a:ext>
            </a:extLst>
          </p:cNvPr>
          <p:cNvPicPr preferRelativeResize="0"/>
          <p:nvPr/>
        </p:nvPicPr>
        <p:blipFill>
          <a:blip r:embed="rId5">
            <a:alphaModFix/>
          </a:blip>
          <a:stretch>
            <a:fillRect/>
          </a:stretch>
        </p:blipFill>
        <p:spPr>
          <a:xfrm>
            <a:off x="10389686" y="122447"/>
            <a:ext cx="1734583" cy="729073"/>
          </a:xfrm>
          <a:prstGeom prst="rect">
            <a:avLst/>
          </a:prstGeom>
          <a:noFill/>
          <a:ln>
            <a:noFill/>
          </a:ln>
        </p:spPr>
      </p:pic>
      <p:sp>
        <p:nvSpPr>
          <p:cNvPr id="38" name="TextBox 37"/>
          <p:cNvSpPr txBox="1"/>
          <p:nvPr/>
        </p:nvSpPr>
        <p:spPr>
          <a:xfrm>
            <a:off x="329184" y="1810512"/>
            <a:ext cx="5669280" cy="530352"/>
          </a:xfrm>
          <a:prstGeom prst="rect">
            <a:avLst/>
          </a:prstGeom>
          <a:noFill/>
        </p:spPr>
        <p:txBody>
          <a:bodyPr wrap="square" anchor="ctr" lIns="0" rIns="0" tIns="18288" bIns="18288">
            <a:spAutoFit/>
          </a:bodyPr>
          <a:lstStyle/>
          <a:p>
            <a:pPr algn="l"/>
            <a:r>
              <a:rPr sz="3000" b="1" i="0">
                <a:solidFill>
                  <a:srgbClr val="1F4E79"/>
                </a:solidFill>
                <a:latin typeface="Arial"/>
              </a:rPr>
              <a:t>SatQuery AI</a:t>
            </a:r>
          </a:p>
        </p:txBody>
      </p:sp>
      <p:sp>
        <p:nvSpPr>
          <p:cNvPr id="39" name="TextBox 38"/>
          <p:cNvSpPr txBox="1"/>
          <p:nvPr/>
        </p:nvSpPr>
        <p:spPr>
          <a:xfrm>
            <a:off x="347472" y="2322576"/>
            <a:ext cx="5669280" cy="256032"/>
          </a:xfrm>
          <a:prstGeom prst="rect">
            <a:avLst/>
          </a:prstGeom>
          <a:noFill/>
        </p:spPr>
        <p:txBody>
          <a:bodyPr wrap="square" anchor="ctr" lIns="0" rIns="0" tIns="18288" bIns="18288">
            <a:spAutoFit/>
          </a:bodyPr>
          <a:lstStyle/>
          <a:p>
            <a:pPr algn="l"/>
            <a:r>
              <a:rPr sz="1050" b="1" i="0">
                <a:solidFill>
                  <a:srgbClr val="C55A11"/>
                </a:solidFill>
                <a:latin typeface="Arial"/>
              </a:rPr>
              <a:t>Natural language in.  Validated remote-sensing workflows out.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ounded Rectangle 15362"/>
          <p:cNvSpPr/>
          <p:nvPr/>
        </p:nvSpPr>
        <p:spPr>
          <a:xfrm>
            <a:off x="274320" y="1078992"/>
            <a:ext cx="11643055" cy="603504"/>
          </a:xfrm>
          <a:prstGeom prst="roundRect">
            <a:avLst>
              <a:gd name="adj" fmla="val 6000"/>
            </a:avLst>
          </a:prstGeom>
          <a:solidFill>
            <a:srgbClr val="F2F7FC"/>
          </a:solidFill>
          <a:ln w="10160">
            <a:solidFill>
              <a:srgbClr val="DEEB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SATQUERY AI</a:t>
            </a:r>
          </a:p>
        </p:txBody>
      </p:sp>
      <p:sp>
        <p:nvSpPr>
          <p:cNvPr id="15362" name="TextBox 8"/>
          <p:cNvSpPr txBox="1">
            <a:spLocks noChangeArrowheads="1"/>
          </p:cNvSpPr>
          <p:nvPr/>
        </p:nvSpPr>
        <p:spPr bwMode="auto">
          <a:xfrm>
            <a:off x="420623" y="1078992"/>
            <a:ext cx="11350447" cy="603504"/>
          </a:xfrm>
          <a:prstGeom prst="rect">
            <a:avLst/>
          </a:prstGeom>
          <a:noFill/>
          <a:ln w="9525">
            <a:noFill/>
            <a:miter lim="800000"/>
            <a:headEnd/>
            <a:tailEnd/>
          </a:ln>
        </p:spPr>
        <p:txBody>
          <a:bodyPr wrap="square" anchor="ctr" lIns="0" rIns="0" tIns="0" bIns="0">
            <a:spAutoFit/>
          </a:bodyPr>
          <a:lstStyle/>
          <a:p>
            <a:pPr marL="342900" indent="-342900" algn="l">
              <a:lnSpc>
                <a:spcPct val="105000"/>
              </a:lnSpc>
              <a:spcBef>
                <a:spcPts val="0"/>
              </a:spcBef>
              <a:spcAft>
                <a:spcPts val="0"/>
              </a:spcAft>
              <a:buFont typeface="Wingdings" panose="05000000000000000000" pitchFamily="2" charset="2"/>
              <a:buChar char="v"/>
            </a:pPr>
            <a:r>
              <a:rPr lang="en-US" sz="1000" b="1" u="sng" dirty="0">
                <a:solidFill>
                  <a:srgbClr val="1F4E79"/>
                </a:solidFill>
                <a:latin typeface="Arial" pitchFamily="34" charset="0"/>
                <a:cs typeface="Arial" pitchFamily="34" charset="0"/>
              </a:rPr>
              <a:t>Proposed Solution (Describe your Idea/Solution/Prototype)</a:t>
            </a:r>
            <a:endParaRPr lang="en-US" sz="3200" u="sng" dirty="0">
              <a:solidFill>
                <a:schemeClr val="tx2"/>
              </a:solidFill>
              <a:latin typeface="Arial" pitchFamily="34" charset="0"/>
              <a:cs typeface="Arial" pitchFamily="34" charset="0"/>
            </a:endParaRPr>
          </a:p>
          <a:p>
            <a:pPr marL="342900" indent="-342900" algn="l">
              <a:lnSpc>
                <a:spcPct val="105000"/>
              </a:lnSpc>
              <a:spcBef>
                <a:spcPts val="0"/>
              </a:spcBef>
              <a:spcAft>
                <a:spcPts val="0"/>
              </a:spcAft>
              <a:buFont typeface="Arial" panose="020B0604020202020204" pitchFamily="34" charset="0"/>
              <a:buChar char="•"/>
            </a:pPr>
            <a:r>
              <a:rPr lang="en-US" sz="760" dirty="0" b="0">
                <a:solidFill>
                  <a:srgbClr val="1A1A1A"/>
                </a:solidFill>
                <a:latin typeface="Arial" pitchFamily="34" charset="0"/>
                <a:cs typeface="Arial" pitchFamily="34" charset="0"/>
              </a:rPr>
              <a:t>Detailed explanation of the proposed solution</a:t>
            </a:r>
          </a:p>
          <a:p>
            <a:pPr marL="342900" indent="-342900" algn="l">
              <a:lnSpc>
                <a:spcPct val="105000"/>
              </a:lnSpc>
              <a:spcBef>
                <a:spcPts val="0"/>
              </a:spcBef>
              <a:spcAft>
                <a:spcPts val="0"/>
              </a:spcAft>
              <a:buFont typeface="Arial" panose="020B0604020202020204" pitchFamily="34" charset="0"/>
              <a:buChar char="•"/>
            </a:pPr>
            <a:r>
              <a:rPr lang="en-US" sz="760" dirty="0" b="0">
                <a:solidFill>
                  <a:srgbClr val="1A1A1A"/>
                </a:solidFill>
                <a:latin typeface="Arial" pitchFamily="34" charset="0"/>
                <a:cs typeface="Arial" pitchFamily="34" charset="0"/>
              </a:rPr>
              <a:t> How it addresses the problem</a:t>
            </a:r>
          </a:p>
          <a:p>
            <a:pPr marL="342900" indent="-342900" algn="l">
              <a:lnSpc>
                <a:spcPct val="105000"/>
              </a:lnSpc>
              <a:spcBef>
                <a:spcPts val="0"/>
              </a:spcBef>
              <a:spcAft>
                <a:spcPts val="0"/>
              </a:spcAft>
              <a:buFont typeface="Arial" panose="020B0604020202020204" pitchFamily="34" charset="0"/>
              <a:buChar char="•"/>
            </a:pPr>
            <a:r>
              <a:rPr lang="en-US" sz="760" dirty="0" b="0">
                <a:solidFill>
                  <a:srgbClr val="1A1A1A"/>
                </a:solidFill>
                <a:latin typeface="Arial" pitchFamily="34" charset="0"/>
                <a:cs typeface="Arial" pitchFamily="34" charset="0"/>
              </a:rPr>
              <a:t>Innovation and uniqueness of the solution </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4" name="Rounded Rectangle 15363"/>
          <p:cNvSpPr/>
          <p:nvPr/>
        </p:nvSpPr>
        <p:spPr>
          <a:xfrm>
            <a:off x="274320" y="1865376"/>
            <a:ext cx="11643055" cy="384048"/>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i="0">
                <a:solidFill>
                  <a:srgbClr val="FFFFFF"/>
                </a:solidFill>
                <a:latin typeface="Arial"/>
              </a:rPr>
              <a:t>The model decides WHAT should happen  ·  deterministic code verifies WHETHER it can safely happen</a:t>
            </a:r>
          </a:p>
        </p:txBody>
      </p:sp>
      <p:sp>
        <p:nvSpPr>
          <p:cNvPr id="15365" name="Rounded Rectangle 15364"/>
          <p:cNvSpPr/>
          <p:nvPr/>
        </p:nvSpPr>
        <p:spPr>
          <a:xfrm>
            <a:off x="274320" y="2340864"/>
            <a:ext cx="11643055" cy="329184"/>
          </a:xfrm>
          <a:prstGeom prst="roundRect">
            <a:avLst>
              <a:gd name="adj" fmla="val 10000"/>
            </a:avLst>
          </a:prstGeom>
          <a:solidFill>
            <a:srgbClr val="FDEEE0"/>
          </a:solidFill>
          <a:ln w="1143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50" b="1" i="1">
                <a:solidFill>
                  <a:srgbClr val="1F4E79"/>
                </a:solidFill>
                <a:latin typeface="Arial"/>
              </a:rPr>
              <a:t>“Identify areas where vegetation decreased significantly between 2023 and 2025.”</a:t>
            </a:r>
          </a:p>
        </p:txBody>
      </p:sp>
      <p:sp>
        <p:nvSpPr>
          <p:cNvPr id="15366" name="Rounded Rectangle 15365"/>
          <p:cNvSpPr/>
          <p:nvPr/>
        </p:nvSpPr>
        <p:spPr>
          <a:xfrm>
            <a:off x="274320" y="2761488"/>
            <a:ext cx="1444752" cy="969264"/>
          </a:xfrm>
          <a:prstGeom prst="roundRect">
            <a:avLst>
              <a:gd name="adj" fmla="val 12000"/>
            </a:avLst>
          </a:prstGeom>
          <a:solidFill>
            <a:srgbClr val="FDEEE0"/>
          </a:solidFill>
          <a:ln w="1079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819" b="1" i="0">
                <a:solidFill>
                  <a:srgbClr val="C55A11"/>
                </a:solidFill>
                <a:latin typeface="Arial"/>
              </a:rPr>
              <a:t>1 UNDERSTAND</a:t>
            </a:r>
          </a:p>
          <a:p>
            <a:pPr algn="ctr">
              <a:lnSpc>
                <a:spcPct val="100000"/>
              </a:lnSpc>
              <a:spcBef>
                <a:spcPts val="300"/>
              </a:spcBef>
            </a:pPr>
            <a:r>
              <a:rPr sz="700" b="0" i="0">
                <a:solidFill>
                  <a:srgbClr val="1A1A1A"/>
                </a:solidFill>
                <a:latin typeface="Arial"/>
              </a:rPr>
              <a:t>intent, region,
2023 ↔ 2025</a:t>
            </a:r>
          </a:p>
        </p:txBody>
      </p:sp>
      <p:sp>
        <p:nvSpPr>
          <p:cNvPr id="15367" name="Right Arrow 15366"/>
          <p:cNvSpPr/>
          <p:nvPr/>
        </p:nvSpPr>
        <p:spPr>
          <a:xfrm>
            <a:off x="1764792" y="3186684"/>
            <a:ext cx="155448" cy="118872"/>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8" name="Rounded Rectangle 15367"/>
          <p:cNvSpPr/>
          <p:nvPr/>
        </p:nvSpPr>
        <p:spPr>
          <a:xfrm>
            <a:off x="1975104" y="2761488"/>
            <a:ext cx="1444752" cy="969264"/>
          </a:xfrm>
          <a:prstGeom prst="roundRect">
            <a:avLst>
              <a:gd name="adj" fmla="val 12000"/>
            </a:avLst>
          </a:prstGeom>
          <a:solidFill>
            <a:srgbClr val="FDEEE0"/>
          </a:solidFill>
          <a:ln w="1079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819" b="1" i="0">
                <a:solidFill>
                  <a:srgbClr val="C55A11"/>
                </a:solidFill>
                <a:latin typeface="Arial"/>
              </a:rPr>
              <a:t>2 DECOMPOSE</a:t>
            </a:r>
          </a:p>
          <a:p>
            <a:pPr algn="ctr">
              <a:lnSpc>
                <a:spcPct val="100000"/>
              </a:lnSpc>
              <a:spcBef>
                <a:spcPts val="300"/>
              </a:spcBef>
            </a:pPr>
            <a:r>
              <a:rPr sz="700" b="0" i="0">
                <a:solidFill>
                  <a:srgbClr val="1A1A1A"/>
                </a:solidFill>
                <a:latin typeface="Arial"/>
              </a:rPr>
              <a:t>7 executable
subtasks</a:t>
            </a:r>
          </a:p>
        </p:txBody>
      </p:sp>
      <p:sp>
        <p:nvSpPr>
          <p:cNvPr id="15369" name="Right Arrow 15368"/>
          <p:cNvSpPr/>
          <p:nvPr/>
        </p:nvSpPr>
        <p:spPr>
          <a:xfrm>
            <a:off x="3465576" y="3186684"/>
            <a:ext cx="155448" cy="118872"/>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0" name="Rounded Rectangle 15369"/>
          <p:cNvSpPr/>
          <p:nvPr/>
        </p:nvSpPr>
        <p:spPr>
          <a:xfrm>
            <a:off x="3675888" y="2761488"/>
            <a:ext cx="1444752" cy="969264"/>
          </a:xfrm>
          <a:prstGeom prst="roundRect">
            <a:avLst>
              <a:gd name="adj" fmla="val 12000"/>
            </a:avLst>
          </a:prstGeom>
          <a:solidFill>
            <a:srgbClr val="FDEEE0"/>
          </a:solidFill>
          <a:ln w="1079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819" b="1" i="0">
                <a:solidFill>
                  <a:srgbClr val="C55A11"/>
                </a:solidFill>
                <a:latin typeface="Arial"/>
              </a:rPr>
              <a:t>3 INFER INPUTS</a:t>
            </a:r>
          </a:p>
          <a:p>
            <a:pPr algn="ctr">
              <a:lnSpc>
                <a:spcPct val="100000"/>
              </a:lnSpc>
              <a:spcBef>
                <a:spcPts val="300"/>
              </a:spcBef>
            </a:pPr>
            <a:r>
              <a:rPr sz="700" b="0" i="0">
                <a:solidFill>
                  <a:srgbClr val="1A1A1A"/>
                </a:solidFill>
                <a:latin typeface="Arial"/>
              </a:rPr>
              <a:t>optical, RED+NIR,
2 dated scenes</a:t>
            </a:r>
          </a:p>
        </p:txBody>
      </p:sp>
      <p:sp>
        <p:nvSpPr>
          <p:cNvPr id="15371" name="Right Arrow 15370"/>
          <p:cNvSpPr/>
          <p:nvPr/>
        </p:nvSpPr>
        <p:spPr>
          <a:xfrm>
            <a:off x="5166360" y="3186684"/>
            <a:ext cx="155448" cy="118872"/>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2" name="Rounded Rectangle 15371"/>
          <p:cNvSpPr/>
          <p:nvPr/>
        </p:nvSpPr>
        <p:spPr>
          <a:xfrm>
            <a:off x="5376672" y="2761488"/>
            <a:ext cx="1444752" cy="969264"/>
          </a:xfrm>
          <a:prstGeom prst="roundRect">
            <a:avLst>
              <a:gd name="adj" fmla="val 12000"/>
            </a:avLst>
          </a:prstGeom>
          <a:solidFill>
            <a:srgbClr val="DEEBF7"/>
          </a:solidFill>
          <a:ln w="1079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819" b="1" i="0">
                <a:solidFill>
                  <a:srgbClr val="0070C0"/>
                </a:solidFill>
                <a:latin typeface="Arial"/>
              </a:rPr>
              <a:t>4 SELECT</a:t>
            </a:r>
          </a:p>
          <a:p>
            <a:pPr algn="ctr">
              <a:lnSpc>
                <a:spcPct val="100000"/>
              </a:lnSpc>
              <a:spcBef>
                <a:spcPts val="300"/>
              </a:spcBef>
            </a:pPr>
            <a:r>
              <a:rPr sz="700" b="0" i="0">
                <a:solidFill>
                  <a:srgbClr val="1A1A1A"/>
                </a:solidFill>
                <a:latin typeface="Arial"/>
              </a:rPr>
              <a:t>change_detection
from registry</a:t>
            </a:r>
          </a:p>
        </p:txBody>
      </p:sp>
      <p:sp>
        <p:nvSpPr>
          <p:cNvPr id="15373" name="Right Arrow 15372"/>
          <p:cNvSpPr/>
          <p:nvPr/>
        </p:nvSpPr>
        <p:spPr>
          <a:xfrm>
            <a:off x="6867144" y="3186684"/>
            <a:ext cx="155448" cy="118872"/>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4" name="Rounded Rectangle 15373"/>
          <p:cNvSpPr/>
          <p:nvPr/>
        </p:nvSpPr>
        <p:spPr>
          <a:xfrm>
            <a:off x="7077456" y="2761488"/>
            <a:ext cx="1444752" cy="969264"/>
          </a:xfrm>
          <a:prstGeom prst="roundRect">
            <a:avLst>
              <a:gd name="adj" fmla="val 12000"/>
            </a:avLst>
          </a:prstGeom>
          <a:solidFill>
            <a:srgbClr val="FBE7E5"/>
          </a:solidFill>
          <a:ln w="1079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819" b="1" i="0">
                <a:solidFill>
                  <a:srgbClr val="C00000"/>
                </a:solidFill>
                <a:latin typeface="Arial"/>
              </a:rPr>
              <a:t>5 VALIDATE</a:t>
            </a:r>
          </a:p>
          <a:p>
            <a:pPr algn="ctr">
              <a:lnSpc>
                <a:spcPct val="100000"/>
              </a:lnSpc>
              <a:spcBef>
                <a:spcPts val="300"/>
              </a:spcBef>
            </a:pPr>
            <a:r>
              <a:rPr sz="700" b="0" i="0">
                <a:solidFill>
                  <a:srgbClr val="1A1A1A"/>
                </a:solidFill>
                <a:latin typeface="Arial"/>
              </a:rPr>
              <a:t>bands, count,
CRS, dates</a:t>
            </a:r>
          </a:p>
        </p:txBody>
      </p:sp>
      <p:sp>
        <p:nvSpPr>
          <p:cNvPr id="15375" name="Right Arrow 15374"/>
          <p:cNvSpPr/>
          <p:nvPr/>
        </p:nvSpPr>
        <p:spPr>
          <a:xfrm>
            <a:off x="8567928" y="3186684"/>
            <a:ext cx="155448" cy="118872"/>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6" name="Rounded Rectangle 15375"/>
          <p:cNvSpPr/>
          <p:nvPr/>
        </p:nvSpPr>
        <p:spPr>
          <a:xfrm>
            <a:off x="8778240" y="2761488"/>
            <a:ext cx="1444752" cy="969264"/>
          </a:xfrm>
          <a:prstGeom prst="roundRect">
            <a:avLst>
              <a:gd name="adj" fmla="val 12000"/>
            </a:avLst>
          </a:prstGeom>
          <a:solidFill>
            <a:srgbClr val="E4F3E9"/>
          </a:solidFill>
          <a:ln w="1079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819" b="1" i="0">
                <a:solidFill>
                  <a:srgbClr val="1E7A3C"/>
                </a:solidFill>
                <a:latin typeface="Arial"/>
              </a:rPr>
              <a:t>6 EXECUTE</a:t>
            </a:r>
          </a:p>
          <a:p>
            <a:pPr algn="ctr">
              <a:lnSpc>
                <a:spcPct val="100000"/>
              </a:lnSpc>
              <a:spcBef>
                <a:spcPts val="300"/>
              </a:spcBef>
            </a:pPr>
            <a:r>
              <a:rPr sz="700" b="0" i="0">
                <a:solidFill>
                  <a:srgbClr val="1A1A1A"/>
                </a:solidFill>
                <a:latin typeface="Arial"/>
              </a:rPr>
              <a:t>NDVI ×2 → align
→ Δ → threshold</a:t>
            </a:r>
          </a:p>
        </p:txBody>
      </p:sp>
      <p:sp>
        <p:nvSpPr>
          <p:cNvPr id="15377" name="Right Arrow 15376"/>
          <p:cNvSpPr/>
          <p:nvPr/>
        </p:nvSpPr>
        <p:spPr>
          <a:xfrm>
            <a:off x="10268712" y="3186684"/>
            <a:ext cx="155448" cy="118872"/>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8" name="Rounded Rectangle 15377"/>
          <p:cNvSpPr/>
          <p:nvPr/>
        </p:nvSpPr>
        <p:spPr>
          <a:xfrm>
            <a:off x="10479024" y="2761488"/>
            <a:ext cx="1444752" cy="969264"/>
          </a:xfrm>
          <a:prstGeom prst="roundRect">
            <a:avLst>
              <a:gd name="adj" fmla="val 12000"/>
            </a:avLst>
          </a:prstGeom>
          <a:solidFill>
            <a:srgbClr val="DEEBF7"/>
          </a:solidFill>
          <a:ln w="1079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819" b="1" i="0">
                <a:solidFill>
                  <a:srgbClr val="1F4E79"/>
                </a:solidFill>
                <a:latin typeface="Arial"/>
              </a:rPr>
              <a:t>7 INTEGRATE</a:t>
            </a:r>
          </a:p>
          <a:p>
            <a:pPr algn="ctr">
              <a:lnSpc>
                <a:spcPct val="100000"/>
              </a:lnSpc>
              <a:spcBef>
                <a:spcPts val="300"/>
              </a:spcBef>
            </a:pPr>
            <a:r>
              <a:rPr sz="700" b="0" i="0">
                <a:solidFill>
                  <a:srgbClr val="1A1A1A"/>
                </a:solidFill>
                <a:latin typeface="Arial"/>
              </a:rPr>
              <a:t>map, statistics,
explanation</a:t>
            </a:r>
          </a:p>
        </p:txBody>
      </p:sp>
      <p:sp>
        <p:nvSpPr>
          <p:cNvPr id="15379" name="Rounded Rectangle 15378"/>
          <p:cNvSpPr/>
          <p:nvPr/>
        </p:nvSpPr>
        <p:spPr>
          <a:xfrm>
            <a:off x="274320" y="3877056"/>
            <a:ext cx="11643055" cy="365760"/>
          </a:xfrm>
          <a:prstGeom prst="roundRect">
            <a:avLst>
              <a:gd name="adj" fmla="val 10000"/>
            </a:avLst>
          </a:prstGeom>
          <a:solidFill>
            <a:srgbClr val="E4F3E9"/>
          </a:solidFill>
          <a:ln w="11430">
            <a:solidFill>
              <a:srgbClr val="2E9B4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1" i="0">
                <a:solidFill>
                  <a:srgbClr val="1F4E79"/>
                </a:solidFill>
                <a:latin typeface="Arial"/>
              </a:rPr>
              <a:t>Answer:   loss percentage  ·  hotspot map  ·  per-region statistics  ·  explanation  ·  full provenance</a:t>
            </a:r>
          </a:p>
        </p:txBody>
      </p:sp>
      <p:sp>
        <p:nvSpPr>
          <p:cNvPr id="15380" name="TextBox 15379"/>
          <p:cNvSpPr txBox="1"/>
          <p:nvPr/>
        </p:nvSpPr>
        <p:spPr>
          <a:xfrm>
            <a:off x="274320" y="4334256"/>
            <a:ext cx="11643055" cy="201168"/>
          </a:xfrm>
          <a:prstGeom prst="rect">
            <a:avLst/>
          </a:prstGeom>
          <a:noFill/>
        </p:spPr>
        <p:txBody>
          <a:bodyPr wrap="square" anchor="t" lIns="0" rIns="0" tIns="18288" bIns="18288">
            <a:spAutoFit/>
          </a:bodyPr>
          <a:lstStyle/>
          <a:p>
            <a:pPr algn="l"/>
            <a:r>
              <a:rPr sz="850" b="1" i="0">
                <a:solidFill>
                  <a:srgbClr val="595959"/>
                </a:solidFill>
                <a:latin typeface="Arial"/>
              </a:rPr>
              <a:t>INNOVATION AND UNIQUENESS</a:t>
            </a:r>
          </a:p>
        </p:txBody>
      </p:sp>
      <p:sp>
        <p:nvSpPr>
          <p:cNvPr id="15381" name="Rounded Rectangle 15380"/>
          <p:cNvSpPr/>
          <p:nvPr/>
        </p:nvSpPr>
        <p:spPr>
          <a:xfrm>
            <a:off x="274320" y="4572000"/>
            <a:ext cx="2759887" cy="1188720"/>
          </a:xfrm>
          <a:prstGeom prst="roundRect">
            <a:avLst>
              <a:gd name="adj" fmla="val 14000"/>
            </a:avLst>
          </a:prstGeom>
          <a:solidFill>
            <a:srgbClr val="F2F7FC"/>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l">
              <a:lnSpc>
                <a:spcPct val="95000"/>
              </a:lnSpc>
            </a:pPr>
            <a:r>
              <a:rPr sz="900" b="1" i="0">
                <a:solidFill>
                  <a:srgbClr val="C55A11"/>
                </a:solidFill>
                <a:latin typeface="Arial"/>
              </a:rPr>
              <a:t>Reasoning ≠ verification</a:t>
            </a:r>
          </a:p>
          <a:p>
            <a:pPr algn="l">
              <a:lnSpc>
                <a:spcPct val="100000"/>
              </a:lnSpc>
              <a:spcBef>
                <a:spcPts val="300"/>
              </a:spcBef>
            </a:pPr>
            <a:r>
              <a:rPr sz="750" b="0" i="0">
                <a:solidFill>
                  <a:srgbClr val="1A1A1A"/>
                </a:solidFill>
                <a:latin typeface="Arial"/>
              </a:rPr>
              <a:t>Model proposes; registry and validator decide. A reasoning error becomes a precise rejection, never a wrong map.</a:t>
            </a:r>
          </a:p>
        </p:txBody>
      </p:sp>
      <p:sp>
        <p:nvSpPr>
          <p:cNvPr id="15382" name="Rectangle 15381"/>
          <p:cNvSpPr/>
          <p:nvPr/>
        </p:nvSpPr>
        <p:spPr>
          <a:xfrm>
            <a:off x="274320" y="4572000"/>
            <a:ext cx="50292" cy="11887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83" name="Rounded Rectangle 15382"/>
          <p:cNvSpPr/>
          <p:nvPr/>
        </p:nvSpPr>
        <p:spPr>
          <a:xfrm>
            <a:off x="3235375" y="4572000"/>
            <a:ext cx="2759887" cy="1188720"/>
          </a:xfrm>
          <a:prstGeom prst="roundRect">
            <a:avLst>
              <a:gd name="adj" fmla="val 14000"/>
            </a:avLst>
          </a:prstGeom>
          <a:solidFill>
            <a:srgbClr val="F2F7FC"/>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l">
              <a:lnSpc>
                <a:spcPct val="95000"/>
              </a:lnSpc>
            </a:pPr>
            <a:r>
              <a:rPr sz="900" b="1" i="0">
                <a:solidFill>
                  <a:srgbClr val="0070C0"/>
                </a:solidFill>
                <a:latin typeface="Arial"/>
              </a:rPr>
              <a:t>Capability-aware selection</a:t>
            </a:r>
          </a:p>
          <a:p>
            <a:pPr algn="l">
              <a:lnSpc>
                <a:spcPct val="100000"/>
              </a:lnSpc>
              <a:spcBef>
                <a:spcPts val="300"/>
              </a:spcBef>
            </a:pPr>
            <a:r>
              <a:rPr sz="750" b="0" i="0">
                <a:solidFill>
                  <a:srgbClr val="1A1A1A"/>
                </a:solidFill>
                <a:latin typeface="Arial"/>
              </a:rPr>
              <a:t>Tools matched on declared contracts — modality, bands, image count, temporal pairing — not keyword similarity.</a:t>
            </a:r>
          </a:p>
        </p:txBody>
      </p:sp>
      <p:sp>
        <p:nvSpPr>
          <p:cNvPr id="15384" name="Rectangle 15383"/>
          <p:cNvSpPr/>
          <p:nvPr/>
        </p:nvSpPr>
        <p:spPr>
          <a:xfrm>
            <a:off x="3235375" y="4572000"/>
            <a:ext cx="50292" cy="118872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85" name="Rounded Rectangle 15384"/>
          <p:cNvSpPr/>
          <p:nvPr/>
        </p:nvSpPr>
        <p:spPr>
          <a:xfrm>
            <a:off x="6196431" y="4572000"/>
            <a:ext cx="2759887" cy="1188720"/>
          </a:xfrm>
          <a:prstGeom prst="roundRect">
            <a:avLst>
              <a:gd name="adj" fmla="val 14000"/>
            </a:avLst>
          </a:prstGeom>
          <a:solidFill>
            <a:srgbClr val="F2F7FC"/>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l">
              <a:lnSpc>
                <a:spcPct val="95000"/>
              </a:lnSpc>
            </a:pPr>
            <a:r>
              <a:rPr sz="900" b="1" i="0">
                <a:solidFill>
                  <a:srgbClr val="1E7A3C"/>
                </a:solidFill>
                <a:latin typeface="Arial"/>
              </a:rPr>
              <a:t>Composable operations</a:t>
            </a:r>
          </a:p>
          <a:p>
            <a:pPr algn="l">
              <a:lnSpc>
                <a:spcPct val="100000"/>
              </a:lnSpc>
              <a:spcBef>
                <a:spcPts val="300"/>
              </a:spcBef>
            </a:pPr>
            <a:r>
              <a:rPr sz="750" b="0" i="0">
                <a:solidFill>
                  <a:srgbClr val="1A1A1A"/>
                </a:solidFill>
                <a:latin typeface="Arial"/>
              </a:rPr>
              <a:t>One question chains index computation, co-registration, differencing, thresholding and aggregation.</a:t>
            </a:r>
          </a:p>
        </p:txBody>
      </p:sp>
      <p:sp>
        <p:nvSpPr>
          <p:cNvPr id="15386" name="Rectangle 15385"/>
          <p:cNvSpPr/>
          <p:nvPr/>
        </p:nvSpPr>
        <p:spPr>
          <a:xfrm>
            <a:off x="6196431" y="4572000"/>
            <a:ext cx="50292" cy="1188720"/>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87" name="Rounded Rectangle 15386"/>
          <p:cNvSpPr/>
          <p:nvPr/>
        </p:nvSpPr>
        <p:spPr>
          <a:xfrm>
            <a:off x="9157487" y="4572000"/>
            <a:ext cx="2759887" cy="1188720"/>
          </a:xfrm>
          <a:prstGeom prst="roundRect">
            <a:avLst>
              <a:gd name="adj" fmla="val 14000"/>
            </a:avLst>
          </a:prstGeom>
          <a:solidFill>
            <a:srgbClr val="F2F7FC"/>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l">
              <a:lnSpc>
                <a:spcPct val="95000"/>
              </a:lnSpc>
            </a:pPr>
            <a:r>
              <a:rPr sz="900" b="1" i="0">
                <a:solidFill>
                  <a:srgbClr val="1F4E79"/>
                </a:solidFill>
                <a:latin typeface="Arial"/>
              </a:rPr>
              <a:t>Extensible by declaration</a:t>
            </a:r>
          </a:p>
          <a:p>
            <a:pPr algn="l">
              <a:lnSpc>
                <a:spcPct val="100000"/>
              </a:lnSpc>
              <a:spcBef>
                <a:spcPts val="300"/>
              </a:spcBef>
            </a:pPr>
            <a:r>
              <a:rPr sz="750" b="0" i="0">
                <a:solidFill>
                  <a:srgbClr val="1A1A1A"/>
                </a:solidFill>
                <a:latin typeface="Arial"/>
              </a:rPr>
              <a:t>A new model joins via a registry entry and a binding. Controller, validator and API unchanged.</a:t>
            </a:r>
          </a:p>
        </p:txBody>
      </p:sp>
      <p:sp>
        <p:nvSpPr>
          <p:cNvPr id="15388" name="Rectangle 15387"/>
          <p:cNvSpPr/>
          <p:nvPr/>
        </p:nvSpPr>
        <p:spPr>
          <a:xfrm>
            <a:off x="9157487" y="4572000"/>
            <a:ext cx="50292" cy="118872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ounded Rectangle 17410"/>
          <p:cNvSpPr/>
          <p:nvPr/>
        </p:nvSpPr>
        <p:spPr>
          <a:xfrm>
            <a:off x="274320" y="1115568"/>
            <a:ext cx="11643055" cy="384048"/>
          </a:xfrm>
          <a:prstGeom prst="roundRect">
            <a:avLst>
              <a:gd name="adj" fmla="val 6000"/>
            </a:avLst>
          </a:prstGeom>
          <a:solidFill>
            <a:srgbClr val="F2F7FC"/>
          </a:solidFill>
          <a:ln w="10160">
            <a:solidFill>
              <a:srgbClr val="DEEB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420623" y="1115568"/>
            <a:ext cx="11350447" cy="384048"/>
          </a:xfrm>
          <a:prstGeom prst="rect">
            <a:avLst/>
          </a:prstGeom>
          <a:noFill/>
          <a:ln w="9525">
            <a:noFill/>
            <a:miter lim="800000"/>
            <a:headEnd/>
            <a:tailEnd/>
          </a:ln>
        </p:spPr>
        <p:txBody>
          <a:bodyPr wrap="square" anchor="ctr" lIns="0" rIns="0" tIns="0" bIns="0">
            <a:spAutoFit/>
          </a:bodyPr>
          <a:lstStyle/>
          <a:p>
            <a:pPr marL="342900" indent="-342900" algn="l">
              <a:lnSpc>
                <a:spcPct val="105000"/>
              </a:lnSpc>
              <a:spcBef>
                <a:spcPts val="0"/>
              </a:spcBef>
              <a:spcAft>
                <a:spcPts val="0"/>
              </a:spcAft>
              <a:buFont typeface="Arial" panose="020B0604020202020204" pitchFamily="34" charset="0"/>
              <a:buChar char="•"/>
            </a:pPr>
            <a:r>
              <a:rPr lang="en-US" sz="800" dirty="0" b="0">
                <a:solidFill>
                  <a:srgbClr val="1A1A1A"/>
                </a:solidFill>
                <a:latin typeface="Arial" pitchFamily="34" charset="0"/>
                <a:cs typeface="Arial" pitchFamily="34" charset="0"/>
              </a:rPr>
              <a:t>Technologies to be used (e.g. programming languages, frameworks, hardware)</a:t>
            </a:r>
          </a:p>
          <a:p>
            <a:pPr marL="342900" indent="-342900" algn="l">
              <a:lnSpc>
                <a:spcPct val="105000"/>
              </a:lnSpc>
              <a:spcBef>
                <a:spcPts val="0"/>
              </a:spcBef>
              <a:spcAft>
                <a:spcPts val="0"/>
              </a:spcAft>
              <a:buFont typeface="Arial" panose="020B0604020202020204" pitchFamily="34" charset="0"/>
              <a:buChar char="•"/>
            </a:pPr>
            <a:r>
              <a:rPr lang="en-US" sz="800" dirty="0" b="0">
                <a:solidFill>
                  <a:srgbClr val="1A1A1A"/>
                </a:solidFill>
                <a:latin typeface="Arial" pitchFamily="34" charset="0"/>
                <a:cs typeface="Arial" pitchFamily="34" charset="0"/>
              </a:rPr>
              <a:t>Methodology and process for implementation (Flow Charts/Images/ working prototype)</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2" name="TextBox 17411"/>
          <p:cNvSpPr txBox="1"/>
          <p:nvPr/>
        </p:nvSpPr>
        <p:spPr>
          <a:xfrm>
            <a:off x="274320" y="1572768"/>
            <a:ext cx="8138160" cy="219456"/>
          </a:xfrm>
          <a:prstGeom prst="rect">
            <a:avLst/>
          </a:prstGeom>
          <a:noFill/>
        </p:spPr>
        <p:txBody>
          <a:bodyPr wrap="square" anchor="t" lIns="0" rIns="0" tIns="18288" bIns="18288">
            <a:spAutoFit/>
          </a:bodyPr>
          <a:lstStyle/>
          <a:p>
            <a:pPr algn="l"/>
            <a:r>
              <a:rPr sz="900" b="1" i="0">
                <a:solidFill>
                  <a:srgbClr val="C55A11"/>
                </a:solidFill>
                <a:latin typeface="Arial"/>
              </a:rPr>
              <a:t>AI REASONING PROPOSES  →  DETERMINISTIC LAYERS VERIFY, EXECUTE AND EXPLAIN</a:t>
            </a:r>
          </a:p>
        </p:txBody>
      </p:sp>
      <p:sp>
        <p:nvSpPr>
          <p:cNvPr id="17413" name="TextBox 17412"/>
          <p:cNvSpPr txBox="1"/>
          <p:nvPr/>
        </p:nvSpPr>
        <p:spPr>
          <a:xfrm>
            <a:off x="274320" y="1847088"/>
            <a:ext cx="1143000" cy="310896"/>
          </a:xfrm>
          <a:prstGeom prst="rect">
            <a:avLst/>
          </a:prstGeom>
          <a:noFill/>
        </p:spPr>
        <p:txBody>
          <a:bodyPr wrap="square" anchor="ctr" lIns="0" rIns="0" tIns="18288" bIns="18288">
            <a:spAutoFit/>
          </a:bodyPr>
          <a:lstStyle/>
          <a:p>
            <a:pPr algn="r">
              <a:lnSpc>
                <a:spcPct val="95000"/>
              </a:lnSpc>
            </a:pPr>
            <a:r>
              <a:rPr sz="740" b="1" i="0">
                <a:solidFill>
                  <a:srgbClr val="1F4E79"/>
                </a:solidFill>
                <a:latin typeface="Arial"/>
              </a:rPr>
              <a:t>INPUT</a:t>
            </a:r>
          </a:p>
        </p:txBody>
      </p:sp>
      <p:sp>
        <p:nvSpPr>
          <p:cNvPr id="17414" name="Rounded Rectangle 17413"/>
          <p:cNvSpPr/>
          <p:nvPr/>
        </p:nvSpPr>
        <p:spPr>
          <a:xfrm>
            <a:off x="1481328" y="1847088"/>
            <a:ext cx="6675120" cy="310896"/>
          </a:xfrm>
          <a:prstGeom prst="roundRect">
            <a:avLst>
              <a:gd name="adj" fmla="val 16000"/>
            </a:avLst>
          </a:prstGeom>
          <a:solidFill>
            <a:srgbClr val="FFFFFF"/>
          </a:solidFill>
          <a:ln w="1143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1" i="0">
                <a:solidFill>
                  <a:srgbClr val="1F4E79"/>
                </a:solidFill>
                <a:latin typeface="Arial"/>
              </a:rPr>
              <a:t>Natural-language question  +  satellite imagery  +  optional region and dates</a:t>
            </a:r>
          </a:p>
        </p:txBody>
      </p:sp>
      <p:sp>
        <p:nvSpPr>
          <p:cNvPr id="17415" name="TextBox 17414"/>
          <p:cNvSpPr txBox="1"/>
          <p:nvPr/>
        </p:nvSpPr>
        <p:spPr>
          <a:xfrm>
            <a:off x="274320" y="2226564"/>
            <a:ext cx="1143000" cy="621792"/>
          </a:xfrm>
          <a:prstGeom prst="rect">
            <a:avLst/>
          </a:prstGeom>
          <a:noFill/>
        </p:spPr>
        <p:txBody>
          <a:bodyPr wrap="square" anchor="ctr" lIns="0" rIns="0" tIns="18288" bIns="18288">
            <a:spAutoFit/>
          </a:bodyPr>
          <a:lstStyle/>
          <a:p>
            <a:pPr algn="r">
              <a:lnSpc>
                <a:spcPct val="95000"/>
              </a:lnSpc>
            </a:pPr>
            <a:r>
              <a:rPr sz="740" b="1" i="0">
                <a:solidFill>
                  <a:srgbClr val="C55A11"/>
                </a:solidFill>
                <a:latin typeface="Arial"/>
              </a:rPr>
              <a:t>REASONING
(LLM proposes)</a:t>
            </a:r>
          </a:p>
        </p:txBody>
      </p:sp>
      <p:sp>
        <p:nvSpPr>
          <p:cNvPr id="17416" name="Rounded Rectangle 17415"/>
          <p:cNvSpPr/>
          <p:nvPr/>
        </p:nvSpPr>
        <p:spPr>
          <a:xfrm>
            <a:off x="1481328" y="2226564"/>
            <a:ext cx="6675120" cy="621792"/>
          </a:xfrm>
          <a:prstGeom prst="roundRect">
            <a:avLst>
              <a:gd name="adj" fmla="val 10000"/>
            </a:avLst>
          </a:prstGeom>
          <a:solidFill>
            <a:srgbClr val="FDEEE0"/>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7" name="Rounded Rectangle 17416"/>
          <p:cNvSpPr/>
          <p:nvPr/>
        </p:nvSpPr>
        <p:spPr>
          <a:xfrm>
            <a:off x="1581912" y="2299716"/>
            <a:ext cx="2097024" cy="47548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60" b="1" i="0">
                <a:solidFill>
                  <a:srgbClr val="C55A11"/>
                </a:solidFill>
                <a:latin typeface="Arial"/>
              </a:rPr>
              <a:t>Query understanding</a:t>
            </a:r>
          </a:p>
          <a:p>
            <a:pPr algn="ctr">
              <a:lnSpc>
                <a:spcPct val="95000"/>
              </a:lnSpc>
              <a:spcBef>
                <a:spcPts val="200"/>
              </a:spcBef>
            </a:pPr>
            <a:r>
              <a:rPr sz="640" b="0" i="0">
                <a:solidFill>
                  <a:srgbClr val="1A1A1A"/>
                </a:solidFill>
                <a:latin typeface="Arial"/>
              </a:rPr>
              <a:t>intent · entities · constraints</a:t>
            </a:r>
          </a:p>
        </p:txBody>
      </p:sp>
      <p:sp>
        <p:nvSpPr>
          <p:cNvPr id="17418" name="Rounded Rectangle 17417"/>
          <p:cNvSpPr/>
          <p:nvPr/>
        </p:nvSpPr>
        <p:spPr>
          <a:xfrm>
            <a:off x="3770376" y="2299716"/>
            <a:ext cx="2097024" cy="47548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60" b="1" i="0">
                <a:solidFill>
                  <a:srgbClr val="C55A11"/>
                </a:solidFill>
                <a:latin typeface="Arial"/>
              </a:rPr>
              <a:t>Task decomposition</a:t>
            </a:r>
          </a:p>
          <a:p>
            <a:pPr algn="ctr">
              <a:lnSpc>
                <a:spcPct val="95000"/>
              </a:lnSpc>
              <a:spcBef>
                <a:spcPts val="200"/>
              </a:spcBef>
            </a:pPr>
            <a:r>
              <a:rPr sz="640" b="0" i="0">
                <a:solidFill>
                  <a:srgbClr val="1A1A1A"/>
                </a:solidFill>
                <a:latin typeface="Arial"/>
              </a:rPr>
              <a:t>question → ordered subtasks</a:t>
            </a:r>
          </a:p>
        </p:txBody>
      </p:sp>
      <p:sp>
        <p:nvSpPr>
          <p:cNvPr id="17419" name="Rounded Rectangle 17418"/>
          <p:cNvSpPr/>
          <p:nvPr/>
        </p:nvSpPr>
        <p:spPr>
          <a:xfrm>
            <a:off x="5958840" y="2299716"/>
            <a:ext cx="2097024" cy="47548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60" b="1" i="0">
                <a:solidFill>
                  <a:srgbClr val="C55A11"/>
                </a:solidFill>
                <a:latin typeface="Arial"/>
              </a:rPr>
              <a:t>Input requirement inference</a:t>
            </a:r>
          </a:p>
          <a:p>
            <a:pPr algn="ctr">
              <a:lnSpc>
                <a:spcPct val="95000"/>
              </a:lnSpc>
              <a:spcBef>
                <a:spcPts val="200"/>
              </a:spcBef>
            </a:pPr>
            <a:r>
              <a:rPr sz="640" b="0" i="0">
                <a:solidFill>
                  <a:srgbClr val="1A1A1A"/>
                </a:solidFill>
                <a:latin typeface="Arial"/>
              </a:rPr>
              <a:t>modality · bands · count</a:t>
            </a:r>
          </a:p>
        </p:txBody>
      </p:sp>
      <p:sp>
        <p:nvSpPr>
          <p:cNvPr id="17420" name="TextBox 17419"/>
          <p:cNvSpPr txBox="1"/>
          <p:nvPr/>
        </p:nvSpPr>
        <p:spPr>
          <a:xfrm>
            <a:off x="274320" y="2916936"/>
            <a:ext cx="1143000" cy="457200"/>
          </a:xfrm>
          <a:prstGeom prst="rect">
            <a:avLst/>
          </a:prstGeom>
          <a:noFill/>
        </p:spPr>
        <p:txBody>
          <a:bodyPr wrap="square" anchor="ctr" lIns="0" rIns="0" tIns="18288" bIns="18288">
            <a:spAutoFit/>
          </a:bodyPr>
          <a:lstStyle/>
          <a:p>
            <a:pPr algn="r">
              <a:lnSpc>
                <a:spcPct val="95000"/>
              </a:lnSpc>
            </a:pPr>
            <a:r>
              <a:rPr sz="740" b="1" i="0">
                <a:solidFill>
                  <a:srgbClr val="0070C0"/>
                </a:solidFill>
                <a:latin typeface="Arial"/>
              </a:rPr>
              <a:t>CAPABILITY
REGISTRY</a:t>
            </a:r>
          </a:p>
        </p:txBody>
      </p:sp>
      <p:sp>
        <p:nvSpPr>
          <p:cNvPr id="17421" name="Rounded Rectangle 17420"/>
          <p:cNvSpPr/>
          <p:nvPr/>
        </p:nvSpPr>
        <p:spPr>
          <a:xfrm>
            <a:off x="1481328" y="2916936"/>
            <a:ext cx="6675120" cy="457200"/>
          </a:xfrm>
          <a:prstGeom prst="roundRect">
            <a:avLst>
              <a:gd name="adj" fmla="val 12000"/>
            </a:avLst>
          </a:prstGeom>
          <a:solidFill>
            <a:srgbClr val="FFFFFF"/>
          </a:solidFill>
          <a:ln w="1651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2" name="TextBox 17421"/>
          <p:cNvSpPr txBox="1"/>
          <p:nvPr/>
        </p:nvSpPr>
        <p:spPr>
          <a:xfrm>
            <a:off x="1591056" y="2916936"/>
            <a:ext cx="1874519" cy="457200"/>
          </a:xfrm>
          <a:prstGeom prst="rect">
            <a:avLst/>
          </a:prstGeom>
          <a:noFill/>
        </p:spPr>
        <p:txBody>
          <a:bodyPr wrap="square" anchor="ctr" lIns="0" rIns="0" tIns="18288" bIns="18288">
            <a:spAutoFit/>
          </a:bodyPr>
          <a:lstStyle/>
          <a:p>
            <a:pPr algn="l">
              <a:lnSpc>
                <a:spcPct val="95000"/>
              </a:lnSpc>
            </a:pPr>
            <a:r>
              <a:rPr sz="800" b="1" i="0">
                <a:solidFill>
                  <a:srgbClr val="0070C0"/>
                </a:solidFill>
                <a:latin typeface="Arial"/>
              </a:rPr>
              <a:t>8 versioned capabilities</a:t>
            </a:r>
          </a:p>
          <a:p>
            <a:pPr algn="l">
              <a:lnSpc>
                <a:spcPct val="95000"/>
              </a:lnSpc>
            </a:pPr>
            <a:r>
              <a:rPr sz="640" b="0" i="0">
                <a:solidFill>
                  <a:srgbClr val="595959"/>
                </a:solidFill>
                <a:latin typeface="Arial"/>
              </a:rPr>
              <a:t>the only callable surface</a:t>
            </a:r>
          </a:p>
        </p:txBody>
      </p:sp>
      <p:sp>
        <p:nvSpPr>
          <p:cNvPr id="17423" name="Rounded Rectangle 17422"/>
          <p:cNvSpPr/>
          <p:nvPr/>
        </p:nvSpPr>
        <p:spPr>
          <a:xfrm>
            <a:off x="3538728" y="2980944"/>
            <a:ext cx="4507992" cy="329184"/>
          </a:xfrm>
          <a:prstGeom prst="roundRect">
            <a:avLst>
              <a:gd name="adj" fmla="val 10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660" b="0" i="0">
                <a:solidFill>
                  <a:srgbClr val="1A1A1A"/>
                </a:solidFill>
                <a:latin typeface="Arial"/>
              </a:rPr>
              <a:t>tool_id · modality · required bands · min/max images · temporal-pair flag · parameter schema</a:t>
            </a:r>
          </a:p>
          <a:p>
            <a:pPr algn="ctr">
              <a:lnSpc>
                <a:spcPct val="95000"/>
              </a:lnSpc>
              <a:spcBef>
                <a:spcPts val="200"/>
              </a:spcBef>
            </a:pPr>
            <a:r>
              <a:rPr sz="660" b="1" i="0">
                <a:solidFill>
                  <a:srgbClr val="0070C0"/>
                </a:solidFill>
                <a:latin typeface="Arial"/>
              </a:rPr>
              <a:t>constrains selection AND supplies what the validation gate enforces</a:t>
            </a:r>
          </a:p>
        </p:txBody>
      </p:sp>
      <p:sp>
        <p:nvSpPr>
          <p:cNvPr id="17424" name="TextBox 17423"/>
          <p:cNvSpPr txBox="1"/>
          <p:nvPr/>
        </p:nvSpPr>
        <p:spPr>
          <a:xfrm>
            <a:off x="274320" y="3442715"/>
            <a:ext cx="1143000" cy="621792"/>
          </a:xfrm>
          <a:prstGeom prst="rect">
            <a:avLst/>
          </a:prstGeom>
          <a:noFill/>
        </p:spPr>
        <p:txBody>
          <a:bodyPr wrap="square" anchor="ctr" lIns="0" rIns="0" tIns="18288" bIns="18288">
            <a:spAutoFit/>
          </a:bodyPr>
          <a:lstStyle/>
          <a:p>
            <a:pPr algn="r">
              <a:lnSpc>
                <a:spcPct val="95000"/>
              </a:lnSpc>
            </a:pPr>
            <a:r>
              <a:rPr sz="740" b="1" i="0">
                <a:solidFill>
                  <a:srgbClr val="0070C0"/>
                </a:solidFill>
                <a:latin typeface="Arial"/>
              </a:rPr>
              <a:t>ORCHESTRATION</a:t>
            </a:r>
          </a:p>
        </p:txBody>
      </p:sp>
      <p:sp>
        <p:nvSpPr>
          <p:cNvPr id="17425" name="Rounded Rectangle 17424"/>
          <p:cNvSpPr/>
          <p:nvPr/>
        </p:nvSpPr>
        <p:spPr>
          <a:xfrm>
            <a:off x="1481328" y="3442715"/>
            <a:ext cx="6675120" cy="621792"/>
          </a:xfrm>
          <a:prstGeom prst="roundRect">
            <a:avLst>
              <a:gd name="adj" fmla="val 10000"/>
            </a:avLst>
          </a:prstGeom>
          <a:solidFill>
            <a:srgbClr val="DEEBF7"/>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6" name="Rounded Rectangle 17425"/>
          <p:cNvSpPr/>
          <p:nvPr/>
        </p:nvSpPr>
        <p:spPr>
          <a:xfrm>
            <a:off x="1581912" y="3515868"/>
            <a:ext cx="2097024" cy="47548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60" b="1" i="0">
                <a:solidFill>
                  <a:srgbClr val="0070C0"/>
                </a:solidFill>
                <a:latin typeface="Arial"/>
              </a:rPr>
              <a:t>Capability selection</a:t>
            </a:r>
          </a:p>
          <a:p>
            <a:pPr algn="ctr">
              <a:lnSpc>
                <a:spcPct val="95000"/>
              </a:lnSpc>
              <a:spcBef>
                <a:spcPts val="200"/>
              </a:spcBef>
            </a:pPr>
            <a:r>
              <a:rPr sz="640" b="0" i="0">
                <a:solidFill>
                  <a:srgbClr val="1A1A1A"/>
                </a:solidFill>
                <a:latin typeface="Arial"/>
              </a:rPr>
              <a:t>subtask vs registry contract</a:t>
            </a:r>
          </a:p>
        </p:txBody>
      </p:sp>
      <p:sp>
        <p:nvSpPr>
          <p:cNvPr id="17427" name="Rounded Rectangle 17426"/>
          <p:cNvSpPr/>
          <p:nvPr/>
        </p:nvSpPr>
        <p:spPr>
          <a:xfrm>
            <a:off x="3770376" y="3515868"/>
            <a:ext cx="2097024" cy="47548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60" b="1" i="0">
                <a:solidFill>
                  <a:srgbClr val="0070C0"/>
                </a:solidFill>
                <a:latin typeface="Arial"/>
              </a:rPr>
              <a:t>Execution planning</a:t>
            </a:r>
          </a:p>
          <a:p>
            <a:pPr algn="ctr">
              <a:lnSpc>
                <a:spcPct val="95000"/>
              </a:lnSpc>
              <a:spcBef>
                <a:spcPts val="200"/>
              </a:spcBef>
            </a:pPr>
            <a:r>
              <a:rPr sz="640" b="0" i="0">
                <a:solidFill>
                  <a:srgbClr val="1A1A1A"/>
                </a:solidFill>
                <a:latin typeface="Arial"/>
              </a:rPr>
              <a:t>order · dependencies · artefacts</a:t>
            </a:r>
          </a:p>
        </p:txBody>
      </p:sp>
      <p:sp>
        <p:nvSpPr>
          <p:cNvPr id="17428" name="Rounded Rectangle 17427"/>
          <p:cNvSpPr/>
          <p:nvPr/>
        </p:nvSpPr>
        <p:spPr>
          <a:xfrm>
            <a:off x="5958840" y="3515868"/>
            <a:ext cx="2097024" cy="47548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60" b="1" i="0">
                <a:solidFill>
                  <a:srgbClr val="0070C0"/>
                </a:solidFill>
                <a:latin typeface="Arial"/>
              </a:rPr>
              <a:t>Parameter configuration</a:t>
            </a:r>
          </a:p>
          <a:p>
            <a:pPr algn="ctr">
              <a:lnSpc>
                <a:spcPct val="95000"/>
              </a:lnSpc>
              <a:spcBef>
                <a:spcPts val="200"/>
              </a:spcBef>
            </a:pPr>
            <a:r>
              <a:rPr sz="640" b="0" i="0">
                <a:solidFill>
                  <a:srgbClr val="1A1A1A"/>
                </a:solidFill>
                <a:latin typeface="Arial"/>
              </a:rPr>
              <a:t>bands · scale/offset · thresholds</a:t>
            </a:r>
          </a:p>
        </p:txBody>
      </p:sp>
      <p:sp>
        <p:nvSpPr>
          <p:cNvPr id="17429" name="TextBox 17428"/>
          <p:cNvSpPr txBox="1"/>
          <p:nvPr/>
        </p:nvSpPr>
        <p:spPr>
          <a:xfrm>
            <a:off x="274320" y="4133087"/>
            <a:ext cx="1143000" cy="676656"/>
          </a:xfrm>
          <a:prstGeom prst="rect">
            <a:avLst/>
          </a:prstGeom>
          <a:noFill/>
        </p:spPr>
        <p:txBody>
          <a:bodyPr wrap="square" anchor="ctr" lIns="0" rIns="0" tIns="18288" bIns="18288">
            <a:spAutoFit/>
          </a:bodyPr>
          <a:lstStyle/>
          <a:p>
            <a:pPr algn="r">
              <a:lnSpc>
                <a:spcPct val="95000"/>
              </a:lnSpc>
            </a:pPr>
            <a:r>
              <a:rPr sz="740" b="1" i="0">
                <a:solidFill>
                  <a:srgbClr val="C00000"/>
                </a:solidFill>
                <a:latin typeface="Arial"/>
              </a:rPr>
              <a:t>VALIDATION GATE
(hard boundary)</a:t>
            </a:r>
          </a:p>
        </p:txBody>
      </p:sp>
      <p:sp>
        <p:nvSpPr>
          <p:cNvPr id="17430" name="Rounded Rectangle 17429"/>
          <p:cNvSpPr/>
          <p:nvPr/>
        </p:nvSpPr>
        <p:spPr>
          <a:xfrm>
            <a:off x="1481328" y="4133087"/>
            <a:ext cx="6675120" cy="676656"/>
          </a:xfrm>
          <a:prstGeom prst="roundRect">
            <a:avLst>
              <a:gd name="adj" fmla="val 10000"/>
            </a:avLst>
          </a:prstGeom>
          <a:solidFill>
            <a:srgbClr val="FBE7E5"/>
          </a:solidFill>
          <a:ln w="2286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1" name="TextBox 17430"/>
          <p:cNvSpPr txBox="1"/>
          <p:nvPr/>
        </p:nvSpPr>
        <p:spPr>
          <a:xfrm>
            <a:off x="1609344" y="4178807"/>
            <a:ext cx="4617720" cy="585216"/>
          </a:xfrm>
          <a:prstGeom prst="rect">
            <a:avLst/>
          </a:prstGeom>
          <a:noFill/>
        </p:spPr>
        <p:txBody>
          <a:bodyPr wrap="square" anchor="ctr" lIns="0" rIns="0" tIns="18288" bIns="18288">
            <a:spAutoFit/>
          </a:bodyPr>
          <a:lstStyle/>
          <a:p>
            <a:pPr algn="l">
              <a:lnSpc>
                <a:spcPct val="95000"/>
              </a:lnSpc>
            </a:pPr>
            <a:r>
              <a:rPr sz="780" b="1" i="0">
                <a:solidFill>
                  <a:srgbClr val="C00000"/>
                </a:solidFill>
                <a:latin typeface="Arial"/>
              </a:rPr>
              <a:t>DETERMINISTIC INPUT AND COMPATIBILITY VALIDATION</a:t>
            </a:r>
          </a:p>
          <a:p>
            <a:pPr algn="l">
              <a:lnSpc>
                <a:spcPct val="100000"/>
              </a:lnSpc>
              <a:spcBef>
                <a:spcPts val="200"/>
              </a:spcBef>
            </a:pPr>
            <a:r>
              <a:rPr sz="650" b="0" i="0">
                <a:solidFill>
                  <a:srgbClr val="1A1A1A"/>
                </a:solidFill>
                <a:latin typeface="Arial"/>
              </a:rPr>
              <a:t>image count · metadata · modality · temporal information · CRS · required bands (B4 ≡ red) · optical/SAR · pair distinctness</a:t>
            </a:r>
          </a:p>
          <a:p>
            <a:pPr algn="l">
              <a:lnSpc>
                <a:spcPct val="95000"/>
              </a:lnSpc>
              <a:spcBef>
                <a:spcPts val="200"/>
              </a:spcBef>
            </a:pPr>
            <a:r>
              <a:rPr sz="660" b="1" i="0">
                <a:solidFill>
                  <a:srgbClr val="C00000"/>
                </a:solidFill>
                <a:latin typeface="Arial"/>
              </a:rPr>
              <a:t>No model opinion bypasses this. Nothing executes until it passes.</a:t>
            </a:r>
          </a:p>
        </p:txBody>
      </p:sp>
      <p:sp>
        <p:nvSpPr>
          <p:cNvPr id="17432" name="Rounded Rectangle 17431"/>
          <p:cNvSpPr/>
          <p:nvPr/>
        </p:nvSpPr>
        <p:spPr>
          <a:xfrm>
            <a:off x="6345936" y="4197096"/>
            <a:ext cx="841248" cy="548640"/>
          </a:xfrm>
          <a:prstGeom prst="roundRect">
            <a:avLst>
              <a:gd name="adj" fmla="val 16000"/>
            </a:avLst>
          </a:prstGeom>
          <a:solidFill>
            <a:srgbClr val="E4F3E9"/>
          </a:solidFill>
          <a:ln w="11430">
            <a:solidFill>
              <a:srgbClr val="2E9B4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40" b="1" i="0">
                <a:solidFill>
                  <a:srgbClr val="1E7A3C"/>
                </a:solidFill>
                <a:latin typeface="Arial"/>
              </a:rPr>
              <a:t>✓ proceed</a:t>
            </a:r>
          </a:p>
        </p:txBody>
      </p:sp>
      <p:sp>
        <p:nvSpPr>
          <p:cNvPr id="17433" name="Rounded Rectangle 17432"/>
          <p:cNvSpPr/>
          <p:nvPr/>
        </p:nvSpPr>
        <p:spPr>
          <a:xfrm>
            <a:off x="7260336" y="4197096"/>
            <a:ext cx="786383" cy="548640"/>
          </a:xfrm>
          <a:prstGeom prst="roundRect">
            <a:avLst>
              <a:gd name="adj" fmla="val 16000"/>
            </a:avLst>
          </a:prstGeom>
          <a:solidFill>
            <a:srgbClr val="FFFFFF"/>
          </a:solidFill>
          <a:ln w="1143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0000"/>
              </a:lnSpc>
            </a:pPr>
            <a:r>
              <a:rPr sz="740" b="1" i="0">
                <a:solidFill>
                  <a:srgbClr val="C00000"/>
                </a:solidFill>
                <a:latin typeface="Arial"/>
              </a:rPr>
              <a:t>✗ reject</a:t>
            </a:r>
          </a:p>
          <a:p>
            <a:pPr algn="ctr">
              <a:lnSpc>
                <a:spcPct val="90000"/>
              </a:lnSpc>
            </a:pPr>
            <a:r>
              <a:rPr sz="600" b="0" i="0">
                <a:solidFill>
                  <a:srgbClr val="C00000"/>
                </a:solidFill>
                <a:latin typeface="Arial"/>
              </a:rPr>
              <a:t>with the reason</a:t>
            </a:r>
          </a:p>
        </p:txBody>
      </p:sp>
      <p:sp>
        <p:nvSpPr>
          <p:cNvPr id="17434" name="TextBox 17433"/>
          <p:cNvSpPr txBox="1"/>
          <p:nvPr/>
        </p:nvSpPr>
        <p:spPr>
          <a:xfrm>
            <a:off x="274320" y="4878323"/>
            <a:ext cx="1143000" cy="749808"/>
          </a:xfrm>
          <a:prstGeom prst="rect">
            <a:avLst/>
          </a:prstGeom>
          <a:noFill/>
        </p:spPr>
        <p:txBody>
          <a:bodyPr wrap="square" anchor="ctr" lIns="0" rIns="0" tIns="18288" bIns="18288">
            <a:spAutoFit/>
          </a:bodyPr>
          <a:lstStyle/>
          <a:p>
            <a:pPr algn="r">
              <a:lnSpc>
                <a:spcPct val="95000"/>
              </a:lnSpc>
            </a:pPr>
            <a:r>
              <a:rPr sz="740" b="1" i="0">
                <a:solidFill>
                  <a:srgbClr val="1E7A3C"/>
                </a:solidFill>
                <a:latin typeface="Arial"/>
              </a:rPr>
              <a:t>REMOTE-SENSING
EXECUTION</a:t>
            </a:r>
          </a:p>
        </p:txBody>
      </p:sp>
      <p:sp>
        <p:nvSpPr>
          <p:cNvPr id="17435" name="Rounded Rectangle 17434"/>
          <p:cNvSpPr/>
          <p:nvPr/>
        </p:nvSpPr>
        <p:spPr>
          <a:xfrm>
            <a:off x="1481328" y="4878323"/>
            <a:ext cx="6675120" cy="749808"/>
          </a:xfrm>
          <a:prstGeom prst="roundRect">
            <a:avLst>
              <a:gd name="adj" fmla="val 8000"/>
            </a:avLst>
          </a:prstGeom>
          <a:solidFill>
            <a:srgbClr val="FFFFFF"/>
          </a:solidFill>
          <a:ln w="1143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6" name="Rounded Rectangle 17435"/>
          <p:cNvSpPr/>
          <p:nvPr/>
        </p:nvSpPr>
        <p:spPr>
          <a:xfrm>
            <a:off x="1581912" y="4942331"/>
            <a:ext cx="1556766" cy="274320"/>
          </a:xfrm>
          <a:prstGeom prst="roundRect">
            <a:avLst>
              <a:gd name="adj" fmla="val 18000"/>
            </a:avLst>
          </a:prstGeom>
          <a:solidFill>
            <a:srgbClr val="E4F3E9"/>
          </a:solidFill>
          <a:ln w="10795">
            <a:solidFill>
              <a:srgbClr val="2E9B4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20" b="1" i="0">
                <a:solidFill>
                  <a:srgbClr val="1E7A3C"/>
                </a:solidFill>
                <a:latin typeface="Arial"/>
              </a:rPr>
              <a:t>NDVI</a:t>
            </a:r>
          </a:p>
        </p:txBody>
      </p:sp>
      <p:sp>
        <p:nvSpPr>
          <p:cNvPr id="17437" name="Rounded Rectangle 17436"/>
          <p:cNvSpPr/>
          <p:nvPr/>
        </p:nvSpPr>
        <p:spPr>
          <a:xfrm>
            <a:off x="3220974" y="4942331"/>
            <a:ext cx="1556766" cy="274320"/>
          </a:xfrm>
          <a:prstGeom prst="roundRect">
            <a:avLst>
              <a:gd name="adj" fmla="val 18000"/>
            </a:avLst>
          </a:prstGeom>
          <a:solidFill>
            <a:srgbClr val="E4F3E9"/>
          </a:solidFill>
          <a:ln w="10795">
            <a:solidFill>
              <a:srgbClr val="2E9B4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20" b="1" i="0">
                <a:solidFill>
                  <a:srgbClr val="1E7A3C"/>
                </a:solidFill>
                <a:latin typeface="Arial"/>
              </a:rPr>
              <a:t>NDWI</a:t>
            </a:r>
          </a:p>
        </p:txBody>
      </p:sp>
      <p:sp>
        <p:nvSpPr>
          <p:cNvPr id="17438" name="Rounded Rectangle 17437"/>
          <p:cNvSpPr/>
          <p:nvPr/>
        </p:nvSpPr>
        <p:spPr>
          <a:xfrm>
            <a:off x="4860036" y="4942331"/>
            <a:ext cx="1556766" cy="274320"/>
          </a:xfrm>
          <a:prstGeom prst="roundRect">
            <a:avLst>
              <a:gd name="adj" fmla="val 18000"/>
            </a:avLst>
          </a:prstGeom>
          <a:solidFill>
            <a:srgbClr val="E4F3E9"/>
          </a:solidFill>
          <a:ln w="10795">
            <a:solidFill>
              <a:srgbClr val="2E9B4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20" b="1" i="0">
                <a:solidFill>
                  <a:srgbClr val="1E7A3C"/>
                </a:solidFill>
                <a:latin typeface="Arial"/>
              </a:rPr>
              <a:t>NDBI</a:t>
            </a:r>
          </a:p>
        </p:txBody>
      </p:sp>
      <p:sp>
        <p:nvSpPr>
          <p:cNvPr id="17439" name="Rounded Rectangle 17438"/>
          <p:cNvSpPr/>
          <p:nvPr/>
        </p:nvSpPr>
        <p:spPr>
          <a:xfrm>
            <a:off x="6499098" y="4942331"/>
            <a:ext cx="1556766" cy="274320"/>
          </a:xfrm>
          <a:prstGeom prst="roundRect">
            <a:avLst>
              <a:gd name="adj" fmla="val 18000"/>
            </a:avLst>
          </a:prstGeom>
          <a:solidFill>
            <a:srgbClr val="E4F3E9"/>
          </a:solidFill>
          <a:ln w="10795">
            <a:solidFill>
              <a:srgbClr val="2E9B4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20" b="1" i="0">
                <a:solidFill>
                  <a:srgbClr val="1E7A3C"/>
                </a:solidFill>
                <a:latin typeface="Arial"/>
              </a:rPr>
              <a:t>Bi-temporal change detection</a:t>
            </a:r>
          </a:p>
        </p:txBody>
      </p:sp>
      <p:sp>
        <p:nvSpPr>
          <p:cNvPr id="17440" name="Rounded Rectangle 17439"/>
          <p:cNvSpPr/>
          <p:nvPr/>
        </p:nvSpPr>
        <p:spPr>
          <a:xfrm>
            <a:off x="1581912" y="5280659"/>
            <a:ext cx="1556766" cy="274320"/>
          </a:xfrm>
          <a:prstGeom prst="roundRect">
            <a:avLst>
              <a:gd name="adj" fmla="val 18000"/>
            </a:avLst>
          </a:prstGeom>
          <a:solidFill>
            <a:srgbClr val="F2F2F2"/>
          </a:solidFill>
          <a:ln w="1079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20" b="0" i="0">
                <a:solidFill>
                  <a:srgbClr val="595959"/>
                </a:solidFill>
                <a:latin typeface="Arial"/>
              </a:rPr>
              <a:t>Satellite VQA</a:t>
            </a:r>
          </a:p>
        </p:txBody>
      </p:sp>
      <p:sp>
        <p:nvSpPr>
          <p:cNvPr id="17441" name="Rounded Rectangle 17440"/>
          <p:cNvSpPr/>
          <p:nvPr/>
        </p:nvSpPr>
        <p:spPr>
          <a:xfrm>
            <a:off x="3220974" y="5280659"/>
            <a:ext cx="1556766" cy="274320"/>
          </a:xfrm>
          <a:prstGeom prst="roundRect">
            <a:avLst>
              <a:gd name="adj" fmla="val 18000"/>
            </a:avLst>
          </a:prstGeom>
          <a:solidFill>
            <a:srgbClr val="F2F2F2"/>
          </a:solidFill>
          <a:ln w="1079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20" b="0" i="0">
                <a:solidFill>
                  <a:srgbClr val="595959"/>
                </a:solidFill>
                <a:latin typeface="Arial"/>
              </a:rPr>
              <a:t>Land-cover classification</a:t>
            </a:r>
          </a:p>
        </p:txBody>
      </p:sp>
      <p:sp>
        <p:nvSpPr>
          <p:cNvPr id="17442" name="Rounded Rectangle 17441"/>
          <p:cNvSpPr/>
          <p:nvPr/>
        </p:nvSpPr>
        <p:spPr>
          <a:xfrm>
            <a:off x="4860036" y="5280659"/>
            <a:ext cx="1556766" cy="274320"/>
          </a:xfrm>
          <a:prstGeom prst="roundRect">
            <a:avLst>
              <a:gd name="adj" fmla="val 18000"/>
            </a:avLst>
          </a:prstGeom>
          <a:solidFill>
            <a:srgbClr val="F2F2F2"/>
          </a:solidFill>
          <a:ln w="1079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20" b="0" i="0">
                <a:solidFill>
                  <a:srgbClr val="595959"/>
                </a:solidFill>
                <a:latin typeface="Arial"/>
              </a:rPr>
              <a:t>Object detection</a:t>
            </a:r>
          </a:p>
        </p:txBody>
      </p:sp>
      <p:sp>
        <p:nvSpPr>
          <p:cNvPr id="17443" name="Rounded Rectangle 17442"/>
          <p:cNvSpPr/>
          <p:nvPr/>
        </p:nvSpPr>
        <p:spPr>
          <a:xfrm>
            <a:off x="6499098" y="5280659"/>
            <a:ext cx="1556766" cy="274320"/>
          </a:xfrm>
          <a:prstGeom prst="roundRect">
            <a:avLst>
              <a:gd name="adj" fmla="val 18000"/>
            </a:avLst>
          </a:prstGeom>
          <a:solidFill>
            <a:srgbClr val="F2F2F2"/>
          </a:solidFill>
          <a:ln w="1079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20" b="0" i="0">
                <a:solidFill>
                  <a:srgbClr val="595959"/>
                </a:solidFill>
                <a:latin typeface="Arial"/>
              </a:rPr>
              <a:t>SAR analysis</a:t>
            </a:r>
          </a:p>
        </p:txBody>
      </p:sp>
      <p:sp>
        <p:nvSpPr>
          <p:cNvPr id="17444" name="TextBox 17443"/>
          <p:cNvSpPr txBox="1"/>
          <p:nvPr/>
        </p:nvSpPr>
        <p:spPr>
          <a:xfrm>
            <a:off x="274320" y="5696711"/>
            <a:ext cx="1143000" cy="493776"/>
          </a:xfrm>
          <a:prstGeom prst="rect">
            <a:avLst/>
          </a:prstGeom>
          <a:noFill/>
        </p:spPr>
        <p:txBody>
          <a:bodyPr wrap="square" anchor="ctr" lIns="0" rIns="0" tIns="18288" bIns="18288">
            <a:spAutoFit/>
          </a:bodyPr>
          <a:lstStyle/>
          <a:p>
            <a:pPr algn="r">
              <a:lnSpc>
                <a:spcPct val="95000"/>
              </a:lnSpc>
            </a:pPr>
            <a:r>
              <a:rPr sz="740" b="1" i="0">
                <a:solidFill>
                  <a:srgbClr val="1F4E79"/>
                </a:solidFill>
                <a:latin typeface="Arial"/>
              </a:rPr>
              <a:t>EVIDENCE
&amp; RESULT</a:t>
            </a:r>
          </a:p>
        </p:txBody>
      </p:sp>
      <p:sp>
        <p:nvSpPr>
          <p:cNvPr id="17445" name="Rounded Rectangle 17444"/>
          <p:cNvSpPr/>
          <p:nvPr/>
        </p:nvSpPr>
        <p:spPr>
          <a:xfrm>
            <a:off x="1481328" y="5696711"/>
            <a:ext cx="6675120" cy="493776"/>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6" name="TextBox 17445"/>
          <p:cNvSpPr txBox="1"/>
          <p:nvPr/>
        </p:nvSpPr>
        <p:spPr>
          <a:xfrm>
            <a:off x="1609344" y="5696711"/>
            <a:ext cx="2788920" cy="493776"/>
          </a:xfrm>
          <a:prstGeom prst="rect">
            <a:avLst/>
          </a:prstGeom>
          <a:noFill/>
        </p:spPr>
        <p:txBody>
          <a:bodyPr wrap="square" anchor="ctr" lIns="0" rIns="0" tIns="18288" bIns="18288">
            <a:spAutoFit/>
          </a:bodyPr>
          <a:lstStyle/>
          <a:p>
            <a:pPr algn="l">
              <a:lnSpc>
                <a:spcPct val="95000"/>
              </a:lnSpc>
            </a:pPr>
            <a:r>
              <a:rPr sz="740" b="1" i="0">
                <a:solidFill>
                  <a:srgbClr val="ED7D31"/>
                </a:solidFill>
                <a:latin typeface="Arial"/>
              </a:rPr>
              <a:t>Heterogeneous outputs</a:t>
            </a:r>
          </a:p>
          <a:p>
            <a:pPr algn="l">
              <a:lnSpc>
                <a:spcPct val="100000"/>
              </a:lnSpc>
            </a:pPr>
            <a:r>
              <a:rPr sz="640" b="0" i="0">
                <a:solidFill>
                  <a:srgbClr val="FFFFFF"/>
                </a:solidFill>
                <a:latin typeface="Arial"/>
              </a:rPr>
              <a:t>raster · mask · boxes · classes · statistics · confidence</a:t>
            </a:r>
          </a:p>
        </p:txBody>
      </p:sp>
      <p:sp>
        <p:nvSpPr>
          <p:cNvPr id="17447" name="Right Arrow 17446"/>
          <p:cNvSpPr/>
          <p:nvPr/>
        </p:nvSpPr>
        <p:spPr>
          <a:xfrm>
            <a:off x="4462272" y="5884163"/>
            <a:ext cx="164592" cy="118872"/>
          </a:xfrm>
          <a:prstGeom prst="rightArrow">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8" name="Rounded Rectangle 17447"/>
          <p:cNvSpPr/>
          <p:nvPr/>
        </p:nvSpPr>
        <p:spPr>
          <a:xfrm>
            <a:off x="4736592" y="5769863"/>
            <a:ext cx="3310127" cy="347472"/>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720" b="1" i="0">
                <a:solidFill>
                  <a:srgbClr val="1F4E79"/>
                </a:solidFill>
                <a:latin typeface="Arial"/>
              </a:rPr>
              <a:t>Aggregated → interpreted → answer + map + statistics + provenance</a:t>
            </a:r>
          </a:p>
        </p:txBody>
      </p:sp>
      <p:sp>
        <p:nvSpPr>
          <p:cNvPr id="17449" name="Up Arrow 17448"/>
          <p:cNvSpPr/>
          <p:nvPr/>
        </p:nvSpPr>
        <p:spPr>
          <a:xfrm>
            <a:off x="8229600" y="2231136"/>
            <a:ext cx="384048" cy="3959351"/>
          </a:xfrm>
          <a:prstGeom prst="upArrow">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0" name="Rounded Rectangle 17449"/>
          <p:cNvSpPr/>
          <p:nvPr/>
        </p:nvSpPr>
        <p:spPr>
          <a:xfrm>
            <a:off x="8211312" y="2551176"/>
            <a:ext cx="420623" cy="3319271"/>
          </a:xfrm>
          <a:prstGeom prst="roundRect">
            <a:avLst>
              <a:gd name="adj" fmla="val 14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vert="vert270"/>
          <a:lstStyle/>
          <a:p>
            <a:pPr algn="ctr"/>
            <a:r>
              <a:rPr sz="680" b="1" i="0">
                <a:solidFill>
                  <a:srgbClr val="FFFFFF"/>
                </a:solidFill>
                <a:latin typeface="Arial"/>
              </a:rPr>
              <a:t>RE-PLAN on rejection or low confidence</a:t>
            </a:r>
          </a:p>
        </p:txBody>
      </p:sp>
      <p:sp>
        <p:nvSpPr>
          <p:cNvPr id="17451" name="Rectangle 17450"/>
          <p:cNvSpPr/>
          <p:nvPr/>
        </p:nvSpPr>
        <p:spPr>
          <a:xfrm>
            <a:off x="8796528" y="1609344"/>
            <a:ext cx="45720" cy="13716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2" name="TextBox 17451"/>
          <p:cNvSpPr txBox="1"/>
          <p:nvPr/>
        </p:nvSpPr>
        <p:spPr>
          <a:xfrm>
            <a:off x="8906255" y="1572768"/>
            <a:ext cx="3120847" cy="210312"/>
          </a:xfrm>
          <a:prstGeom prst="rect">
            <a:avLst/>
          </a:prstGeom>
          <a:noFill/>
        </p:spPr>
        <p:txBody>
          <a:bodyPr wrap="square" anchor="ctr" lIns="0" rIns="0" tIns="18288" bIns="18288">
            <a:spAutoFit/>
          </a:bodyPr>
          <a:lstStyle/>
          <a:p>
            <a:pPr algn="l"/>
            <a:r>
              <a:rPr sz="1050" b="1" i="0">
                <a:solidFill>
                  <a:srgbClr val="1F4E79"/>
                </a:solidFill>
                <a:latin typeface="Arial"/>
              </a:rPr>
              <a:t>TECHNOLOGIES</a:t>
            </a:r>
          </a:p>
        </p:txBody>
      </p:sp>
      <p:sp>
        <p:nvSpPr>
          <p:cNvPr id="17453" name="Rounded Rectangle 17452"/>
          <p:cNvSpPr/>
          <p:nvPr/>
        </p:nvSpPr>
        <p:spPr>
          <a:xfrm>
            <a:off x="8796528" y="1865376"/>
            <a:ext cx="3120847" cy="347472"/>
          </a:xfrm>
          <a:prstGeom prst="roundRect">
            <a:avLst>
              <a:gd name="adj" fmla="val 1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l">
              <a:lnSpc>
                <a:spcPct val="90000"/>
              </a:lnSpc>
            </a:pPr>
            <a:r>
              <a:rPr sz="740" b="1" i="0">
                <a:solidFill>
                  <a:srgbClr val="1F4E79"/>
                </a:solidFill>
                <a:latin typeface="Arial"/>
              </a:rPr>
              <a:t>Python 3 · Pydantic v2</a:t>
            </a:r>
          </a:p>
          <a:p>
            <a:pPr algn="l">
              <a:lnSpc>
                <a:spcPct val="90000"/>
              </a:lnSpc>
            </a:pPr>
            <a:r>
              <a:rPr sz="630" b="0" i="0">
                <a:solidFill>
                  <a:srgbClr val="595959"/>
                </a:solidFill>
                <a:latin typeface="Arial"/>
              </a:rPr>
              <a:t>typed schemas end to end</a:t>
            </a:r>
          </a:p>
        </p:txBody>
      </p:sp>
      <p:sp>
        <p:nvSpPr>
          <p:cNvPr id="17454" name="Rounded Rectangle 17453"/>
          <p:cNvSpPr/>
          <p:nvPr/>
        </p:nvSpPr>
        <p:spPr>
          <a:xfrm>
            <a:off x="8796528" y="2263140"/>
            <a:ext cx="3120847" cy="347472"/>
          </a:xfrm>
          <a:prstGeom prst="roundRect">
            <a:avLst>
              <a:gd name="adj" fmla="val 1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l">
              <a:lnSpc>
                <a:spcPct val="90000"/>
              </a:lnSpc>
            </a:pPr>
            <a:r>
              <a:rPr sz="740" b="1" i="0">
                <a:solidFill>
                  <a:srgbClr val="1F4E79"/>
                </a:solidFill>
                <a:latin typeface="Arial"/>
              </a:rPr>
              <a:t>FastAPI · Uvicorn</a:t>
            </a:r>
          </a:p>
          <a:p>
            <a:pPr algn="l">
              <a:lnSpc>
                <a:spcPct val="90000"/>
              </a:lnSpc>
            </a:pPr>
            <a:r>
              <a:rPr sz="630" b="0" i="0">
                <a:solidFill>
                  <a:srgbClr val="595959"/>
                </a:solidFill>
                <a:latin typeface="Arial"/>
              </a:rPr>
              <a:t>8-endpoint service layer</a:t>
            </a:r>
          </a:p>
        </p:txBody>
      </p:sp>
      <p:sp>
        <p:nvSpPr>
          <p:cNvPr id="17455" name="Rounded Rectangle 17454"/>
          <p:cNvSpPr/>
          <p:nvPr/>
        </p:nvSpPr>
        <p:spPr>
          <a:xfrm>
            <a:off x="8796528" y="2660904"/>
            <a:ext cx="3120847" cy="347472"/>
          </a:xfrm>
          <a:prstGeom prst="roundRect">
            <a:avLst>
              <a:gd name="adj" fmla="val 1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l">
              <a:lnSpc>
                <a:spcPct val="90000"/>
              </a:lnSpc>
            </a:pPr>
            <a:r>
              <a:rPr sz="740" b="1" i="0">
                <a:solidFill>
                  <a:srgbClr val="1F4E79"/>
                </a:solidFill>
                <a:latin typeface="Arial"/>
              </a:rPr>
              <a:t>NumPy</a:t>
            </a:r>
          </a:p>
          <a:p>
            <a:pPr algn="l">
              <a:lnSpc>
                <a:spcPct val="90000"/>
              </a:lnSpc>
            </a:pPr>
            <a:r>
              <a:rPr sz="630" b="0" i="0">
                <a:solidFill>
                  <a:srgbClr val="595959"/>
                </a:solidFill>
                <a:latin typeface="Arial"/>
              </a:rPr>
              <a:t>vectorised index arithmetic</a:t>
            </a:r>
          </a:p>
        </p:txBody>
      </p:sp>
      <p:sp>
        <p:nvSpPr>
          <p:cNvPr id="17456" name="Rounded Rectangle 17455"/>
          <p:cNvSpPr/>
          <p:nvPr/>
        </p:nvSpPr>
        <p:spPr>
          <a:xfrm>
            <a:off x="8796528" y="3058668"/>
            <a:ext cx="3120847" cy="347472"/>
          </a:xfrm>
          <a:prstGeom prst="roundRect">
            <a:avLst>
              <a:gd name="adj" fmla="val 1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l">
              <a:lnSpc>
                <a:spcPct val="90000"/>
              </a:lnSpc>
            </a:pPr>
            <a:r>
              <a:rPr sz="740" b="1" i="0">
                <a:solidFill>
                  <a:srgbClr val="1F4E79"/>
                </a:solidFill>
                <a:latin typeface="Arial"/>
              </a:rPr>
              <a:t>rasterio / GDAL</a:t>
            </a:r>
          </a:p>
          <a:p>
            <a:pPr algn="l">
              <a:lnSpc>
                <a:spcPct val="90000"/>
              </a:lnSpc>
            </a:pPr>
            <a:r>
              <a:rPr sz="630" b="0" i="0">
                <a:solidFill>
                  <a:srgbClr val="595959"/>
                </a:solidFill>
                <a:latin typeface="Arial"/>
              </a:rPr>
              <a:t>compressed GeoTIFF, JPEG2000, CRS</a:t>
            </a:r>
          </a:p>
        </p:txBody>
      </p:sp>
      <p:sp>
        <p:nvSpPr>
          <p:cNvPr id="17457" name="Rounded Rectangle 17456"/>
          <p:cNvSpPr/>
          <p:nvPr/>
        </p:nvSpPr>
        <p:spPr>
          <a:xfrm>
            <a:off x="8796528" y="3456432"/>
            <a:ext cx="3120847" cy="347472"/>
          </a:xfrm>
          <a:prstGeom prst="roundRect">
            <a:avLst>
              <a:gd name="adj" fmla="val 1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l">
              <a:lnSpc>
                <a:spcPct val="90000"/>
              </a:lnSpc>
            </a:pPr>
            <a:r>
              <a:rPr sz="740" b="1" i="0">
                <a:solidFill>
                  <a:srgbClr val="1F4E79"/>
                </a:solidFill>
                <a:latin typeface="Arial"/>
              </a:rPr>
              <a:t>Pure-Python GeoTIFF codec</a:t>
            </a:r>
          </a:p>
          <a:p>
            <a:pPr algn="l">
              <a:lnSpc>
                <a:spcPct val="90000"/>
              </a:lnSpc>
            </a:pPr>
            <a:r>
              <a:rPr sz="630" b="0" i="0">
                <a:solidFill>
                  <a:srgbClr val="595959"/>
                </a:solidFill>
                <a:latin typeface="Arial"/>
              </a:rPr>
              <a:t>dependency-free fallback backend</a:t>
            </a:r>
          </a:p>
        </p:txBody>
      </p:sp>
      <p:sp>
        <p:nvSpPr>
          <p:cNvPr id="17458" name="Rounded Rectangle 17457"/>
          <p:cNvSpPr/>
          <p:nvPr/>
        </p:nvSpPr>
        <p:spPr>
          <a:xfrm>
            <a:off x="8796528" y="3854196"/>
            <a:ext cx="3120847" cy="347472"/>
          </a:xfrm>
          <a:prstGeom prst="roundRect">
            <a:avLst>
              <a:gd name="adj" fmla="val 1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l">
              <a:lnSpc>
                <a:spcPct val="90000"/>
              </a:lnSpc>
            </a:pPr>
            <a:r>
              <a:rPr sz="740" b="1" i="0">
                <a:solidFill>
                  <a:srgbClr val="1F4E79"/>
                </a:solidFill>
                <a:latin typeface="Arial"/>
              </a:rPr>
              <a:t>LLM function calling</a:t>
            </a:r>
          </a:p>
          <a:p>
            <a:pPr algn="l">
              <a:lnSpc>
                <a:spcPct val="90000"/>
              </a:lnSpc>
            </a:pPr>
            <a:r>
              <a:rPr sz="630" b="0" i="0">
                <a:solidFill>
                  <a:srgbClr val="595959"/>
                </a:solidFill>
                <a:latin typeface="Arial"/>
              </a:rPr>
              <a:t>schema-constrained, registry-bounded</a:t>
            </a:r>
          </a:p>
        </p:txBody>
      </p:sp>
      <p:sp>
        <p:nvSpPr>
          <p:cNvPr id="17459" name="Rounded Rectangle 17458"/>
          <p:cNvSpPr/>
          <p:nvPr/>
        </p:nvSpPr>
        <p:spPr>
          <a:xfrm>
            <a:off x="8796528" y="4251960"/>
            <a:ext cx="3120847" cy="347472"/>
          </a:xfrm>
          <a:prstGeom prst="roundRect">
            <a:avLst>
              <a:gd name="adj" fmla="val 1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l">
              <a:lnSpc>
                <a:spcPct val="90000"/>
              </a:lnSpc>
            </a:pPr>
            <a:r>
              <a:rPr sz="740" b="1" i="0">
                <a:solidFill>
                  <a:srgbClr val="1F4E79"/>
                </a:solidFill>
                <a:latin typeface="Arial"/>
              </a:rPr>
              <a:t>pytest</a:t>
            </a:r>
          </a:p>
          <a:p>
            <a:pPr algn="l">
              <a:lnSpc>
                <a:spcPct val="90000"/>
              </a:lnSpc>
            </a:pPr>
            <a:r>
              <a:rPr sz="630" b="0" i="0">
                <a:solidFill>
                  <a:srgbClr val="595959"/>
                </a:solidFill>
                <a:latin typeface="Arial"/>
              </a:rPr>
              <a:t>326 automated tests</a:t>
            </a:r>
          </a:p>
        </p:txBody>
      </p:sp>
      <p:sp>
        <p:nvSpPr>
          <p:cNvPr id="17460" name="Rectangle 17459"/>
          <p:cNvSpPr/>
          <p:nvPr/>
        </p:nvSpPr>
        <p:spPr>
          <a:xfrm>
            <a:off x="8796528" y="4754880"/>
            <a:ext cx="45720" cy="13716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61" name="TextBox 17460"/>
          <p:cNvSpPr txBox="1"/>
          <p:nvPr/>
        </p:nvSpPr>
        <p:spPr>
          <a:xfrm>
            <a:off x="8906255" y="4718304"/>
            <a:ext cx="3120847" cy="210312"/>
          </a:xfrm>
          <a:prstGeom prst="rect">
            <a:avLst/>
          </a:prstGeom>
          <a:noFill/>
        </p:spPr>
        <p:txBody>
          <a:bodyPr wrap="square" anchor="ctr" lIns="0" rIns="0" tIns="18288" bIns="18288">
            <a:spAutoFit/>
          </a:bodyPr>
          <a:lstStyle/>
          <a:p>
            <a:pPr algn="l"/>
            <a:r>
              <a:rPr sz="1050" b="1" i="0">
                <a:solidFill>
                  <a:srgbClr val="1F4E79"/>
                </a:solidFill>
                <a:latin typeface="Arial"/>
              </a:rPr>
              <a:t>WORKING PROTOTYPE</a:t>
            </a:r>
          </a:p>
        </p:txBody>
      </p:sp>
      <p:sp>
        <p:nvSpPr>
          <p:cNvPr id="17462" name="Rounded Rectangle 17461"/>
          <p:cNvSpPr/>
          <p:nvPr/>
        </p:nvSpPr>
        <p:spPr>
          <a:xfrm>
            <a:off x="8796528" y="4992624"/>
            <a:ext cx="3120847" cy="1271016"/>
          </a:xfrm>
          <a:prstGeom prst="roundRect">
            <a:avLst>
              <a:gd name="adj" fmla="val 4000"/>
            </a:avLst>
          </a:prstGeom>
          <a:solidFill>
            <a:srgbClr val="F2F2F2"/>
          </a:solidFill>
          <a:ln w="1524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1" i="0">
                <a:solidFill>
                  <a:srgbClr val="595959"/>
                </a:solidFill>
                <a:latin typeface="Arial"/>
              </a:rPr>
              <a:t>[ INSERT WEB INTERFACE
SCREENSHOT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ounded Rectangle 17410"/>
          <p:cNvSpPr/>
          <p:nvPr/>
        </p:nvSpPr>
        <p:spPr>
          <a:xfrm>
            <a:off x="274320" y="1115568"/>
            <a:ext cx="11643055" cy="493776"/>
          </a:xfrm>
          <a:prstGeom prst="roundRect">
            <a:avLst>
              <a:gd name="adj" fmla="val 6000"/>
            </a:avLst>
          </a:prstGeom>
          <a:solidFill>
            <a:srgbClr val="F2F7FC"/>
          </a:solidFill>
          <a:ln w="10160">
            <a:solidFill>
              <a:srgbClr val="DEEB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420623" y="1115568"/>
            <a:ext cx="11350447" cy="493776"/>
          </a:xfrm>
          <a:prstGeom prst="rect">
            <a:avLst/>
          </a:prstGeom>
          <a:noFill/>
          <a:ln w="9525">
            <a:noFill/>
            <a:miter lim="800000"/>
            <a:headEnd/>
            <a:tailEnd/>
          </a:ln>
        </p:spPr>
        <p:txBody>
          <a:bodyPr wrap="square" anchor="ctr" lIns="0" rIns="0" tIns="0" bIns="0">
            <a:spAutoFit/>
          </a:bodyPr>
          <a:lstStyle/>
          <a:p>
            <a:pPr marL="342900" marR="0" lvl="0" indent="-342900" algn="l" defTabSz="457200" rtl="0" eaLnBrk="1" fontAlgn="base" latinLnBrk="0" hangingPunct="1">
              <a:lnSpc>
                <a:spcPct val="105000"/>
              </a:lnSpc>
              <a:spcBef>
                <a:spcPts val="0"/>
              </a:spcBef>
              <a:spcAft>
                <a:spcPts val="0"/>
              </a:spcAft>
              <a:buClrTx/>
              <a:buSzTx/>
              <a:buFont typeface="Arial" panose="020B0604020202020204" pitchFamily="34" charset="0"/>
              <a:buChar char="•"/>
              <a:tabLst/>
              <a:defRPr/>
            </a:pPr>
            <a:r>
              <a:rPr lang="en-US" sz="800" dirty="0" b="0">
                <a:solidFill>
                  <a:srgbClr val="1A1A1A"/>
                </a:solidFill>
                <a:latin typeface="Arial" pitchFamily="34" charset="0"/>
                <a:cs typeface="Arial" pitchFamily="34" charset="0"/>
              </a:rPr>
              <a:t>Analysis of the feasibility of the idea</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marL="342900" marR="0" lvl="0" indent="-342900" algn="l" defTabSz="457200" rtl="0" eaLnBrk="1" fontAlgn="base" latinLnBrk="0" hangingPunct="1">
              <a:lnSpc>
                <a:spcPct val="105000"/>
              </a:lnSpc>
              <a:spcBef>
                <a:spcPts val="0"/>
              </a:spcBef>
              <a:spcAft>
                <a:spcPts val="0"/>
              </a:spcAft>
              <a:buClrTx/>
              <a:buSzTx/>
              <a:buFont typeface="Arial" panose="020B0604020202020204" pitchFamily="34" charset="0"/>
              <a:buChar char="•"/>
              <a:tabLst/>
              <a:defRPr/>
            </a:pPr>
            <a:r>
              <a:rPr lang="en-US" sz="800" dirty="0" b="0">
                <a:solidFill>
                  <a:srgbClr val="1A1A1A"/>
                </a:solidFill>
                <a:latin typeface="Arial" pitchFamily="34" charset="0"/>
                <a:cs typeface="Arial" pitchFamily="34" charset="0"/>
              </a:rPr>
              <a:t>Potential challenges and risks</a:t>
            </a:r>
          </a:p>
          <a:p>
            <a:pPr marL="342900" marR="0" lvl="0" indent="-342900" algn="l" defTabSz="457200" rtl="0" eaLnBrk="1" fontAlgn="base" latinLnBrk="0" hangingPunct="1">
              <a:lnSpc>
                <a:spcPct val="105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1A1A1A"/>
                </a:solidFill>
                <a:effectLst/>
                <a:uLnTx/>
                <a:uFillTx/>
                <a:latin typeface="Arial" pitchFamily="34" charset="0"/>
                <a:ea typeface="ＭＳ Ｐゴシック" pitchFamily="1" charset="-128"/>
                <a:cs typeface="Arial" pitchFamily="34" charset="0"/>
              </a:rPr>
              <a:t>Strategies</a:t>
            </a:r>
            <a:r>
              <a:rPr kumimoji="0" lang="en-US" sz="800" b="0" i="0" u="none" strike="noStrike" kern="1200" cap="none" spc="0" normalizeH="0" noProof="0" dirty="0">
                <a:ln>
                  <a:noFill/>
                </a:ln>
                <a:solidFill>
                  <a:srgbClr val="1A1A1A"/>
                </a:solidFill>
                <a:effectLst/>
                <a:uLnTx/>
                <a:uFillTx/>
                <a:latin typeface="Arial" pitchFamily="34" charset="0"/>
                <a:ea typeface="ＭＳ Ｐゴシック" pitchFamily="1" charset="-128"/>
                <a:cs typeface="Arial" pitchFamily="34" charset="0"/>
              </a:rPr>
              <a:t> for overcoming these challenges</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2" name="Rectangle 17411"/>
          <p:cNvSpPr/>
          <p:nvPr/>
        </p:nvSpPr>
        <p:spPr>
          <a:xfrm>
            <a:off x="274320" y="1810512"/>
            <a:ext cx="45720" cy="13716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3" name="TextBox 17412"/>
          <p:cNvSpPr txBox="1"/>
          <p:nvPr/>
        </p:nvSpPr>
        <p:spPr>
          <a:xfrm>
            <a:off x="384048" y="1773936"/>
            <a:ext cx="4572000" cy="210312"/>
          </a:xfrm>
          <a:prstGeom prst="rect">
            <a:avLst/>
          </a:prstGeom>
          <a:noFill/>
        </p:spPr>
        <p:txBody>
          <a:bodyPr wrap="square" anchor="ctr" lIns="0" rIns="0" tIns="18288" bIns="18288">
            <a:spAutoFit/>
          </a:bodyPr>
          <a:lstStyle/>
          <a:p>
            <a:pPr algn="l"/>
            <a:r>
              <a:rPr sz="1050" b="1" i="0">
                <a:solidFill>
                  <a:srgbClr val="1F4E79"/>
                </a:solidFill>
                <a:latin typeface="Arial"/>
              </a:rPr>
              <a:t>FEASIBILITY — ALREADY BUILT AND PROVEN</a:t>
            </a:r>
          </a:p>
        </p:txBody>
      </p:sp>
      <p:sp>
        <p:nvSpPr>
          <p:cNvPr id="17414" name="Rounded Rectangle 17413"/>
          <p:cNvSpPr/>
          <p:nvPr/>
        </p:nvSpPr>
        <p:spPr>
          <a:xfrm>
            <a:off x="274320" y="2048256"/>
            <a:ext cx="1415034" cy="749808"/>
          </a:xfrm>
          <a:prstGeom prst="roundRect">
            <a:avLst>
              <a:gd name="adj" fmla="val 12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0000"/>
              </a:lnSpc>
            </a:pPr>
            <a:r>
              <a:rPr sz="2200" b="1" i="0">
                <a:solidFill>
                  <a:srgbClr val="0070C0"/>
                </a:solidFill>
                <a:latin typeface="Arial"/>
              </a:rPr>
              <a:t>326</a:t>
            </a:r>
          </a:p>
          <a:p>
            <a:pPr algn="ctr">
              <a:lnSpc>
                <a:spcPct val="90000"/>
              </a:lnSpc>
              <a:spcBef>
                <a:spcPts val="100"/>
              </a:spcBef>
            </a:pPr>
            <a:r>
              <a:rPr sz="700" b="0" i="0">
                <a:solidFill>
                  <a:srgbClr val="1A1A1A"/>
                </a:solidFill>
                <a:latin typeface="Arial"/>
              </a:rPr>
              <a:t>tests passing</a:t>
            </a:r>
          </a:p>
        </p:txBody>
      </p:sp>
      <p:sp>
        <p:nvSpPr>
          <p:cNvPr id="17415" name="Rounded Rectangle 17414"/>
          <p:cNvSpPr/>
          <p:nvPr/>
        </p:nvSpPr>
        <p:spPr>
          <a:xfrm>
            <a:off x="1799082" y="2048256"/>
            <a:ext cx="1415034" cy="749808"/>
          </a:xfrm>
          <a:prstGeom prst="roundRect">
            <a:avLst>
              <a:gd name="adj" fmla="val 12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0000"/>
              </a:lnSpc>
            </a:pPr>
            <a:r>
              <a:rPr sz="2200" b="1" i="0">
                <a:solidFill>
                  <a:srgbClr val="0070C0"/>
                </a:solidFill>
                <a:latin typeface="Arial"/>
              </a:rPr>
              <a:t>8</a:t>
            </a:r>
          </a:p>
          <a:p>
            <a:pPr algn="ctr">
              <a:lnSpc>
                <a:spcPct val="90000"/>
              </a:lnSpc>
              <a:spcBef>
                <a:spcPts val="100"/>
              </a:spcBef>
            </a:pPr>
            <a:r>
              <a:rPr sz="700" b="0" i="0">
                <a:solidFill>
                  <a:srgbClr val="1A1A1A"/>
                </a:solidFill>
                <a:latin typeface="Arial"/>
              </a:rPr>
              <a:t>capabilities declared</a:t>
            </a:r>
          </a:p>
        </p:txBody>
      </p:sp>
      <p:sp>
        <p:nvSpPr>
          <p:cNvPr id="17416" name="Rounded Rectangle 17415"/>
          <p:cNvSpPr/>
          <p:nvPr/>
        </p:nvSpPr>
        <p:spPr>
          <a:xfrm>
            <a:off x="3323844" y="2048256"/>
            <a:ext cx="1415034" cy="749808"/>
          </a:xfrm>
          <a:prstGeom prst="roundRect">
            <a:avLst>
              <a:gd name="adj" fmla="val 12000"/>
            </a:avLst>
          </a:prstGeom>
          <a:solidFill>
            <a:srgbClr val="E4F3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0000"/>
              </a:lnSpc>
            </a:pPr>
            <a:r>
              <a:rPr sz="2200" b="1" i="0">
                <a:solidFill>
                  <a:srgbClr val="1E7A3C"/>
                </a:solidFill>
                <a:latin typeface="Arial"/>
              </a:rPr>
              <a:t>4</a:t>
            </a:r>
          </a:p>
          <a:p>
            <a:pPr algn="ctr">
              <a:lnSpc>
                <a:spcPct val="90000"/>
              </a:lnSpc>
              <a:spcBef>
                <a:spcPts val="100"/>
              </a:spcBef>
            </a:pPr>
            <a:r>
              <a:rPr sz="700" b="0" i="0">
                <a:solidFill>
                  <a:srgbClr val="1A1A1A"/>
                </a:solidFill>
                <a:latin typeface="Arial"/>
              </a:rPr>
              <a:t>tools executing today</a:t>
            </a:r>
          </a:p>
        </p:txBody>
      </p:sp>
      <p:sp>
        <p:nvSpPr>
          <p:cNvPr id="17417" name="Rounded Rectangle 17416"/>
          <p:cNvSpPr/>
          <p:nvPr/>
        </p:nvSpPr>
        <p:spPr>
          <a:xfrm>
            <a:off x="4848605" y="2048256"/>
            <a:ext cx="1415034" cy="749808"/>
          </a:xfrm>
          <a:prstGeom prst="roundRect">
            <a:avLst>
              <a:gd name="adj" fmla="val 12000"/>
            </a:avLst>
          </a:prstGeom>
          <a:solidFill>
            <a:srgbClr val="FDEE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0000"/>
              </a:lnSpc>
            </a:pPr>
            <a:r>
              <a:rPr sz="2200" b="1" i="0">
                <a:solidFill>
                  <a:srgbClr val="C55A11"/>
                </a:solidFill>
                <a:latin typeface="Arial"/>
              </a:rPr>
              <a:t>2</a:t>
            </a:r>
          </a:p>
          <a:p>
            <a:pPr algn="ctr">
              <a:lnSpc>
                <a:spcPct val="90000"/>
              </a:lnSpc>
              <a:spcBef>
                <a:spcPts val="100"/>
              </a:spcBef>
            </a:pPr>
            <a:r>
              <a:rPr sz="700" b="0" i="0">
                <a:solidFill>
                  <a:srgbClr val="1A1A1A"/>
                </a:solidFill>
                <a:latin typeface="Arial"/>
              </a:rPr>
              <a:t>raster backends</a:t>
            </a:r>
          </a:p>
        </p:txBody>
      </p:sp>
      <p:sp>
        <p:nvSpPr>
          <p:cNvPr id="17418" name="Rounded Rectangle 17417"/>
          <p:cNvSpPr/>
          <p:nvPr/>
        </p:nvSpPr>
        <p:spPr>
          <a:xfrm>
            <a:off x="274320" y="2962656"/>
            <a:ext cx="5989320" cy="36576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9" name="Rounded Rectangle 17418"/>
          <p:cNvSpPr/>
          <p:nvPr/>
        </p:nvSpPr>
        <p:spPr>
          <a:xfrm>
            <a:off x="320040" y="3008376"/>
            <a:ext cx="1005840" cy="274320"/>
          </a:xfrm>
          <a:prstGeom prst="roundRect">
            <a:avLst>
              <a:gd name="adj" fmla="val 30000"/>
            </a:avLst>
          </a:prstGeom>
          <a:solidFill>
            <a:srgbClr val="E4F3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640" b="1" i="0">
                <a:solidFill>
                  <a:srgbClr val="1E7A3C"/>
                </a:solidFill>
                <a:latin typeface="Arial"/>
              </a:rPr>
              <a:t>VALIDATED</a:t>
            </a:r>
          </a:p>
        </p:txBody>
      </p:sp>
      <p:sp>
        <p:nvSpPr>
          <p:cNvPr id="17420" name="TextBox 17419"/>
          <p:cNvSpPr txBox="1"/>
          <p:nvPr/>
        </p:nvSpPr>
        <p:spPr>
          <a:xfrm>
            <a:off x="1408176" y="2962656"/>
            <a:ext cx="4782312" cy="365760"/>
          </a:xfrm>
          <a:prstGeom prst="rect">
            <a:avLst/>
          </a:prstGeom>
          <a:noFill/>
        </p:spPr>
        <p:txBody>
          <a:bodyPr wrap="square" anchor="ctr" lIns="0" rIns="0" tIns="18288" bIns="18288">
            <a:spAutoFit/>
          </a:bodyPr>
          <a:lstStyle/>
          <a:p>
            <a:pPr algn="l">
              <a:lnSpc>
                <a:spcPct val="90000"/>
              </a:lnSpc>
            </a:pPr>
            <a:r>
              <a:rPr sz="800" b="1" i="0">
                <a:solidFill>
                  <a:srgbClr val="1A1A1A"/>
                </a:solidFill>
                <a:latin typeface="Arial"/>
              </a:rPr>
              <a:t>Ten-stage controller pipeline</a:t>
            </a:r>
          </a:p>
          <a:p>
            <a:pPr algn="l">
              <a:lnSpc>
                <a:spcPct val="90000"/>
              </a:lnSpc>
            </a:pPr>
            <a:r>
              <a:rPr sz="660" b="0" i="0">
                <a:solidFill>
                  <a:srgbClr val="595959"/>
                </a:solidFill>
                <a:latin typeface="Arial"/>
              </a:rPr>
              <a:t>understanding → planning → selection → validation → execution → integration</a:t>
            </a:r>
          </a:p>
        </p:txBody>
      </p:sp>
      <p:sp>
        <p:nvSpPr>
          <p:cNvPr id="17421" name="Rounded Rectangle 17420"/>
          <p:cNvSpPr/>
          <p:nvPr/>
        </p:nvSpPr>
        <p:spPr>
          <a:xfrm>
            <a:off x="274320" y="3364992"/>
            <a:ext cx="5989320" cy="36576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2" name="Rounded Rectangle 17421"/>
          <p:cNvSpPr/>
          <p:nvPr/>
        </p:nvSpPr>
        <p:spPr>
          <a:xfrm>
            <a:off x="320040" y="3410712"/>
            <a:ext cx="1005840" cy="274320"/>
          </a:xfrm>
          <a:prstGeom prst="roundRect">
            <a:avLst>
              <a:gd name="adj" fmla="val 30000"/>
            </a:avLst>
          </a:prstGeom>
          <a:solidFill>
            <a:srgbClr val="E4F3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640" b="1" i="0">
                <a:solidFill>
                  <a:srgbClr val="1E7A3C"/>
                </a:solidFill>
                <a:latin typeface="Arial"/>
              </a:rPr>
              <a:t>VALIDATED</a:t>
            </a:r>
          </a:p>
        </p:txBody>
      </p:sp>
      <p:sp>
        <p:nvSpPr>
          <p:cNvPr id="17423" name="TextBox 17422"/>
          <p:cNvSpPr txBox="1"/>
          <p:nvPr/>
        </p:nvSpPr>
        <p:spPr>
          <a:xfrm>
            <a:off x="1408176" y="3364992"/>
            <a:ext cx="4782312" cy="365760"/>
          </a:xfrm>
          <a:prstGeom prst="rect">
            <a:avLst/>
          </a:prstGeom>
          <a:noFill/>
        </p:spPr>
        <p:txBody>
          <a:bodyPr wrap="square" anchor="ctr" lIns="0" rIns="0" tIns="18288" bIns="18288">
            <a:spAutoFit/>
          </a:bodyPr>
          <a:lstStyle/>
          <a:p>
            <a:pPr algn="l">
              <a:lnSpc>
                <a:spcPct val="90000"/>
              </a:lnSpc>
            </a:pPr>
            <a:r>
              <a:rPr sz="800" b="1" i="0">
                <a:solidFill>
                  <a:srgbClr val="1A1A1A"/>
                </a:solidFill>
                <a:latin typeface="Arial"/>
              </a:rPr>
              <a:t>Deterministic validator, 8 checks</a:t>
            </a:r>
          </a:p>
          <a:p>
            <a:pPr algn="l">
              <a:lnSpc>
                <a:spcPct val="90000"/>
              </a:lnSpc>
            </a:pPr>
            <a:r>
              <a:rPr sz="660" b="0" i="0">
                <a:solidFill>
                  <a:srgbClr val="595959"/>
                </a:solidFill>
                <a:latin typeface="Arial"/>
              </a:rPr>
              <a:t>count, metadata, modality, temporal, CRS, bands, optical/SAR, pairing</a:t>
            </a:r>
          </a:p>
        </p:txBody>
      </p:sp>
      <p:sp>
        <p:nvSpPr>
          <p:cNvPr id="17424" name="Rounded Rectangle 17423"/>
          <p:cNvSpPr/>
          <p:nvPr/>
        </p:nvSpPr>
        <p:spPr>
          <a:xfrm>
            <a:off x="274320" y="3767328"/>
            <a:ext cx="5989320" cy="36576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5" name="Rounded Rectangle 17424"/>
          <p:cNvSpPr/>
          <p:nvPr/>
        </p:nvSpPr>
        <p:spPr>
          <a:xfrm>
            <a:off x="320040" y="3813048"/>
            <a:ext cx="1005840" cy="274320"/>
          </a:xfrm>
          <a:prstGeom prst="roundRect">
            <a:avLst>
              <a:gd name="adj" fmla="val 30000"/>
            </a:avLst>
          </a:prstGeom>
          <a:solidFill>
            <a:srgbClr val="E4F3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640" b="1" i="0">
                <a:solidFill>
                  <a:srgbClr val="1E7A3C"/>
                </a:solidFill>
                <a:latin typeface="Arial"/>
              </a:rPr>
              <a:t>VALIDATED</a:t>
            </a:r>
          </a:p>
        </p:txBody>
      </p:sp>
      <p:sp>
        <p:nvSpPr>
          <p:cNvPr id="17426" name="TextBox 17425"/>
          <p:cNvSpPr txBox="1"/>
          <p:nvPr/>
        </p:nvSpPr>
        <p:spPr>
          <a:xfrm>
            <a:off x="1408176" y="3767328"/>
            <a:ext cx="4782312" cy="365760"/>
          </a:xfrm>
          <a:prstGeom prst="rect">
            <a:avLst/>
          </a:prstGeom>
          <a:noFill/>
        </p:spPr>
        <p:txBody>
          <a:bodyPr wrap="square" anchor="ctr" lIns="0" rIns="0" tIns="18288" bIns="18288">
            <a:spAutoFit/>
          </a:bodyPr>
          <a:lstStyle/>
          <a:p>
            <a:pPr algn="l">
              <a:lnSpc>
                <a:spcPct val="90000"/>
              </a:lnSpc>
            </a:pPr>
            <a:r>
              <a:rPr sz="800" b="1" i="0">
                <a:solidFill>
                  <a:srgbClr val="1A1A1A"/>
                </a:solidFill>
                <a:latin typeface="Arial"/>
              </a:rPr>
              <a:t>Registry + implementation binding</a:t>
            </a:r>
          </a:p>
          <a:p>
            <a:pPr algn="l">
              <a:lnSpc>
                <a:spcPct val="90000"/>
              </a:lnSpc>
            </a:pPr>
            <a:r>
              <a:rPr sz="660" b="0" i="0">
                <a:solidFill>
                  <a:srgbClr val="595959"/>
                </a:solidFill>
                <a:latin typeface="Arial"/>
              </a:rPr>
              <a:t>no implementation can expose an undeclared capability</a:t>
            </a:r>
          </a:p>
        </p:txBody>
      </p:sp>
      <p:sp>
        <p:nvSpPr>
          <p:cNvPr id="17427" name="Rounded Rectangle 17426"/>
          <p:cNvSpPr/>
          <p:nvPr/>
        </p:nvSpPr>
        <p:spPr>
          <a:xfrm>
            <a:off x="274320" y="4169664"/>
            <a:ext cx="5989320" cy="36576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8" name="Rounded Rectangle 17427"/>
          <p:cNvSpPr/>
          <p:nvPr/>
        </p:nvSpPr>
        <p:spPr>
          <a:xfrm>
            <a:off x="320040" y="4215384"/>
            <a:ext cx="1005840" cy="274320"/>
          </a:xfrm>
          <a:prstGeom prst="roundRect">
            <a:avLst>
              <a:gd name="adj" fmla="val 30000"/>
            </a:avLst>
          </a:prstGeom>
          <a:solidFill>
            <a:srgbClr val="E4F3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640" b="1" i="0">
                <a:solidFill>
                  <a:srgbClr val="1E7A3C"/>
                </a:solidFill>
                <a:latin typeface="Arial"/>
              </a:rPr>
              <a:t>VALIDATED</a:t>
            </a:r>
          </a:p>
        </p:txBody>
      </p:sp>
      <p:sp>
        <p:nvSpPr>
          <p:cNvPr id="17429" name="TextBox 17428"/>
          <p:cNvSpPr txBox="1"/>
          <p:nvPr/>
        </p:nvSpPr>
        <p:spPr>
          <a:xfrm>
            <a:off x="1408176" y="4169664"/>
            <a:ext cx="4782312" cy="365760"/>
          </a:xfrm>
          <a:prstGeom prst="rect">
            <a:avLst/>
          </a:prstGeom>
          <a:noFill/>
        </p:spPr>
        <p:txBody>
          <a:bodyPr wrap="square" anchor="ctr" lIns="0" rIns="0" tIns="18288" bIns="18288">
            <a:spAutoFit/>
          </a:bodyPr>
          <a:lstStyle/>
          <a:p>
            <a:pPr algn="l">
              <a:lnSpc>
                <a:spcPct val="90000"/>
              </a:lnSpc>
            </a:pPr>
            <a:r>
              <a:rPr sz="800" b="1" i="0">
                <a:solidFill>
                  <a:srgbClr val="1A1A1A"/>
                </a:solidFill>
                <a:latin typeface="Arial"/>
              </a:rPr>
              <a:t>NDVI, NDWI, NDBI on real rasters</a:t>
            </a:r>
          </a:p>
          <a:p>
            <a:pPr algn="l">
              <a:lnSpc>
                <a:spcPct val="90000"/>
              </a:lnSpc>
            </a:pPr>
            <a:r>
              <a:rPr sz="660" b="0" i="0">
                <a:solidFill>
                  <a:srgbClr val="595959"/>
                </a:solidFill>
                <a:latin typeface="Arial"/>
              </a:rPr>
              <a:t>sensor scale/offset, SCL and QA_PIXEL cloud masking</a:t>
            </a:r>
          </a:p>
        </p:txBody>
      </p:sp>
      <p:sp>
        <p:nvSpPr>
          <p:cNvPr id="17430" name="Rounded Rectangle 17429"/>
          <p:cNvSpPr/>
          <p:nvPr/>
        </p:nvSpPr>
        <p:spPr>
          <a:xfrm>
            <a:off x="274320" y="4572000"/>
            <a:ext cx="5989320" cy="36576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1" name="Rounded Rectangle 17430"/>
          <p:cNvSpPr/>
          <p:nvPr/>
        </p:nvSpPr>
        <p:spPr>
          <a:xfrm>
            <a:off x="320040" y="4617720"/>
            <a:ext cx="1005840" cy="274320"/>
          </a:xfrm>
          <a:prstGeom prst="roundRect">
            <a:avLst>
              <a:gd name="adj" fmla="val 30000"/>
            </a:avLst>
          </a:prstGeom>
          <a:solidFill>
            <a:srgbClr val="E4F3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640" b="1" i="0">
                <a:solidFill>
                  <a:srgbClr val="1E7A3C"/>
                </a:solidFill>
                <a:latin typeface="Arial"/>
              </a:rPr>
              <a:t>VALIDATED</a:t>
            </a:r>
          </a:p>
        </p:txBody>
      </p:sp>
      <p:sp>
        <p:nvSpPr>
          <p:cNvPr id="17432" name="TextBox 17431"/>
          <p:cNvSpPr txBox="1"/>
          <p:nvPr/>
        </p:nvSpPr>
        <p:spPr>
          <a:xfrm>
            <a:off x="1408176" y="4572000"/>
            <a:ext cx="4782312" cy="365760"/>
          </a:xfrm>
          <a:prstGeom prst="rect">
            <a:avLst/>
          </a:prstGeom>
          <a:noFill/>
        </p:spPr>
        <p:txBody>
          <a:bodyPr wrap="square" anchor="ctr" lIns="0" rIns="0" tIns="18288" bIns="18288">
            <a:spAutoFit/>
          </a:bodyPr>
          <a:lstStyle/>
          <a:p>
            <a:pPr algn="l">
              <a:lnSpc>
                <a:spcPct val="90000"/>
              </a:lnSpc>
            </a:pPr>
            <a:r>
              <a:rPr sz="800" b="1" i="0">
                <a:solidFill>
                  <a:srgbClr val="1A1A1A"/>
                </a:solidFill>
                <a:latin typeface="Arial"/>
              </a:rPr>
              <a:t>Bi-temporal change detection</a:t>
            </a:r>
          </a:p>
          <a:p>
            <a:pPr algn="l">
              <a:lnSpc>
                <a:spcPct val="90000"/>
              </a:lnSpc>
            </a:pPr>
            <a:r>
              <a:rPr sz="660" b="0" i="0">
                <a:solidFill>
                  <a:srgbClr val="595959"/>
                </a:solidFill>
                <a:latin typeface="Arial"/>
              </a:rPr>
              <a:t>co-registration guard, Δ-index, σ-based thresholding</a:t>
            </a:r>
          </a:p>
        </p:txBody>
      </p:sp>
      <p:sp>
        <p:nvSpPr>
          <p:cNvPr id="17433" name="Rounded Rectangle 17432"/>
          <p:cNvSpPr/>
          <p:nvPr/>
        </p:nvSpPr>
        <p:spPr>
          <a:xfrm>
            <a:off x="274320" y="4974336"/>
            <a:ext cx="5989320" cy="36576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4" name="Rounded Rectangle 17433"/>
          <p:cNvSpPr/>
          <p:nvPr/>
        </p:nvSpPr>
        <p:spPr>
          <a:xfrm>
            <a:off x="320040" y="5020056"/>
            <a:ext cx="1005840" cy="274320"/>
          </a:xfrm>
          <a:prstGeom prst="roundRect">
            <a:avLst>
              <a:gd name="adj" fmla="val 30000"/>
            </a:avLst>
          </a:prstGeom>
          <a:solidFill>
            <a:srgbClr val="E4F3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640" b="1" i="0">
                <a:solidFill>
                  <a:srgbClr val="1E7A3C"/>
                </a:solidFill>
                <a:latin typeface="Arial"/>
              </a:rPr>
              <a:t>VALIDATED</a:t>
            </a:r>
          </a:p>
        </p:txBody>
      </p:sp>
      <p:sp>
        <p:nvSpPr>
          <p:cNvPr id="17435" name="TextBox 17434"/>
          <p:cNvSpPr txBox="1"/>
          <p:nvPr/>
        </p:nvSpPr>
        <p:spPr>
          <a:xfrm>
            <a:off x="1408176" y="4974336"/>
            <a:ext cx="4782312" cy="365760"/>
          </a:xfrm>
          <a:prstGeom prst="rect">
            <a:avLst/>
          </a:prstGeom>
          <a:noFill/>
        </p:spPr>
        <p:txBody>
          <a:bodyPr wrap="square" anchor="ctr" lIns="0" rIns="0" tIns="18288" bIns="18288">
            <a:spAutoFit/>
          </a:bodyPr>
          <a:lstStyle/>
          <a:p>
            <a:pPr algn="l">
              <a:lnSpc>
                <a:spcPct val="90000"/>
              </a:lnSpc>
            </a:pPr>
            <a:r>
              <a:rPr sz="800" b="1" i="0">
                <a:solidFill>
                  <a:srgbClr val="1A1A1A"/>
                </a:solidFill>
                <a:latin typeface="Arial"/>
              </a:rPr>
              <a:t>Dual raster backend + HTTP service</a:t>
            </a:r>
          </a:p>
          <a:p>
            <a:pPr algn="l">
              <a:lnSpc>
                <a:spcPct val="90000"/>
              </a:lnSpc>
            </a:pPr>
            <a:r>
              <a:rPr sz="660" b="0" i="0">
                <a:solidFill>
                  <a:srgbClr val="595959"/>
                </a:solidFill>
                <a:latin typeface="Arial"/>
              </a:rPr>
              <a:t>tests prove both backends agree; 8 API endpoints</a:t>
            </a:r>
          </a:p>
        </p:txBody>
      </p:sp>
      <p:sp>
        <p:nvSpPr>
          <p:cNvPr id="17436" name="Rounded Rectangle 17435"/>
          <p:cNvSpPr/>
          <p:nvPr/>
        </p:nvSpPr>
        <p:spPr>
          <a:xfrm>
            <a:off x="274320" y="5376672"/>
            <a:ext cx="5989320" cy="36576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7" name="Rounded Rectangle 17436"/>
          <p:cNvSpPr/>
          <p:nvPr/>
        </p:nvSpPr>
        <p:spPr>
          <a:xfrm>
            <a:off x="320040" y="5422392"/>
            <a:ext cx="1005840" cy="274320"/>
          </a:xfrm>
          <a:prstGeom prst="roundRect">
            <a:avLst>
              <a:gd name="adj" fmla="val 30000"/>
            </a:avLst>
          </a:prstGeom>
          <a:solidFill>
            <a:srgbClr val="FDF4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640" b="1" i="0">
                <a:solidFill>
                  <a:srgbClr val="A97300"/>
                </a:solidFill>
                <a:latin typeface="Arial"/>
              </a:rPr>
              <a:t>INTEGRATING</a:t>
            </a:r>
          </a:p>
        </p:txBody>
      </p:sp>
      <p:sp>
        <p:nvSpPr>
          <p:cNvPr id="17438" name="TextBox 17437"/>
          <p:cNvSpPr txBox="1"/>
          <p:nvPr/>
        </p:nvSpPr>
        <p:spPr>
          <a:xfrm>
            <a:off x="1408176" y="5376672"/>
            <a:ext cx="4782312" cy="365760"/>
          </a:xfrm>
          <a:prstGeom prst="rect">
            <a:avLst/>
          </a:prstGeom>
          <a:noFill/>
        </p:spPr>
        <p:txBody>
          <a:bodyPr wrap="square" anchor="ctr" lIns="0" rIns="0" tIns="18288" bIns="18288">
            <a:spAutoFit/>
          </a:bodyPr>
          <a:lstStyle/>
          <a:p>
            <a:pPr algn="l">
              <a:lnSpc>
                <a:spcPct val="90000"/>
              </a:lnSpc>
            </a:pPr>
            <a:r>
              <a:rPr sz="800" b="1" i="0">
                <a:solidFill>
                  <a:srgbClr val="1A1A1A"/>
                </a:solidFill>
                <a:latin typeface="Arial"/>
              </a:rPr>
              <a:t>LLM reasoning and decomposition</a:t>
            </a:r>
          </a:p>
          <a:p>
            <a:pPr algn="l">
              <a:lnSpc>
                <a:spcPct val="90000"/>
              </a:lnSpc>
            </a:pPr>
            <a:r>
              <a:rPr sz="660" b="0" i="0">
                <a:solidFill>
                  <a:srgbClr val="595959"/>
                </a:solidFill>
                <a:latin typeface="Arial"/>
              </a:rPr>
              <a:t>pipeline already shaped for it; registry and validator keep the veto</a:t>
            </a:r>
          </a:p>
        </p:txBody>
      </p:sp>
      <p:sp>
        <p:nvSpPr>
          <p:cNvPr id="17439" name="Rounded Rectangle 17438"/>
          <p:cNvSpPr/>
          <p:nvPr/>
        </p:nvSpPr>
        <p:spPr>
          <a:xfrm>
            <a:off x="274320" y="5779008"/>
            <a:ext cx="5989320" cy="36576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0" name="Rounded Rectangle 17439"/>
          <p:cNvSpPr/>
          <p:nvPr/>
        </p:nvSpPr>
        <p:spPr>
          <a:xfrm>
            <a:off x="320040" y="5824728"/>
            <a:ext cx="1005840" cy="274320"/>
          </a:xfrm>
          <a:prstGeom prst="roundRect">
            <a:avLst>
              <a:gd name="adj" fmla="val 3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640" b="1" i="0">
                <a:solidFill>
                  <a:srgbClr val="595959"/>
                </a:solidFill>
                <a:latin typeface="Arial"/>
              </a:rPr>
              <a:t>NEXT STAGE</a:t>
            </a:r>
          </a:p>
        </p:txBody>
      </p:sp>
      <p:sp>
        <p:nvSpPr>
          <p:cNvPr id="17441" name="TextBox 17440"/>
          <p:cNvSpPr txBox="1"/>
          <p:nvPr/>
        </p:nvSpPr>
        <p:spPr>
          <a:xfrm>
            <a:off x="1408176" y="5779008"/>
            <a:ext cx="4782312" cy="365760"/>
          </a:xfrm>
          <a:prstGeom prst="rect">
            <a:avLst/>
          </a:prstGeom>
          <a:noFill/>
        </p:spPr>
        <p:txBody>
          <a:bodyPr wrap="square" anchor="ctr" lIns="0" rIns="0" tIns="18288" bIns="18288">
            <a:spAutoFit/>
          </a:bodyPr>
          <a:lstStyle/>
          <a:p>
            <a:pPr algn="l">
              <a:lnSpc>
                <a:spcPct val="90000"/>
              </a:lnSpc>
            </a:pPr>
            <a:r>
              <a:rPr sz="800" b="1" i="0">
                <a:solidFill>
                  <a:srgbClr val="1A1A1A"/>
                </a:solidFill>
                <a:latin typeface="Arial"/>
              </a:rPr>
              <a:t>VQA, land-cover, detection, SAR</a:t>
            </a:r>
          </a:p>
          <a:p>
            <a:pPr algn="l">
              <a:lnSpc>
                <a:spcPct val="90000"/>
              </a:lnSpc>
            </a:pPr>
            <a:r>
              <a:rPr sz="660" b="0" i="0">
                <a:solidFill>
                  <a:srgbClr val="595959"/>
                </a:solidFill>
                <a:latin typeface="Arial"/>
              </a:rPr>
              <a:t>declared in the registry; executor reports them honestly as unbound</a:t>
            </a:r>
          </a:p>
        </p:txBody>
      </p:sp>
      <p:sp>
        <p:nvSpPr>
          <p:cNvPr id="17442" name="Rectangle 17441"/>
          <p:cNvSpPr/>
          <p:nvPr/>
        </p:nvSpPr>
        <p:spPr>
          <a:xfrm>
            <a:off x="6492240" y="1810512"/>
            <a:ext cx="45720" cy="13716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3" name="TextBox 17442"/>
          <p:cNvSpPr txBox="1"/>
          <p:nvPr/>
        </p:nvSpPr>
        <p:spPr>
          <a:xfrm>
            <a:off x="6601968" y="1773936"/>
            <a:ext cx="4572000" cy="210312"/>
          </a:xfrm>
          <a:prstGeom prst="rect">
            <a:avLst/>
          </a:prstGeom>
          <a:noFill/>
        </p:spPr>
        <p:txBody>
          <a:bodyPr wrap="square" anchor="ctr" lIns="0" rIns="0" tIns="18288" bIns="18288">
            <a:spAutoFit/>
          </a:bodyPr>
          <a:lstStyle/>
          <a:p>
            <a:pPr algn="l"/>
            <a:r>
              <a:rPr sz="1050" b="1" i="0">
                <a:solidFill>
                  <a:srgbClr val="1F4E79"/>
                </a:solidFill>
                <a:latin typeface="Arial"/>
              </a:rPr>
              <a:t>CHALLENGES, AND THE STRATEGY FOR EACH</a:t>
            </a:r>
          </a:p>
        </p:txBody>
      </p:sp>
      <p:sp>
        <p:nvSpPr>
          <p:cNvPr id="17444" name="Rounded Rectangle 17443"/>
          <p:cNvSpPr/>
          <p:nvPr/>
        </p:nvSpPr>
        <p:spPr>
          <a:xfrm>
            <a:off x="6492240" y="2048256"/>
            <a:ext cx="5425135" cy="777240"/>
          </a:xfrm>
          <a:prstGeom prst="roundRect">
            <a:avLst>
              <a:gd name="adj" fmla="val 14000"/>
            </a:avLst>
          </a:prstGeom>
          <a:solidFill>
            <a:srgbClr val="FFFFFF"/>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l">
              <a:lnSpc>
                <a:spcPct val="95000"/>
              </a:lnSpc>
            </a:pPr>
            <a:r>
              <a:rPr sz="840" b="1" i="0">
                <a:solidFill>
                  <a:srgbClr val="C00000"/>
                </a:solidFill>
                <a:latin typeface="Arial"/>
              </a:rPr>
              <a:t>Reasoning proposes an invalid workflow</a:t>
            </a:r>
          </a:p>
          <a:p>
            <a:pPr algn="l">
              <a:lnSpc>
                <a:spcPct val="100000"/>
              </a:lnSpc>
              <a:spcBef>
                <a:spcPts val="300"/>
              </a:spcBef>
            </a:pPr>
            <a:r>
              <a:rPr sz="720" b="0" i="0">
                <a:solidFill>
                  <a:srgbClr val="1A1A1A"/>
                </a:solidFill>
                <a:latin typeface="Arial"/>
              </a:rPr>
              <a:t>The registry bounds what can be called; the validator bounds what can run. A bad plan is refused, not executed.</a:t>
            </a:r>
          </a:p>
        </p:txBody>
      </p:sp>
      <p:sp>
        <p:nvSpPr>
          <p:cNvPr id="17445" name="Rectangle 17444"/>
          <p:cNvSpPr/>
          <p:nvPr/>
        </p:nvSpPr>
        <p:spPr>
          <a:xfrm>
            <a:off x="6492240" y="2048256"/>
            <a:ext cx="50292"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6" name="Rounded Rectangle 17445"/>
          <p:cNvSpPr/>
          <p:nvPr/>
        </p:nvSpPr>
        <p:spPr>
          <a:xfrm>
            <a:off x="6492240" y="2880360"/>
            <a:ext cx="5425135" cy="777240"/>
          </a:xfrm>
          <a:prstGeom prst="roundRect">
            <a:avLst>
              <a:gd name="adj" fmla="val 14000"/>
            </a:avLst>
          </a:prstGeom>
          <a:solidFill>
            <a:srgbClr val="FFFFFF"/>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l">
              <a:lnSpc>
                <a:spcPct val="95000"/>
              </a:lnSpc>
            </a:pPr>
            <a:r>
              <a:rPr sz="840" b="1" i="0">
                <a:solidFill>
                  <a:srgbClr val="C55A11"/>
                </a:solidFill>
                <a:latin typeface="Arial"/>
              </a:rPr>
              <a:t>Heavy GDAL dependency blocks deployment</a:t>
            </a:r>
          </a:p>
          <a:p>
            <a:pPr algn="l">
              <a:lnSpc>
                <a:spcPct val="100000"/>
              </a:lnSpc>
              <a:spcBef>
                <a:spcPts val="300"/>
              </a:spcBef>
            </a:pPr>
            <a:r>
              <a:rPr sz="720" b="0" i="0">
                <a:solidFill>
                  <a:srgbClr val="1A1A1A"/>
                </a:solidFill>
                <a:latin typeface="Arial"/>
              </a:rPr>
              <a:t>A dependency-free GeoTIFF path ships alongside rasterio, and tests prove the two backends agree.</a:t>
            </a:r>
          </a:p>
        </p:txBody>
      </p:sp>
      <p:sp>
        <p:nvSpPr>
          <p:cNvPr id="17447" name="Rectangle 17446"/>
          <p:cNvSpPr/>
          <p:nvPr/>
        </p:nvSpPr>
        <p:spPr>
          <a:xfrm>
            <a:off x="6492240" y="2880360"/>
            <a:ext cx="50292" cy="77724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8" name="Rounded Rectangle 17447"/>
          <p:cNvSpPr/>
          <p:nvPr/>
        </p:nvSpPr>
        <p:spPr>
          <a:xfrm>
            <a:off x="6492240" y="3712464"/>
            <a:ext cx="5425135" cy="777240"/>
          </a:xfrm>
          <a:prstGeom prst="roundRect">
            <a:avLst>
              <a:gd name="adj" fmla="val 14000"/>
            </a:avLst>
          </a:prstGeom>
          <a:solidFill>
            <a:srgbClr val="FFFFFF"/>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l">
              <a:lnSpc>
                <a:spcPct val="95000"/>
              </a:lnSpc>
            </a:pPr>
            <a:r>
              <a:rPr sz="840" b="1" i="0">
                <a:solidFill>
                  <a:srgbClr val="C00000"/>
                </a:solidFill>
                <a:latin typeface="Arial"/>
              </a:rPr>
              <a:t>Misaligned pair → confident, wrong change map</a:t>
            </a:r>
          </a:p>
          <a:p>
            <a:pPr algn="l">
              <a:lnSpc>
                <a:spcPct val="100000"/>
              </a:lnSpc>
              <a:spcBef>
                <a:spcPts val="300"/>
              </a:spcBef>
            </a:pPr>
            <a:r>
              <a:rPr sz="720" b="0" i="0">
                <a:solidFill>
                  <a:srgbClr val="1A1A1A"/>
                </a:solidFill>
                <a:latin typeface="Arial"/>
              </a:rPr>
              <a:t>Grid, CRS, pixel size and origin are checked before arithmetic — and refuse rather than silently resampling.</a:t>
            </a:r>
          </a:p>
        </p:txBody>
      </p:sp>
      <p:sp>
        <p:nvSpPr>
          <p:cNvPr id="17449" name="Rectangle 17448"/>
          <p:cNvSpPr/>
          <p:nvPr/>
        </p:nvSpPr>
        <p:spPr>
          <a:xfrm>
            <a:off x="6492240" y="3712464"/>
            <a:ext cx="50292"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0" name="Rounded Rectangle 17449"/>
          <p:cNvSpPr/>
          <p:nvPr/>
        </p:nvSpPr>
        <p:spPr>
          <a:xfrm>
            <a:off x="6492240" y="4544568"/>
            <a:ext cx="5425135" cy="777240"/>
          </a:xfrm>
          <a:prstGeom prst="roundRect">
            <a:avLst>
              <a:gd name="adj" fmla="val 14000"/>
            </a:avLst>
          </a:prstGeom>
          <a:solidFill>
            <a:srgbClr val="FFFFFF"/>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l">
              <a:lnSpc>
                <a:spcPct val="95000"/>
              </a:lnSpc>
            </a:pPr>
            <a:r>
              <a:rPr sz="840" b="1" i="0">
                <a:solidFill>
                  <a:srgbClr val="C55A11"/>
                </a:solidFill>
                <a:latin typeface="Arial"/>
              </a:rPr>
              <a:t>Cloud contamination distorts index statistics</a:t>
            </a:r>
          </a:p>
          <a:p>
            <a:pPr algn="l">
              <a:lnSpc>
                <a:spcPct val="100000"/>
              </a:lnSpc>
              <a:spcBef>
                <a:spcPts val="300"/>
              </a:spcBef>
            </a:pPr>
            <a:r>
              <a:rPr sz="720" b="0" i="0">
                <a:solidFill>
                  <a:srgbClr val="1A1A1A"/>
                </a:solidFill>
                <a:latin typeface="Arial"/>
              </a:rPr>
              <a:t>Sentinel-2 SCL and Landsat QA_PIXEL masking, plus baseline 04.00 scale/offset correction, before aggregation.</a:t>
            </a:r>
          </a:p>
        </p:txBody>
      </p:sp>
      <p:sp>
        <p:nvSpPr>
          <p:cNvPr id="17451" name="Rectangle 17450"/>
          <p:cNvSpPr/>
          <p:nvPr/>
        </p:nvSpPr>
        <p:spPr>
          <a:xfrm>
            <a:off x="6492240" y="4544568"/>
            <a:ext cx="50292" cy="77724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2" name="Rounded Rectangle 17451"/>
          <p:cNvSpPr/>
          <p:nvPr/>
        </p:nvSpPr>
        <p:spPr>
          <a:xfrm>
            <a:off x="6492240" y="5376672"/>
            <a:ext cx="5425135" cy="777240"/>
          </a:xfrm>
          <a:prstGeom prst="roundRect">
            <a:avLst>
              <a:gd name="adj" fmla="val 14000"/>
            </a:avLst>
          </a:prstGeom>
          <a:solidFill>
            <a:srgbClr val="FFFFFF"/>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l">
              <a:lnSpc>
                <a:spcPct val="95000"/>
              </a:lnSpc>
            </a:pPr>
            <a:r>
              <a:rPr sz="840" b="1" i="0">
                <a:solidFill>
                  <a:srgbClr val="0070C0"/>
                </a:solidFill>
                <a:latin typeface="Arial"/>
              </a:rPr>
              <a:t>New models force a core rewrite</a:t>
            </a:r>
          </a:p>
          <a:p>
            <a:pPr algn="l">
              <a:lnSpc>
                <a:spcPct val="100000"/>
              </a:lnSpc>
              <a:spcBef>
                <a:spcPts val="300"/>
              </a:spcBef>
            </a:pPr>
            <a:r>
              <a:rPr sz="720" b="0" i="0">
                <a:solidFill>
                  <a:srgbClr val="1A1A1A"/>
                </a:solidFill>
                <a:latin typeface="Arial"/>
              </a:rPr>
              <a:t>Adding a capability is a registry entry plus a binding. Controller, validator and API untouched.</a:t>
            </a:r>
          </a:p>
        </p:txBody>
      </p:sp>
      <p:sp>
        <p:nvSpPr>
          <p:cNvPr id="17453" name="Rectangle 17452"/>
          <p:cNvSpPr/>
          <p:nvPr/>
        </p:nvSpPr>
        <p:spPr>
          <a:xfrm>
            <a:off x="6492240" y="5376672"/>
            <a:ext cx="50292" cy="77724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ounded Rectangle 17410"/>
          <p:cNvSpPr/>
          <p:nvPr/>
        </p:nvSpPr>
        <p:spPr>
          <a:xfrm>
            <a:off x="274320" y="1115568"/>
            <a:ext cx="11643055" cy="384048"/>
          </a:xfrm>
          <a:prstGeom prst="roundRect">
            <a:avLst>
              <a:gd name="adj" fmla="val 6000"/>
            </a:avLst>
          </a:prstGeom>
          <a:solidFill>
            <a:srgbClr val="F2F7FC"/>
          </a:solidFill>
          <a:ln w="10160">
            <a:solidFill>
              <a:srgbClr val="DEEB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420623" y="1115568"/>
            <a:ext cx="11350447" cy="384048"/>
          </a:xfrm>
          <a:prstGeom prst="rect">
            <a:avLst/>
          </a:prstGeom>
          <a:noFill/>
          <a:ln w="9525">
            <a:noFill/>
            <a:miter lim="800000"/>
            <a:headEnd/>
            <a:tailEnd/>
          </a:ln>
        </p:spPr>
        <p:txBody>
          <a:bodyPr wrap="square" anchor="ctr" lIns="0" rIns="0" tIns="0" bIns="0">
            <a:spAutoFit/>
          </a:bodyPr>
          <a:lstStyle/>
          <a:p>
            <a:pPr marL="342900" marR="0" lvl="0" indent="-342900" algn="l" defTabSz="457200" rtl="0" eaLnBrk="1" fontAlgn="base" latinLnBrk="0" hangingPunct="1">
              <a:lnSpc>
                <a:spcPct val="105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1A1A1A"/>
                </a:solidFill>
                <a:effectLst/>
                <a:uLnTx/>
                <a:uFillTx/>
                <a:latin typeface="Arial" pitchFamily="34" charset="0"/>
                <a:ea typeface="ＭＳ Ｐゴシック" pitchFamily="1" charset="-128"/>
                <a:cs typeface="Arial" pitchFamily="34" charset="0"/>
              </a:rPr>
              <a:t>Potential impact on the target audience</a:t>
            </a:r>
          </a:p>
          <a:p>
            <a:pPr marL="342900" marR="0" lvl="0" indent="-342900" algn="l" defTabSz="457200" rtl="0" eaLnBrk="1" fontAlgn="base" latinLnBrk="0" hangingPunct="1">
              <a:lnSpc>
                <a:spcPct val="105000"/>
              </a:lnSpc>
              <a:spcBef>
                <a:spcPts val="0"/>
              </a:spcBef>
              <a:spcAft>
                <a:spcPts val="0"/>
              </a:spcAft>
              <a:buClrTx/>
              <a:buSzTx/>
              <a:buFont typeface="Arial" panose="020B0604020202020204" pitchFamily="34" charset="0"/>
              <a:buChar char="•"/>
              <a:tabLst/>
              <a:defRPr/>
            </a:pPr>
            <a:r>
              <a:rPr lang="en-US" sz="800" dirty="0" b="0">
                <a:solidFill>
                  <a:srgbClr val="1A1A1A"/>
                </a:solidFill>
                <a:latin typeface="Arial" pitchFamily="34" charset="0"/>
                <a:cs typeface="Arial" pitchFamily="34" charset="0"/>
              </a:rPr>
              <a:t>Benefits of the solution (social, economic, environmental, etc.)</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2" name="Rectangle 17411"/>
          <p:cNvSpPr/>
          <p:nvPr/>
        </p:nvSpPr>
        <p:spPr>
          <a:xfrm>
            <a:off x="274320" y="1682496"/>
            <a:ext cx="45720" cy="13716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3" name="TextBox 17412"/>
          <p:cNvSpPr txBox="1"/>
          <p:nvPr/>
        </p:nvSpPr>
        <p:spPr>
          <a:xfrm>
            <a:off x="384048" y="1645920"/>
            <a:ext cx="5486400" cy="210312"/>
          </a:xfrm>
          <a:prstGeom prst="rect">
            <a:avLst/>
          </a:prstGeom>
          <a:noFill/>
        </p:spPr>
        <p:txBody>
          <a:bodyPr wrap="square" anchor="ctr" lIns="0" rIns="0" tIns="18288" bIns="18288">
            <a:spAutoFit/>
          </a:bodyPr>
          <a:lstStyle/>
          <a:p>
            <a:pPr algn="l"/>
            <a:r>
              <a:rPr sz="1050" b="1" i="0">
                <a:solidFill>
                  <a:srgbClr val="1F4E79"/>
                </a:solidFill>
                <a:latin typeface="Arial"/>
              </a:rPr>
              <a:t>THE CHANGE SATQUERY MAKES</a:t>
            </a:r>
          </a:p>
        </p:txBody>
      </p:sp>
      <p:sp>
        <p:nvSpPr>
          <p:cNvPr id="17414" name="Rounded Rectangle 17413"/>
          <p:cNvSpPr/>
          <p:nvPr/>
        </p:nvSpPr>
        <p:spPr>
          <a:xfrm>
            <a:off x="274320" y="1901952"/>
            <a:ext cx="1188720" cy="457200"/>
          </a:xfrm>
          <a:prstGeom prst="roundRect">
            <a:avLst>
              <a:gd name="adj" fmla="val 1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1" i="0">
                <a:solidFill>
                  <a:srgbClr val="595959"/>
                </a:solidFill>
                <a:latin typeface="Arial"/>
              </a:rPr>
              <a:t>TODAY</a:t>
            </a:r>
          </a:p>
        </p:txBody>
      </p:sp>
      <p:sp>
        <p:nvSpPr>
          <p:cNvPr id="17415" name="Rounded Rectangle 17414"/>
          <p:cNvSpPr/>
          <p:nvPr/>
        </p:nvSpPr>
        <p:spPr>
          <a:xfrm>
            <a:off x="1554480" y="1901952"/>
            <a:ext cx="1666189" cy="457200"/>
          </a:xfrm>
          <a:prstGeom prst="roundRect">
            <a:avLst>
              <a:gd name="adj" fmla="val 14000"/>
            </a:avLst>
          </a:prstGeom>
          <a:solidFill>
            <a:srgbClr val="FFFFFF"/>
          </a:solidFill>
          <a:ln w="1016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00" b="0" i="0">
                <a:solidFill>
                  <a:srgbClr val="595959"/>
                </a:solidFill>
                <a:latin typeface="Arial"/>
              </a:rPr>
              <a:t>Raw satellite
data</a:t>
            </a:r>
          </a:p>
        </p:txBody>
      </p:sp>
      <p:sp>
        <p:nvSpPr>
          <p:cNvPr id="17416" name="Right Arrow 17415"/>
          <p:cNvSpPr/>
          <p:nvPr/>
        </p:nvSpPr>
        <p:spPr>
          <a:xfrm>
            <a:off x="3225241" y="2071116"/>
            <a:ext cx="64008" cy="118872"/>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Rounded Rectangle 17416"/>
          <p:cNvSpPr/>
          <p:nvPr/>
        </p:nvSpPr>
        <p:spPr>
          <a:xfrm>
            <a:off x="3293821" y="1901952"/>
            <a:ext cx="1666189" cy="457200"/>
          </a:xfrm>
          <a:prstGeom prst="roundRect">
            <a:avLst>
              <a:gd name="adj" fmla="val 14000"/>
            </a:avLst>
          </a:prstGeom>
          <a:solidFill>
            <a:srgbClr val="FFFFFF"/>
          </a:solidFill>
          <a:ln w="1016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00" b="0" i="0">
                <a:solidFill>
                  <a:srgbClr val="595959"/>
                </a:solidFill>
                <a:latin typeface="Arial"/>
              </a:rPr>
              <a:t>Domain expert
required</a:t>
            </a:r>
          </a:p>
        </p:txBody>
      </p:sp>
      <p:sp>
        <p:nvSpPr>
          <p:cNvPr id="17418" name="Right Arrow 17417"/>
          <p:cNvSpPr/>
          <p:nvPr/>
        </p:nvSpPr>
        <p:spPr>
          <a:xfrm>
            <a:off x="4964582" y="2071116"/>
            <a:ext cx="64008" cy="118872"/>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9" name="Rounded Rectangle 17418"/>
          <p:cNvSpPr/>
          <p:nvPr/>
        </p:nvSpPr>
        <p:spPr>
          <a:xfrm>
            <a:off x="5033162" y="1901952"/>
            <a:ext cx="1666189" cy="457200"/>
          </a:xfrm>
          <a:prstGeom prst="roundRect">
            <a:avLst>
              <a:gd name="adj" fmla="val 14000"/>
            </a:avLst>
          </a:prstGeom>
          <a:solidFill>
            <a:srgbClr val="FFFFFF"/>
          </a:solidFill>
          <a:ln w="1016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00" b="0" i="0">
                <a:solidFill>
                  <a:srgbClr val="595959"/>
                </a:solidFill>
                <a:latin typeface="Arial"/>
              </a:rPr>
              <a:t>Manual
preprocessing</a:t>
            </a:r>
          </a:p>
        </p:txBody>
      </p:sp>
      <p:sp>
        <p:nvSpPr>
          <p:cNvPr id="17420" name="Right Arrow 17419"/>
          <p:cNvSpPr/>
          <p:nvPr/>
        </p:nvSpPr>
        <p:spPr>
          <a:xfrm>
            <a:off x="6703923" y="2071116"/>
            <a:ext cx="64008" cy="118872"/>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Rounded Rectangle 17420"/>
          <p:cNvSpPr/>
          <p:nvPr/>
        </p:nvSpPr>
        <p:spPr>
          <a:xfrm>
            <a:off x="6772503" y="1901952"/>
            <a:ext cx="1666189" cy="457200"/>
          </a:xfrm>
          <a:prstGeom prst="roundRect">
            <a:avLst>
              <a:gd name="adj" fmla="val 14000"/>
            </a:avLst>
          </a:prstGeom>
          <a:solidFill>
            <a:srgbClr val="FFFFFF"/>
          </a:solidFill>
          <a:ln w="1016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00" b="0" i="0">
                <a:solidFill>
                  <a:srgbClr val="595959"/>
                </a:solidFill>
                <a:latin typeface="Arial"/>
              </a:rPr>
              <a:t>Manual tool
selection</a:t>
            </a:r>
          </a:p>
        </p:txBody>
      </p:sp>
      <p:sp>
        <p:nvSpPr>
          <p:cNvPr id="17422" name="Right Arrow 17421"/>
          <p:cNvSpPr/>
          <p:nvPr/>
        </p:nvSpPr>
        <p:spPr>
          <a:xfrm>
            <a:off x="8443264" y="2071116"/>
            <a:ext cx="64008" cy="118872"/>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3" name="Rounded Rectangle 17422"/>
          <p:cNvSpPr/>
          <p:nvPr/>
        </p:nvSpPr>
        <p:spPr>
          <a:xfrm>
            <a:off x="8511844" y="1901952"/>
            <a:ext cx="1666189" cy="457200"/>
          </a:xfrm>
          <a:prstGeom prst="roundRect">
            <a:avLst>
              <a:gd name="adj" fmla="val 14000"/>
            </a:avLst>
          </a:prstGeom>
          <a:solidFill>
            <a:srgbClr val="FFFFFF"/>
          </a:solidFill>
          <a:ln w="1016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00" b="0" i="0">
                <a:solidFill>
                  <a:srgbClr val="595959"/>
                </a:solidFill>
                <a:latin typeface="Arial"/>
              </a:rPr>
              <a:t>Isolated
algorithms</a:t>
            </a:r>
          </a:p>
        </p:txBody>
      </p:sp>
      <p:sp>
        <p:nvSpPr>
          <p:cNvPr id="17424" name="Right Arrow 17423"/>
          <p:cNvSpPr/>
          <p:nvPr/>
        </p:nvSpPr>
        <p:spPr>
          <a:xfrm>
            <a:off x="10182606" y="2071116"/>
            <a:ext cx="64008" cy="118872"/>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5" name="Rounded Rectangle 17424"/>
          <p:cNvSpPr/>
          <p:nvPr/>
        </p:nvSpPr>
        <p:spPr>
          <a:xfrm>
            <a:off x="10251186" y="1901952"/>
            <a:ext cx="1666189" cy="457200"/>
          </a:xfrm>
          <a:prstGeom prst="roundRect">
            <a:avLst>
              <a:gd name="adj" fmla="val 14000"/>
            </a:avLst>
          </a:prstGeom>
          <a:solidFill>
            <a:srgbClr val="FFFFFF"/>
          </a:solidFill>
          <a:ln w="1016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00" b="0" i="0">
                <a:solidFill>
                  <a:srgbClr val="595959"/>
                </a:solidFill>
                <a:latin typeface="Arial"/>
              </a:rPr>
              <a:t>Fragmented
results</a:t>
            </a:r>
          </a:p>
        </p:txBody>
      </p:sp>
      <p:sp>
        <p:nvSpPr>
          <p:cNvPr id="17426" name="Rounded Rectangle 17425"/>
          <p:cNvSpPr/>
          <p:nvPr/>
        </p:nvSpPr>
        <p:spPr>
          <a:xfrm>
            <a:off x="274320" y="2468880"/>
            <a:ext cx="1188720" cy="457200"/>
          </a:xfrm>
          <a:prstGeom prst="roundRect">
            <a:avLst>
              <a:gd name="adj" fmla="val 14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1" i="0">
                <a:solidFill>
                  <a:srgbClr val="FFFFFF"/>
                </a:solidFill>
                <a:latin typeface="Arial"/>
              </a:rPr>
              <a:t>SATQUERY</a:t>
            </a:r>
          </a:p>
        </p:txBody>
      </p:sp>
      <p:sp>
        <p:nvSpPr>
          <p:cNvPr id="17427" name="Rounded Rectangle 17426"/>
          <p:cNvSpPr/>
          <p:nvPr/>
        </p:nvSpPr>
        <p:spPr>
          <a:xfrm>
            <a:off x="1554480" y="2468880"/>
            <a:ext cx="1231353" cy="457200"/>
          </a:xfrm>
          <a:prstGeom prst="roundRect">
            <a:avLst>
              <a:gd name="adj" fmla="val 14000"/>
            </a:avLst>
          </a:prstGeom>
          <a:solidFill>
            <a:srgbClr val="DEEBF7"/>
          </a:solidFill>
          <a:ln w="1016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00" b="1" i="0">
                <a:solidFill>
                  <a:srgbClr val="1F4E79"/>
                </a:solidFill>
                <a:latin typeface="Arial"/>
              </a:rPr>
              <a:t>Natural-language
intent</a:t>
            </a:r>
          </a:p>
        </p:txBody>
      </p:sp>
      <p:sp>
        <p:nvSpPr>
          <p:cNvPr id="17428" name="Right Arrow 17427"/>
          <p:cNvSpPr/>
          <p:nvPr/>
        </p:nvSpPr>
        <p:spPr>
          <a:xfrm>
            <a:off x="2790405" y="2638044"/>
            <a:ext cx="64008" cy="118872"/>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9" name="Rounded Rectangle 17428"/>
          <p:cNvSpPr/>
          <p:nvPr/>
        </p:nvSpPr>
        <p:spPr>
          <a:xfrm>
            <a:off x="2858985" y="2468880"/>
            <a:ext cx="1231353" cy="457200"/>
          </a:xfrm>
          <a:prstGeom prst="roundRect">
            <a:avLst>
              <a:gd name="adj" fmla="val 14000"/>
            </a:avLst>
          </a:prstGeom>
          <a:solidFill>
            <a:srgbClr val="DEEBF7"/>
          </a:solidFill>
          <a:ln w="1016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00" b="1" i="0">
                <a:solidFill>
                  <a:srgbClr val="1F4E79"/>
                </a:solidFill>
                <a:latin typeface="Arial"/>
              </a:rPr>
              <a:t>Task
reasoning</a:t>
            </a:r>
          </a:p>
        </p:txBody>
      </p:sp>
      <p:sp>
        <p:nvSpPr>
          <p:cNvPr id="17430" name="Right Arrow 17429"/>
          <p:cNvSpPr/>
          <p:nvPr/>
        </p:nvSpPr>
        <p:spPr>
          <a:xfrm>
            <a:off x="4094911" y="2638044"/>
            <a:ext cx="64008" cy="118872"/>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1" name="Rounded Rectangle 17430"/>
          <p:cNvSpPr/>
          <p:nvPr/>
        </p:nvSpPr>
        <p:spPr>
          <a:xfrm>
            <a:off x="4163491" y="2468880"/>
            <a:ext cx="1231353" cy="457200"/>
          </a:xfrm>
          <a:prstGeom prst="roundRect">
            <a:avLst>
              <a:gd name="adj" fmla="val 14000"/>
            </a:avLst>
          </a:prstGeom>
          <a:solidFill>
            <a:srgbClr val="DEEBF7"/>
          </a:solidFill>
          <a:ln w="1016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00" b="1" i="0">
                <a:solidFill>
                  <a:srgbClr val="1F4E79"/>
                </a:solidFill>
                <a:latin typeface="Arial"/>
              </a:rPr>
              <a:t>Workflow
decomposition</a:t>
            </a:r>
          </a:p>
        </p:txBody>
      </p:sp>
      <p:sp>
        <p:nvSpPr>
          <p:cNvPr id="17432" name="Right Arrow 17431"/>
          <p:cNvSpPr/>
          <p:nvPr/>
        </p:nvSpPr>
        <p:spPr>
          <a:xfrm>
            <a:off x="5399417" y="2638044"/>
            <a:ext cx="64008" cy="118872"/>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3" name="Rounded Rectangle 17432"/>
          <p:cNvSpPr/>
          <p:nvPr/>
        </p:nvSpPr>
        <p:spPr>
          <a:xfrm>
            <a:off x="5467997" y="2468880"/>
            <a:ext cx="1231353" cy="457200"/>
          </a:xfrm>
          <a:prstGeom prst="roundRect">
            <a:avLst>
              <a:gd name="adj" fmla="val 14000"/>
            </a:avLst>
          </a:prstGeom>
          <a:solidFill>
            <a:srgbClr val="DEEBF7"/>
          </a:solidFill>
          <a:ln w="1016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00" b="1" i="0">
                <a:solidFill>
                  <a:srgbClr val="1F4E79"/>
                </a:solidFill>
                <a:latin typeface="Arial"/>
              </a:rPr>
              <a:t>Capability
selection</a:t>
            </a:r>
          </a:p>
        </p:txBody>
      </p:sp>
      <p:sp>
        <p:nvSpPr>
          <p:cNvPr id="17434" name="Right Arrow 17433"/>
          <p:cNvSpPr/>
          <p:nvPr/>
        </p:nvSpPr>
        <p:spPr>
          <a:xfrm>
            <a:off x="6703923" y="2638044"/>
            <a:ext cx="64008" cy="118872"/>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5" name="Rounded Rectangle 17434"/>
          <p:cNvSpPr/>
          <p:nvPr/>
        </p:nvSpPr>
        <p:spPr>
          <a:xfrm>
            <a:off x="6772503" y="2468880"/>
            <a:ext cx="1231353" cy="457200"/>
          </a:xfrm>
          <a:prstGeom prst="roundRect">
            <a:avLst>
              <a:gd name="adj" fmla="val 14000"/>
            </a:avLst>
          </a:prstGeom>
          <a:solidFill>
            <a:srgbClr val="DEEBF7"/>
          </a:solidFill>
          <a:ln w="1016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00" b="1" i="0">
                <a:solidFill>
                  <a:srgbClr val="1F4E79"/>
                </a:solidFill>
                <a:latin typeface="Arial"/>
              </a:rPr>
              <a:t>Deterministic
validation</a:t>
            </a:r>
          </a:p>
        </p:txBody>
      </p:sp>
      <p:sp>
        <p:nvSpPr>
          <p:cNvPr id="17436" name="Right Arrow 17435"/>
          <p:cNvSpPr/>
          <p:nvPr/>
        </p:nvSpPr>
        <p:spPr>
          <a:xfrm>
            <a:off x="8008429" y="2638044"/>
            <a:ext cx="64008" cy="118872"/>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7" name="Rounded Rectangle 17436"/>
          <p:cNvSpPr/>
          <p:nvPr/>
        </p:nvSpPr>
        <p:spPr>
          <a:xfrm>
            <a:off x="8077009" y="2468880"/>
            <a:ext cx="1231353" cy="457200"/>
          </a:xfrm>
          <a:prstGeom prst="roundRect">
            <a:avLst>
              <a:gd name="adj" fmla="val 14000"/>
            </a:avLst>
          </a:prstGeom>
          <a:solidFill>
            <a:srgbClr val="DEEBF7"/>
          </a:solidFill>
          <a:ln w="1016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00" b="1" i="0">
                <a:solidFill>
                  <a:srgbClr val="1F4E79"/>
                </a:solidFill>
                <a:latin typeface="Arial"/>
              </a:rPr>
              <a:t>Specialist RS
execution</a:t>
            </a:r>
          </a:p>
        </p:txBody>
      </p:sp>
      <p:sp>
        <p:nvSpPr>
          <p:cNvPr id="17438" name="Right Arrow 17437"/>
          <p:cNvSpPr/>
          <p:nvPr/>
        </p:nvSpPr>
        <p:spPr>
          <a:xfrm>
            <a:off x="9312935" y="2638044"/>
            <a:ext cx="64008" cy="118872"/>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9" name="Rounded Rectangle 17438"/>
          <p:cNvSpPr/>
          <p:nvPr/>
        </p:nvSpPr>
        <p:spPr>
          <a:xfrm>
            <a:off x="9381515" y="2468880"/>
            <a:ext cx="1231353" cy="457200"/>
          </a:xfrm>
          <a:prstGeom prst="roundRect">
            <a:avLst>
              <a:gd name="adj" fmla="val 14000"/>
            </a:avLst>
          </a:prstGeom>
          <a:solidFill>
            <a:srgbClr val="DEEBF7"/>
          </a:solidFill>
          <a:ln w="1016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00" b="1" i="0">
                <a:solidFill>
                  <a:srgbClr val="1F4E79"/>
                </a:solidFill>
                <a:latin typeface="Arial"/>
              </a:rPr>
              <a:t>Evidence
integration</a:t>
            </a:r>
          </a:p>
        </p:txBody>
      </p:sp>
      <p:sp>
        <p:nvSpPr>
          <p:cNvPr id="17440" name="Right Arrow 17439"/>
          <p:cNvSpPr/>
          <p:nvPr/>
        </p:nvSpPr>
        <p:spPr>
          <a:xfrm>
            <a:off x="10617441" y="2638044"/>
            <a:ext cx="64008" cy="118872"/>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1" name="Rounded Rectangle 17440"/>
          <p:cNvSpPr/>
          <p:nvPr/>
        </p:nvSpPr>
        <p:spPr>
          <a:xfrm>
            <a:off x="10686021" y="2468880"/>
            <a:ext cx="1231353" cy="457200"/>
          </a:xfrm>
          <a:prstGeom prst="roundRect">
            <a:avLst>
              <a:gd name="adj" fmla="val 14000"/>
            </a:avLst>
          </a:prstGeom>
          <a:solidFill>
            <a:srgbClr val="DEEBF7"/>
          </a:solidFill>
          <a:ln w="1016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700" b="1" i="0">
                <a:solidFill>
                  <a:srgbClr val="1F4E79"/>
                </a:solidFill>
                <a:latin typeface="Arial"/>
              </a:rPr>
              <a:t>Interpretable
answer</a:t>
            </a:r>
          </a:p>
        </p:txBody>
      </p:sp>
      <p:sp>
        <p:nvSpPr>
          <p:cNvPr id="17442" name="Rectangle 17441"/>
          <p:cNvSpPr/>
          <p:nvPr/>
        </p:nvSpPr>
        <p:spPr>
          <a:xfrm>
            <a:off x="274320" y="3163824"/>
            <a:ext cx="45720" cy="13716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3" name="TextBox 17442"/>
          <p:cNvSpPr txBox="1"/>
          <p:nvPr/>
        </p:nvSpPr>
        <p:spPr>
          <a:xfrm>
            <a:off x="384048" y="3127248"/>
            <a:ext cx="5486400" cy="210312"/>
          </a:xfrm>
          <a:prstGeom prst="rect">
            <a:avLst/>
          </a:prstGeom>
          <a:noFill/>
        </p:spPr>
        <p:txBody>
          <a:bodyPr wrap="square" anchor="ctr" lIns="0" rIns="0" tIns="18288" bIns="18288">
            <a:spAutoFit/>
          </a:bodyPr>
          <a:lstStyle/>
          <a:p>
            <a:pPr algn="l"/>
            <a:r>
              <a:rPr sz="1050" b="1" i="0">
                <a:solidFill>
                  <a:srgbClr val="1F4E79"/>
                </a:solidFill>
                <a:latin typeface="Arial"/>
              </a:rPr>
              <a:t>POTENTIAL IMPACT ON THE TARGET AUDIENCE</a:t>
            </a:r>
          </a:p>
        </p:txBody>
      </p:sp>
      <p:sp>
        <p:nvSpPr>
          <p:cNvPr id="17444" name="Rounded Rectangle 17443"/>
          <p:cNvSpPr/>
          <p:nvPr/>
        </p:nvSpPr>
        <p:spPr>
          <a:xfrm>
            <a:off x="274320" y="3401568"/>
            <a:ext cx="1856689" cy="960120"/>
          </a:xfrm>
          <a:prstGeom prst="roundRect">
            <a:avLst>
              <a:gd name="adj" fmla="val 10000"/>
            </a:avLst>
          </a:prstGeom>
          <a:solidFill>
            <a:srgbClr val="F2F7FC"/>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tIns="18288" bIns="18288"/>
          <a:lstStyle/>
          <a:p>
            <a:pPr algn="ctr">
              <a:lnSpc>
                <a:spcPct val="95000"/>
              </a:lnSpc>
            </a:pPr>
            <a:r>
              <a:rPr sz="840" b="1" i="0">
                <a:solidFill>
                  <a:srgbClr val="1F4E79"/>
                </a:solidFill>
                <a:latin typeface="Arial"/>
              </a:rPr>
              <a:t>Agriculture
departments</a:t>
            </a:r>
          </a:p>
          <a:p>
            <a:pPr algn="ctr">
              <a:lnSpc>
                <a:spcPct val="100000"/>
              </a:lnSpc>
              <a:spcBef>
                <a:spcPts val="300"/>
              </a:spcBef>
            </a:pPr>
            <a:r>
              <a:rPr sz="660" b="0" i="0">
                <a:solidFill>
                  <a:srgbClr val="1A1A1A"/>
                </a:solidFill>
                <a:latin typeface="Arial"/>
              </a:rPr>
              <a:t>crop stress and seasonal vegetation loss without a GIS analyst</a:t>
            </a:r>
          </a:p>
        </p:txBody>
      </p:sp>
      <p:sp>
        <p:nvSpPr>
          <p:cNvPr id="17445" name="Rounded Rectangle 17444"/>
          <p:cNvSpPr/>
          <p:nvPr/>
        </p:nvSpPr>
        <p:spPr>
          <a:xfrm>
            <a:off x="2231593" y="3401568"/>
            <a:ext cx="1856689" cy="960120"/>
          </a:xfrm>
          <a:prstGeom prst="roundRect">
            <a:avLst>
              <a:gd name="adj" fmla="val 10000"/>
            </a:avLst>
          </a:prstGeom>
          <a:solidFill>
            <a:srgbClr val="F2F7FC"/>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tIns="18288" bIns="18288"/>
          <a:lstStyle/>
          <a:p>
            <a:pPr algn="ctr">
              <a:lnSpc>
                <a:spcPct val="95000"/>
              </a:lnSpc>
            </a:pPr>
            <a:r>
              <a:rPr sz="840" b="1" i="0">
                <a:solidFill>
                  <a:srgbClr val="1F4E79"/>
                </a:solidFill>
                <a:latin typeface="Arial"/>
              </a:rPr>
              <a:t>Disaster
response</a:t>
            </a:r>
          </a:p>
          <a:p>
            <a:pPr algn="ctr">
              <a:lnSpc>
                <a:spcPct val="100000"/>
              </a:lnSpc>
              <a:spcBef>
                <a:spcPts val="300"/>
              </a:spcBef>
            </a:pPr>
            <a:r>
              <a:rPr sz="660" b="0" i="0">
                <a:solidFill>
                  <a:srgbClr val="1A1A1A"/>
                </a:solidFill>
                <a:latin typeface="Arial"/>
              </a:rPr>
              <a:t>rapid before/after flood, fire and landslide extent</a:t>
            </a:r>
          </a:p>
        </p:txBody>
      </p:sp>
      <p:sp>
        <p:nvSpPr>
          <p:cNvPr id="17446" name="Rounded Rectangle 17445"/>
          <p:cNvSpPr/>
          <p:nvPr/>
        </p:nvSpPr>
        <p:spPr>
          <a:xfrm>
            <a:off x="4188866" y="3401568"/>
            <a:ext cx="1856689" cy="960120"/>
          </a:xfrm>
          <a:prstGeom prst="roundRect">
            <a:avLst>
              <a:gd name="adj" fmla="val 10000"/>
            </a:avLst>
          </a:prstGeom>
          <a:solidFill>
            <a:srgbClr val="F2F7FC"/>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tIns="18288" bIns="18288"/>
          <a:lstStyle/>
          <a:p>
            <a:pPr algn="ctr">
              <a:lnSpc>
                <a:spcPct val="95000"/>
              </a:lnSpc>
            </a:pPr>
            <a:r>
              <a:rPr sz="840" b="1" i="0">
                <a:solidFill>
                  <a:srgbClr val="1F4E79"/>
                </a:solidFill>
                <a:latin typeface="Arial"/>
              </a:rPr>
              <a:t>Urban planning
bodies</a:t>
            </a:r>
          </a:p>
          <a:p>
            <a:pPr algn="ctr">
              <a:lnSpc>
                <a:spcPct val="100000"/>
              </a:lnSpc>
              <a:spcBef>
                <a:spcPts val="300"/>
              </a:spcBef>
            </a:pPr>
            <a:r>
              <a:rPr sz="660" b="0" i="0">
                <a:solidFill>
                  <a:srgbClr val="1A1A1A"/>
                </a:solidFill>
                <a:latin typeface="Arial"/>
              </a:rPr>
              <a:t>built-up growth and encroachment, measured reproducibly</a:t>
            </a:r>
          </a:p>
        </p:txBody>
      </p:sp>
      <p:sp>
        <p:nvSpPr>
          <p:cNvPr id="17447" name="Rounded Rectangle 17446"/>
          <p:cNvSpPr/>
          <p:nvPr/>
        </p:nvSpPr>
        <p:spPr>
          <a:xfrm>
            <a:off x="6146139" y="3401568"/>
            <a:ext cx="1856689" cy="960120"/>
          </a:xfrm>
          <a:prstGeom prst="roundRect">
            <a:avLst>
              <a:gd name="adj" fmla="val 10000"/>
            </a:avLst>
          </a:prstGeom>
          <a:solidFill>
            <a:srgbClr val="F2F7FC"/>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tIns="18288" bIns="18288"/>
          <a:lstStyle/>
          <a:p>
            <a:pPr algn="ctr">
              <a:lnSpc>
                <a:spcPct val="95000"/>
              </a:lnSpc>
            </a:pPr>
            <a:r>
              <a:rPr sz="840" b="1" i="0">
                <a:solidFill>
                  <a:srgbClr val="1F4E79"/>
                </a:solidFill>
                <a:latin typeface="Arial"/>
              </a:rPr>
              <a:t>Forest and
environment</a:t>
            </a:r>
          </a:p>
          <a:p>
            <a:pPr algn="ctr">
              <a:lnSpc>
                <a:spcPct val="100000"/>
              </a:lnSpc>
              <a:spcBef>
                <a:spcPts val="300"/>
              </a:spcBef>
            </a:pPr>
            <a:r>
              <a:rPr sz="660" b="0" i="0">
                <a:solidFill>
                  <a:srgbClr val="1A1A1A"/>
                </a:solidFill>
                <a:latin typeface="Arial"/>
              </a:rPr>
              <a:t>deforestation and water-body change, auditable over time</a:t>
            </a:r>
          </a:p>
        </p:txBody>
      </p:sp>
      <p:sp>
        <p:nvSpPr>
          <p:cNvPr id="17448" name="Rounded Rectangle 17447"/>
          <p:cNvSpPr/>
          <p:nvPr/>
        </p:nvSpPr>
        <p:spPr>
          <a:xfrm>
            <a:off x="8103412" y="3401568"/>
            <a:ext cx="1856689" cy="960120"/>
          </a:xfrm>
          <a:prstGeom prst="roundRect">
            <a:avLst>
              <a:gd name="adj" fmla="val 10000"/>
            </a:avLst>
          </a:prstGeom>
          <a:solidFill>
            <a:srgbClr val="F2F7FC"/>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tIns="18288" bIns="18288"/>
          <a:lstStyle/>
          <a:p>
            <a:pPr algn="ctr">
              <a:lnSpc>
                <a:spcPct val="95000"/>
              </a:lnSpc>
            </a:pPr>
            <a:r>
              <a:rPr sz="840" b="1" i="0">
                <a:solidFill>
                  <a:srgbClr val="1F4E79"/>
                </a:solidFill>
                <a:latin typeface="Arial"/>
              </a:rPr>
              <a:t>Space and defence
analysts</a:t>
            </a:r>
          </a:p>
          <a:p>
            <a:pPr algn="ctr">
              <a:lnSpc>
                <a:spcPct val="100000"/>
              </a:lnSpc>
              <a:spcBef>
                <a:spcPts val="300"/>
              </a:spcBef>
            </a:pPr>
            <a:r>
              <a:rPr sz="660" b="0" i="0">
                <a:solidFill>
                  <a:srgbClr val="1A1A1A"/>
                </a:solidFill>
                <a:latin typeface="Arial"/>
              </a:rPr>
              <a:t>a controlled surface for adding new specialist models</a:t>
            </a:r>
          </a:p>
        </p:txBody>
      </p:sp>
      <p:sp>
        <p:nvSpPr>
          <p:cNvPr id="17449" name="Rounded Rectangle 17448"/>
          <p:cNvSpPr/>
          <p:nvPr/>
        </p:nvSpPr>
        <p:spPr>
          <a:xfrm>
            <a:off x="10060686" y="3401568"/>
            <a:ext cx="1856689" cy="960120"/>
          </a:xfrm>
          <a:prstGeom prst="roundRect">
            <a:avLst>
              <a:gd name="adj" fmla="val 10000"/>
            </a:avLst>
          </a:prstGeom>
          <a:solidFill>
            <a:srgbClr val="F2F7FC"/>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tIns="18288" bIns="18288"/>
          <a:lstStyle/>
          <a:p>
            <a:pPr algn="ctr">
              <a:lnSpc>
                <a:spcPct val="95000"/>
              </a:lnSpc>
            </a:pPr>
            <a:r>
              <a:rPr sz="840" b="1" i="0">
                <a:solidFill>
                  <a:srgbClr val="1F4E79"/>
                </a:solidFill>
                <a:latin typeface="Arial"/>
              </a:rPr>
              <a:t>Students and
researchers</a:t>
            </a:r>
          </a:p>
          <a:p>
            <a:pPr algn="ctr">
              <a:lnSpc>
                <a:spcPct val="100000"/>
              </a:lnSpc>
              <a:spcBef>
                <a:spcPts val="300"/>
              </a:spcBef>
            </a:pPr>
            <a:r>
              <a:rPr sz="660" b="0" i="0">
                <a:solidFill>
                  <a:srgbClr val="1A1A1A"/>
                </a:solidFill>
                <a:latin typeface="Arial"/>
              </a:rPr>
              <a:t>analysis without first mastering the toolchain</a:t>
            </a:r>
          </a:p>
        </p:txBody>
      </p:sp>
      <p:sp>
        <p:nvSpPr>
          <p:cNvPr id="17450" name="Rectangle 17449"/>
          <p:cNvSpPr/>
          <p:nvPr/>
        </p:nvSpPr>
        <p:spPr>
          <a:xfrm>
            <a:off x="274320" y="4572000"/>
            <a:ext cx="45720" cy="13716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1" name="TextBox 17450"/>
          <p:cNvSpPr txBox="1"/>
          <p:nvPr/>
        </p:nvSpPr>
        <p:spPr>
          <a:xfrm>
            <a:off x="384048" y="4535424"/>
            <a:ext cx="5486400" cy="210312"/>
          </a:xfrm>
          <a:prstGeom prst="rect">
            <a:avLst/>
          </a:prstGeom>
          <a:noFill/>
        </p:spPr>
        <p:txBody>
          <a:bodyPr wrap="square" anchor="ctr" lIns="0" rIns="0" tIns="18288" bIns="18288">
            <a:spAutoFit/>
          </a:bodyPr>
          <a:lstStyle/>
          <a:p>
            <a:pPr algn="l"/>
            <a:r>
              <a:rPr sz="1050" b="1" i="0">
                <a:solidFill>
                  <a:srgbClr val="1F4E79"/>
                </a:solidFill>
                <a:latin typeface="Arial"/>
              </a:rPr>
              <a:t>BENEFITS</a:t>
            </a:r>
          </a:p>
        </p:txBody>
      </p:sp>
      <p:sp>
        <p:nvSpPr>
          <p:cNvPr id="17452" name="Rounded Rectangle 17451"/>
          <p:cNvSpPr/>
          <p:nvPr/>
        </p:nvSpPr>
        <p:spPr>
          <a:xfrm>
            <a:off x="274320" y="4809744"/>
            <a:ext cx="2759887" cy="1426464"/>
          </a:xfrm>
          <a:prstGeom prst="roundRect">
            <a:avLst>
              <a:gd name="adj" fmla="val 14000"/>
            </a:avLst>
          </a:prstGeom>
          <a:solidFill>
            <a:srgbClr val="FFFFFF"/>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l">
              <a:lnSpc>
                <a:spcPct val="95000"/>
              </a:lnSpc>
            </a:pPr>
            <a:r>
              <a:rPr sz="1000" b="1" i="0">
                <a:solidFill>
                  <a:srgbClr val="C55A11"/>
                </a:solidFill>
                <a:latin typeface="Arial"/>
              </a:rPr>
              <a:t>Social</a:t>
            </a:r>
          </a:p>
          <a:p>
            <a:pPr algn="l">
              <a:lnSpc>
                <a:spcPct val="100000"/>
              </a:lnSpc>
              <a:spcBef>
                <a:spcPts val="300"/>
              </a:spcBef>
            </a:pPr>
            <a:r>
              <a:rPr sz="760" b="0" i="0">
                <a:solidFill>
                  <a:srgbClr val="1A1A1A"/>
                </a:solidFill>
                <a:latin typeface="Arial"/>
              </a:rPr>
              <a:t>Geospatial evidence stops being the preserve of specialists. A district officer asks in their own words and gets an explained, defensible answer.</a:t>
            </a:r>
          </a:p>
        </p:txBody>
      </p:sp>
      <p:sp>
        <p:nvSpPr>
          <p:cNvPr id="17453" name="Rectangle 17452"/>
          <p:cNvSpPr/>
          <p:nvPr/>
        </p:nvSpPr>
        <p:spPr>
          <a:xfrm>
            <a:off x="274320" y="4809744"/>
            <a:ext cx="50292" cy="142646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4" name="Rounded Rectangle 17453"/>
          <p:cNvSpPr/>
          <p:nvPr/>
        </p:nvSpPr>
        <p:spPr>
          <a:xfrm>
            <a:off x="3235375" y="4809744"/>
            <a:ext cx="2759887" cy="1426464"/>
          </a:xfrm>
          <a:prstGeom prst="roundRect">
            <a:avLst>
              <a:gd name="adj" fmla="val 14000"/>
            </a:avLst>
          </a:prstGeom>
          <a:solidFill>
            <a:srgbClr val="FFFFFF"/>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l">
              <a:lnSpc>
                <a:spcPct val="95000"/>
              </a:lnSpc>
            </a:pPr>
            <a:r>
              <a:rPr sz="1000" b="1" i="0">
                <a:solidFill>
                  <a:srgbClr val="0070C0"/>
                </a:solidFill>
                <a:latin typeface="Arial"/>
              </a:rPr>
              <a:t>Economic</a:t>
            </a:r>
          </a:p>
          <a:p>
            <a:pPr algn="l">
              <a:lnSpc>
                <a:spcPct val="100000"/>
              </a:lnSpc>
              <a:spcBef>
                <a:spcPts val="300"/>
              </a:spcBef>
            </a:pPr>
            <a:r>
              <a:rPr sz="760" b="0" i="0">
                <a:solidFill>
                  <a:srgbClr val="1A1A1A"/>
                </a:solidFill>
                <a:latin typeface="Arial"/>
              </a:rPr>
              <a:t>No repeated manual preprocessing or per-task scripting. One controlled workflow layer serves many departments instead of each rebuilding its own chain.</a:t>
            </a:r>
          </a:p>
        </p:txBody>
      </p:sp>
      <p:sp>
        <p:nvSpPr>
          <p:cNvPr id="17455" name="Rectangle 17454"/>
          <p:cNvSpPr/>
          <p:nvPr/>
        </p:nvSpPr>
        <p:spPr>
          <a:xfrm>
            <a:off x="3235375" y="4809744"/>
            <a:ext cx="50292" cy="142646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6" name="Rounded Rectangle 17455"/>
          <p:cNvSpPr/>
          <p:nvPr/>
        </p:nvSpPr>
        <p:spPr>
          <a:xfrm>
            <a:off x="6196431" y="4809744"/>
            <a:ext cx="2759887" cy="1426464"/>
          </a:xfrm>
          <a:prstGeom prst="roundRect">
            <a:avLst>
              <a:gd name="adj" fmla="val 14000"/>
            </a:avLst>
          </a:prstGeom>
          <a:solidFill>
            <a:srgbClr val="FFFFFF"/>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l">
              <a:lnSpc>
                <a:spcPct val="95000"/>
              </a:lnSpc>
            </a:pPr>
            <a:r>
              <a:rPr sz="1000" b="1" i="0">
                <a:solidFill>
                  <a:srgbClr val="1E7A3C"/>
                </a:solidFill>
                <a:latin typeface="Arial"/>
              </a:rPr>
              <a:t>Environmental</a:t>
            </a:r>
          </a:p>
          <a:p>
            <a:pPr algn="l">
              <a:lnSpc>
                <a:spcPct val="100000"/>
              </a:lnSpc>
              <a:spcBef>
                <a:spcPts val="300"/>
              </a:spcBef>
            </a:pPr>
            <a:r>
              <a:rPr sz="760" b="0" i="0">
                <a:solidFill>
                  <a:srgbClr val="1A1A1A"/>
                </a:solidFill>
                <a:latin typeface="Arial"/>
              </a:rPr>
              <a:t>Routine monitoring of vegetation loss, water extent and encroachment becomes cheap enough to run often — which is what turns monitoring into intervention.</a:t>
            </a:r>
          </a:p>
        </p:txBody>
      </p:sp>
      <p:sp>
        <p:nvSpPr>
          <p:cNvPr id="17457" name="Rectangle 17456"/>
          <p:cNvSpPr/>
          <p:nvPr/>
        </p:nvSpPr>
        <p:spPr>
          <a:xfrm>
            <a:off x="6196431" y="4809744"/>
            <a:ext cx="50292" cy="1426464"/>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8" name="Rounded Rectangle 17457"/>
          <p:cNvSpPr/>
          <p:nvPr/>
        </p:nvSpPr>
        <p:spPr>
          <a:xfrm>
            <a:off x="9157487" y="4809744"/>
            <a:ext cx="2759887" cy="1426464"/>
          </a:xfrm>
          <a:prstGeom prst="roundRect">
            <a:avLst>
              <a:gd name="adj" fmla="val 14000"/>
            </a:avLst>
          </a:prstGeom>
          <a:solidFill>
            <a:srgbClr val="FFFFFF"/>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l">
              <a:lnSpc>
                <a:spcPct val="95000"/>
              </a:lnSpc>
            </a:pPr>
            <a:r>
              <a:rPr sz="1000" b="1" i="0">
                <a:solidFill>
                  <a:srgbClr val="1F4E79"/>
                </a:solidFill>
                <a:latin typeface="Arial"/>
              </a:rPr>
              <a:t>Operational</a:t>
            </a:r>
          </a:p>
          <a:p>
            <a:pPr algn="l">
              <a:lnSpc>
                <a:spcPct val="100000"/>
              </a:lnSpc>
              <a:spcBef>
                <a:spcPts val="300"/>
              </a:spcBef>
            </a:pPr>
            <a:r>
              <a:rPr sz="760" b="0" i="0">
                <a:solidFill>
                  <a:srgbClr val="1A1A1A"/>
                </a:solidFill>
                <a:latin typeface="Arial"/>
              </a:rPr>
              <a:t>Every answer carries its provenance: which tool ran, on which imagery, with which parameters. Reproducible and auditable, not one-off outputs.</a:t>
            </a:r>
          </a:p>
        </p:txBody>
      </p:sp>
      <p:sp>
        <p:nvSpPr>
          <p:cNvPr id="17459" name="Rectangle 17458"/>
          <p:cNvSpPr/>
          <p:nvPr/>
        </p:nvSpPr>
        <p:spPr>
          <a:xfrm>
            <a:off x="9157487" y="4809744"/>
            <a:ext cx="50292" cy="14264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ounded Rectangle 17410"/>
          <p:cNvSpPr/>
          <p:nvPr/>
        </p:nvSpPr>
        <p:spPr>
          <a:xfrm>
            <a:off x="274320" y="1115568"/>
            <a:ext cx="11643055" cy="274320"/>
          </a:xfrm>
          <a:prstGeom prst="roundRect">
            <a:avLst>
              <a:gd name="adj" fmla="val 6000"/>
            </a:avLst>
          </a:prstGeom>
          <a:solidFill>
            <a:srgbClr val="F2F7FC"/>
          </a:solidFill>
          <a:ln w="10160">
            <a:solidFill>
              <a:srgbClr val="DEEB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420623" y="1115568"/>
            <a:ext cx="11350447" cy="274320"/>
          </a:xfrm>
          <a:prstGeom prst="rect">
            <a:avLst/>
          </a:prstGeom>
          <a:noFill/>
          <a:ln w="9525">
            <a:noFill/>
            <a:miter lim="800000"/>
            <a:headEnd/>
            <a:tailEnd/>
          </a:ln>
        </p:spPr>
        <p:txBody>
          <a:bodyPr wrap="square" anchor="ctr" lIns="0" rIns="0" tIns="0" bIns="0">
            <a:spAutoFit/>
          </a:bodyPr>
          <a:lstStyle/>
          <a:p>
            <a:pPr marL="342900" marR="0" lvl="0" indent="-342900" algn="l" defTabSz="457200" rtl="0" eaLnBrk="1" fontAlgn="base" latinLnBrk="0" hangingPunct="1">
              <a:lnSpc>
                <a:spcPct val="105000"/>
              </a:lnSpc>
              <a:spcBef>
                <a:spcPts val="0"/>
              </a:spcBef>
              <a:spcAft>
                <a:spcPts val="0"/>
              </a:spcAft>
              <a:buClrTx/>
              <a:buSzTx/>
              <a:buFont typeface="Arial" panose="020B0604020202020204" pitchFamily="34" charset="0"/>
              <a:buChar char="•"/>
              <a:tabLst/>
              <a:defRPr/>
            </a:pPr>
            <a:r>
              <a:rPr lang="en-US" sz="800" noProof="0" dirty="0" b="0">
                <a:solidFill>
                  <a:srgbClr val="1A1A1A"/>
                </a:solidFill>
                <a:latin typeface="Arial" pitchFamily="34" charset="0"/>
                <a:cs typeface="Arial" pitchFamily="34" charset="0"/>
              </a:rPr>
              <a:t>Details / Links of the reference and research work</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2" name="Rectangle 17411"/>
          <p:cNvSpPr/>
          <p:nvPr/>
        </p:nvSpPr>
        <p:spPr>
          <a:xfrm>
            <a:off x="274320" y="1536192"/>
            <a:ext cx="45720" cy="13716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3" name="TextBox 17412"/>
          <p:cNvSpPr txBox="1"/>
          <p:nvPr/>
        </p:nvSpPr>
        <p:spPr>
          <a:xfrm>
            <a:off x="384048" y="1499616"/>
            <a:ext cx="7315200" cy="210312"/>
          </a:xfrm>
          <a:prstGeom prst="rect">
            <a:avLst/>
          </a:prstGeom>
          <a:noFill/>
        </p:spPr>
        <p:txBody>
          <a:bodyPr wrap="square" anchor="ctr" lIns="0" rIns="0" tIns="18288" bIns="18288">
            <a:spAutoFit/>
          </a:bodyPr>
          <a:lstStyle/>
          <a:p>
            <a:pPr algn="l"/>
            <a:r>
              <a:rPr sz="1050" b="1" i="0">
                <a:solidFill>
                  <a:srgbClr val="1F4E79"/>
                </a:solidFill>
                <a:latin typeface="Arial"/>
              </a:rPr>
              <a:t>WHY THE ARCHITECTURE IS SHAPED THIS WAY</a:t>
            </a:r>
          </a:p>
        </p:txBody>
      </p:sp>
      <p:sp>
        <p:nvSpPr>
          <p:cNvPr id="17414" name="Rounded Rectangle 17413"/>
          <p:cNvSpPr/>
          <p:nvPr/>
        </p:nvSpPr>
        <p:spPr>
          <a:xfrm>
            <a:off x="274320" y="1773936"/>
            <a:ext cx="3783482" cy="1188720"/>
          </a:xfrm>
          <a:prstGeom prst="roundRect">
            <a:avLst>
              <a:gd name="adj" fmla="val 8000"/>
            </a:avLst>
          </a:prstGeom>
          <a:solidFill>
            <a:srgbClr val="FFFFFF"/>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l">
              <a:lnSpc>
                <a:spcPct val="95000"/>
              </a:lnSpc>
            </a:pPr>
            <a:r>
              <a:rPr sz="860" b="1" i="0">
                <a:solidFill>
                  <a:srgbClr val="C55A11"/>
                </a:solidFill>
                <a:latin typeface="Arial"/>
              </a:rPr>
              <a:t>Agentic planning and task decomposition</a:t>
            </a:r>
          </a:p>
          <a:p>
            <a:pPr algn="l">
              <a:lnSpc>
                <a:spcPct val="100000"/>
              </a:lnSpc>
              <a:spcBef>
                <a:spcPts val="300"/>
              </a:spcBef>
            </a:pPr>
            <a:r>
              <a:rPr sz="720" b="0" i="0">
                <a:solidFill>
                  <a:srgbClr val="1A1A1A"/>
                </a:solidFill>
                <a:latin typeface="Arial"/>
              </a:rPr>
              <a:t>One question becomes an ordered set of executable subtasks instead of a single opaque call.</a:t>
            </a:r>
          </a:p>
          <a:p>
            <a:pPr algn="l">
              <a:lnSpc>
                <a:spcPct val="95000"/>
              </a:lnSpc>
              <a:spcBef>
                <a:spcPts val="400"/>
              </a:spcBef>
            </a:pPr>
            <a:r>
              <a:rPr sz="680" b="1" i="0">
                <a:solidFill>
                  <a:srgbClr val="595959"/>
                </a:solidFill>
                <a:latin typeface="Arial"/>
              </a:rPr>
              <a:t>→ Reasoning layer</a:t>
            </a:r>
          </a:p>
        </p:txBody>
      </p:sp>
      <p:sp>
        <p:nvSpPr>
          <p:cNvPr id="17415" name="Rectangle 17414"/>
          <p:cNvSpPr/>
          <p:nvPr/>
        </p:nvSpPr>
        <p:spPr>
          <a:xfrm>
            <a:off x="274320" y="1773936"/>
            <a:ext cx="50292" cy="11887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6" name="Rounded Rectangle 17415"/>
          <p:cNvSpPr/>
          <p:nvPr/>
        </p:nvSpPr>
        <p:spPr>
          <a:xfrm>
            <a:off x="4204106" y="1773936"/>
            <a:ext cx="3783482" cy="1188720"/>
          </a:xfrm>
          <a:prstGeom prst="roundRect">
            <a:avLst>
              <a:gd name="adj" fmla="val 8000"/>
            </a:avLst>
          </a:prstGeom>
          <a:solidFill>
            <a:srgbClr val="FFFFFF"/>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l">
              <a:lnSpc>
                <a:spcPct val="95000"/>
              </a:lnSpc>
            </a:pPr>
            <a:r>
              <a:rPr sz="860" b="1" i="0">
                <a:solidFill>
                  <a:srgbClr val="0070C0"/>
                </a:solidFill>
                <a:latin typeface="Arial"/>
              </a:rPr>
              <a:t>Schema-constrained tool calling</a:t>
            </a:r>
          </a:p>
          <a:p>
            <a:pPr algn="l">
              <a:lnSpc>
                <a:spcPct val="100000"/>
              </a:lnSpc>
              <a:spcBef>
                <a:spcPts val="300"/>
              </a:spcBef>
            </a:pPr>
            <a:r>
              <a:rPr sz="720" b="0" i="0">
                <a:solidFill>
                  <a:srgbClr val="1A1A1A"/>
                </a:solidFill>
                <a:latin typeface="Arial"/>
              </a:rPr>
              <a:t>A model calling arbitrary functions is unsafe on real data. Calls are restricted to declared signatures.</a:t>
            </a:r>
          </a:p>
          <a:p>
            <a:pPr algn="l">
              <a:lnSpc>
                <a:spcPct val="95000"/>
              </a:lnSpc>
              <a:spcBef>
                <a:spcPts val="400"/>
              </a:spcBef>
            </a:pPr>
            <a:r>
              <a:rPr sz="680" b="1" i="0">
                <a:solidFill>
                  <a:srgbClr val="595959"/>
                </a:solidFill>
                <a:latin typeface="Arial"/>
              </a:rPr>
              <a:t>→ Capability registry</a:t>
            </a:r>
          </a:p>
        </p:txBody>
      </p:sp>
      <p:sp>
        <p:nvSpPr>
          <p:cNvPr id="17417" name="Rectangle 17416"/>
          <p:cNvSpPr/>
          <p:nvPr/>
        </p:nvSpPr>
        <p:spPr>
          <a:xfrm>
            <a:off x="4204106" y="1773936"/>
            <a:ext cx="50292" cy="118872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8" name="Rounded Rectangle 17417"/>
          <p:cNvSpPr/>
          <p:nvPr/>
        </p:nvSpPr>
        <p:spPr>
          <a:xfrm>
            <a:off x="8133892" y="1773936"/>
            <a:ext cx="3783482" cy="1188720"/>
          </a:xfrm>
          <a:prstGeom prst="roundRect">
            <a:avLst>
              <a:gd name="adj" fmla="val 8000"/>
            </a:avLst>
          </a:prstGeom>
          <a:solidFill>
            <a:srgbClr val="FFFFFF"/>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l">
              <a:lnSpc>
                <a:spcPct val="95000"/>
              </a:lnSpc>
            </a:pPr>
            <a:r>
              <a:rPr sz="860" b="1" i="0">
                <a:solidFill>
                  <a:srgbClr val="0070C0"/>
                </a:solidFill>
                <a:latin typeface="Arial"/>
              </a:rPr>
              <a:t>Capability-aware orchestration</a:t>
            </a:r>
          </a:p>
          <a:p>
            <a:pPr algn="l">
              <a:lnSpc>
                <a:spcPct val="100000"/>
              </a:lnSpc>
              <a:spcBef>
                <a:spcPts val="300"/>
              </a:spcBef>
            </a:pPr>
            <a:r>
              <a:rPr sz="720" b="0" i="0">
                <a:solidFill>
                  <a:srgbClr val="1A1A1A"/>
                </a:solidFill>
                <a:latin typeface="Arial"/>
              </a:rPr>
              <a:t>Selection follows each tool's declared input contract, not name similarity to the query.</a:t>
            </a:r>
          </a:p>
          <a:p>
            <a:pPr algn="l">
              <a:lnSpc>
                <a:spcPct val="95000"/>
              </a:lnSpc>
              <a:spcBef>
                <a:spcPts val="400"/>
              </a:spcBef>
            </a:pPr>
            <a:r>
              <a:rPr sz="680" b="1" i="0">
                <a:solidFill>
                  <a:srgbClr val="595959"/>
                </a:solidFill>
                <a:latin typeface="Arial"/>
              </a:rPr>
              <a:t>→ Selection stage</a:t>
            </a:r>
          </a:p>
        </p:txBody>
      </p:sp>
      <p:sp>
        <p:nvSpPr>
          <p:cNvPr id="17419" name="Rectangle 17418"/>
          <p:cNvSpPr/>
          <p:nvPr/>
        </p:nvSpPr>
        <p:spPr>
          <a:xfrm>
            <a:off x="8133892" y="1773936"/>
            <a:ext cx="50292" cy="118872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0" name="Rounded Rectangle 17419"/>
          <p:cNvSpPr/>
          <p:nvPr/>
        </p:nvSpPr>
        <p:spPr>
          <a:xfrm>
            <a:off x="274320" y="3090672"/>
            <a:ext cx="3783482" cy="1188720"/>
          </a:xfrm>
          <a:prstGeom prst="roundRect">
            <a:avLst>
              <a:gd name="adj" fmla="val 8000"/>
            </a:avLst>
          </a:prstGeom>
          <a:solidFill>
            <a:srgbClr val="FFFFFF"/>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l">
              <a:lnSpc>
                <a:spcPct val="95000"/>
              </a:lnSpc>
            </a:pPr>
            <a:r>
              <a:rPr sz="860" b="1" i="0">
                <a:solidFill>
                  <a:srgbClr val="C00000"/>
                </a:solidFill>
                <a:latin typeface="Arial"/>
              </a:rPr>
              <a:t>Deterministic verification of model output</a:t>
            </a:r>
          </a:p>
          <a:p>
            <a:pPr algn="l">
              <a:lnSpc>
                <a:spcPct val="100000"/>
              </a:lnSpc>
              <a:spcBef>
                <a:spcPts val="300"/>
              </a:spcBef>
            </a:pPr>
            <a:r>
              <a:rPr sz="720" b="0" i="0">
                <a:solidFill>
                  <a:srgbClr val="1A1A1A"/>
                </a:solidFill>
                <a:latin typeface="Arial"/>
              </a:rPr>
              <a:t>Models are strong proposers and unreliable verifiers, so admissibility is decided by code.</a:t>
            </a:r>
          </a:p>
          <a:p>
            <a:pPr algn="l">
              <a:lnSpc>
                <a:spcPct val="95000"/>
              </a:lnSpc>
              <a:spcBef>
                <a:spcPts val="400"/>
              </a:spcBef>
            </a:pPr>
            <a:r>
              <a:rPr sz="680" b="1" i="0">
                <a:solidFill>
                  <a:srgbClr val="595959"/>
                </a:solidFill>
                <a:latin typeface="Arial"/>
              </a:rPr>
              <a:t>→ Validation gate</a:t>
            </a:r>
          </a:p>
        </p:txBody>
      </p:sp>
      <p:sp>
        <p:nvSpPr>
          <p:cNvPr id="17421" name="Rectangle 17420"/>
          <p:cNvSpPr/>
          <p:nvPr/>
        </p:nvSpPr>
        <p:spPr>
          <a:xfrm>
            <a:off x="274320" y="3090672"/>
            <a:ext cx="50292" cy="1188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2" name="Rounded Rectangle 17421"/>
          <p:cNvSpPr/>
          <p:nvPr/>
        </p:nvSpPr>
        <p:spPr>
          <a:xfrm>
            <a:off x="4204106" y="3090672"/>
            <a:ext cx="3783482" cy="1188720"/>
          </a:xfrm>
          <a:prstGeom prst="roundRect">
            <a:avLst>
              <a:gd name="adj" fmla="val 8000"/>
            </a:avLst>
          </a:prstGeom>
          <a:solidFill>
            <a:srgbClr val="FFFFFF"/>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l">
              <a:lnSpc>
                <a:spcPct val="95000"/>
              </a:lnSpc>
            </a:pPr>
            <a:r>
              <a:rPr sz="860" b="1" i="0">
                <a:solidFill>
                  <a:srgbClr val="1E7A3C"/>
                </a:solidFill>
                <a:latin typeface="Arial"/>
              </a:rPr>
              <a:t>Remote-sensing foundation models and VQA</a:t>
            </a:r>
          </a:p>
          <a:p>
            <a:pPr algn="l">
              <a:lnSpc>
                <a:spcPct val="100000"/>
              </a:lnSpc>
              <a:spcBef>
                <a:spcPts val="300"/>
              </a:spcBef>
            </a:pPr>
            <a:r>
              <a:rPr sz="720" b="0" i="0">
                <a:solidFill>
                  <a:srgbClr val="1A1A1A"/>
                </a:solidFill>
                <a:latin typeface="Arial"/>
              </a:rPr>
              <a:t>Pretrained geospatial and multimodal models supply scene-level understanding indices cannot express.</a:t>
            </a:r>
          </a:p>
          <a:p>
            <a:pPr algn="l">
              <a:lnSpc>
                <a:spcPct val="95000"/>
              </a:lnSpc>
              <a:spcBef>
                <a:spcPts val="400"/>
              </a:spcBef>
            </a:pPr>
            <a:r>
              <a:rPr sz="680" b="1" i="0">
                <a:solidFill>
                  <a:srgbClr val="595959"/>
                </a:solidFill>
                <a:latin typeface="Arial"/>
              </a:rPr>
              <a:t>→ Execution layer (next stage)</a:t>
            </a:r>
          </a:p>
        </p:txBody>
      </p:sp>
      <p:sp>
        <p:nvSpPr>
          <p:cNvPr id="17423" name="Rectangle 17422"/>
          <p:cNvSpPr/>
          <p:nvPr/>
        </p:nvSpPr>
        <p:spPr>
          <a:xfrm>
            <a:off x="4204106" y="3090672"/>
            <a:ext cx="50292" cy="1188720"/>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4" name="Rounded Rectangle 17423"/>
          <p:cNvSpPr/>
          <p:nvPr/>
        </p:nvSpPr>
        <p:spPr>
          <a:xfrm>
            <a:off x="8133892" y="3090672"/>
            <a:ext cx="3783482" cy="1188720"/>
          </a:xfrm>
          <a:prstGeom prst="roundRect">
            <a:avLst>
              <a:gd name="adj" fmla="val 8000"/>
            </a:avLst>
          </a:prstGeom>
          <a:solidFill>
            <a:srgbClr val="FFFFFF"/>
          </a:solidFill>
          <a:ln w="889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l">
              <a:lnSpc>
                <a:spcPct val="95000"/>
              </a:lnSpc>
            </a:pPr>
            <a:r>
              <a:rPr sz="860" b="1" i="0">
                <a:solidFill>
                  <a:srgbClr val="1F4E79"/>
                </a:solidFill>
                <a:latin typeface="Arial"/>
              </a:rPr>
              <a:t>Multi-temporal analysis and provenance</a:t>
            </a:r>
          </a:p>
          <a:p>
            <a:pPr algn="l">
              <a:lnSpc>
                <a:spcPct val="100000"/>
              </a:lnSpc>
              <a:spcBef>
                <a:spcPts val="300"/>
              </a:spcBef>
            </a:pPr>
            <a:r>
              <a:rPr sz="720" b="0" i="0">
                <a:solidFill>
                  <a:srgbClr val="1A1A1A"/>
                </a:solidFill>
                <a:latin typeface="Arial"/>
              </a:rPr>
              <a:t>Change is meaningful only on co-registered pairs; an answer is trustworthy only when its path is recorded.</a:t>
            </a:r>
          </a:p>
          <a:p>
            <a:pPr algn="l">
              <a:lnSpc>
                <a:spcPct val="95000"/>
              </a:lnSpc>
              <a:spcBef>
                <a:spcPts val="400"/>
              </a:spcBef>
            </a:pPr>
            <a:r>
              <a:rPr sz="680" b="1" i="0">
                <a:solidFill>
                  <a:srgbClr val="595959"/>
                </a:solidFill>
                <a:latin typeface="Arial"/>
              </a:rPr>
              <a:t>→ Execution + evidence integration</a:t>
            </a:r>
          </a:p>
        </p:txBody>
      </p:sp>
      <p:sp>
        <p:nvSpPr>
          <p:cNvPr id="17425" name="Rectangle 17424"/>
          <p:cNvSpPr/>
          <p:nvPr/>
        </p:nvSpPr>
        <p:spPr>
          <a:xfrm>
            <a:off x="8133892" y="3090672"/>
            <a:ext cx="50292" cy="118872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6" name="Rectangle 17425"/>
          <p:cNvSpPr/>
          <p:nvPr/>
        </p:nvSpPr>
        <p:spPr>
          <a:xfrm>
            <a:off x="274320" y="4480560"/>
            <a:ext cx="45720" cy="13716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7" name="TextBox 17426"/>
          <p:cNvSpPr txBox="1"/>
          <p:nvPr/>
        </p:nvSpPr>
        <p:spPr>
          <a:xfrm>
            <a:off x="384048" y="4443984"/>
            <a:ext cx="7315200" cy="210312"/>
          </a:xfrm>
          <a:prstGeom prst="rect">
            <a:avLst/>
          </a:prstGeom>
          <a:noFill/>
        </p:spPr>
        <p:txBody>
          <a:bodyPr wrap="square" anchor="ctr" lIns="0" rIns="0" tIns="18288" bIns="18288">
            <a:spAutoFit/>
          </a:bodyPr>
          <a:lstStyle/>
          <a:p>
            <a:pPr algn="l"/>
            <a:r>
              <a:rPr sz="1050" b="1" i="0">
                <a:solidFill>
                  <a:srgbClr val="1F4E79"/>
                </a:solidFill>
                <a:latin typeface="Arial"/>
              </a:rPr>
              <a:t>REFERENCES AND LINKS</a:t>
            </a:r>
          </a:p>
        </p:txBody>
      </p:sp>
      <p:sp>
        <p:nvSpPr>
          <p:cNvPr id="17428" name="Rounded Rectangle 17427"/>
          <p:cNvSpPr/>
          <p:nvPr/>
        </p:nvSpPr>
        <p:spPr>
          <a:xfrm>
            <a:off x="274320" y="4718304"/>
            <a:ext cx="8854135" cy="1517904"/>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9" name="TextBox 17428"/>
          <p:cNvSpPr txBox="1"/>
          <p:nvPr/>
        </p:nvSpPr>
        <p:spPr>
          <a:xfrm>
            <a:off x="420623" y="4846320"/>
            <a:ext cx="4225899" cy="1325880"/>
          </a:xfrm>
          <a:prstGeom prst="rect">
            <a:avLst/>
          </a:prstGeom>
          <a:noFill/>
        </p:spPr>
        <p:txBody>
          <a:bodyPr wrap="square" anchor="t" lIns="0" rIns="0" tIns="18288" bIns="18288">
            <a:spAutoFit/>
          </a:bodyPr>
          <a:lstStyle/>
          <a:p>
            <a:pPr algn="l">
              <a:lnSpc>
                <a:spcPct val="105000"/>
              </a:lnSpc>
            </a:pPr>
            <a:r>
              <a:rPr sz="720" b="0" i="0">
                <a:solidFill>
                  <a:srgbClr val="1A1A1A"/>
                </a:solidFill>
                <a:latin typeface="Arial"/>
              </a:rPr>
              <a:t>•  Yao et al., ReAct: Synergizing Reasoning and Acting in Language Models, ICLR 2023.</a:t>
            </a:r>
          </a:p>
          <a:p>
            <a:pPr algn="l">
              <a:lnSpc>
                <a:spcPct val="105000"/>
              </a:lnSpc>
              <a:spcBef>
                <a:spcPts val="900"/>
              </a:spcBef>
            </a:pPr>
            <a:r>
              <a:rPr sz="720" b="0" i="0">
                <a:solidFill>
                  <a:srgbClr val="1A1A1A"/>
                </a:solidFill>
                <a:latin typeface="Arial"/>
              </a:rPr>
              <a:t>•  Schick et al., Toolformer: Language Models Can Teach Themselves to Use Tools, NeurIPS 2023.</a:t>
            </a:r>
          </a:p>
          <a:p>
            <a:pPr algn="l">
              <a:lnSpc>
                <a:spcPct val="105000"/>
              </a:lnSpc>
              <a:spcBef>
                <a:spcPts val="900"/>
              </a:spcBef>
            </a:pPr>
            <a:r>
              <a:rPr sz="720" b="0" i="0">
                <a:solidFill>
                  <a:srgbClr val="1A1A1A"/>
                </a:solidFill>
                <a:latin typeface="Arial"/>
              </a:rPr>
              <a:t>•  Patil et al., Gorilla: Large Language Model Connected with Massive APIs, 2023.</a:t>
            </a:r>
          </a:p>
          <a:p>
            <a:pPr algn="l">
              <a:lnSpc>
                <a:spcPct val="105000"/>
              </a:lnSpc>
              <a:spcBef>
                <a:spcPts val="900"/>
              </a:spcBef>
            </a:pPr>
            <a:r>
              <a:rPr sz="720" b="0" i="0">
                <a:solidFill>
                  <a:srgbClr val="1A1A1A"/>
                </a:solidFill>
                <a:latin typeface="Arial"/>
              </a:rPr>
              <a:t>•  Jakubik et al., Foundation Models for Generalist Geospatial AI (Prithvi, IBM–NASA), 2023.</a:t>
            </a:r>
          </a:p>
        </p:txBody>
      </p:sp>
      <p:sp>
        <p:nvSpPr>
          <p:cNvPr id="17430" name="TextBox 17429"/>
          <p:cNvSpPr txBox="1"/>
          <p:nvPr/>
        </p:nvSpPr>
        <p:spPr>
          <a:xfrm>
            <a:off x="4774539" y="4846320"/>
            <a:ext cx="4225899" cy="1325880"/>
          </a:xfrm>
          <a:prstGeom prst="rect">
            <a:avLst/>
          </a:prstGeom>
          <a:noFill/>
        </p:spPr>
        <p:txBody>
          <a:bodyPr wrap="square" anchor="t" lIns="0" rIns="0" tIns="18288" bIns="18288">
            <a:spAutoFit/>
          </a:bodyPr>
          <a:lstStyle/>
          <a:p>
            <a:pPr algn="l">
              <a:lnSpc>
                <a:spcPct val="105000"/>
              </a:lnSpc>
            </a:pPr>
            <a:r>
              <a:rPr sz="720" b="0" i="0">
                <a:solidFill>
                  <a:srgbClr val="1A1A1A"/>
                </a:solidFill>
                <a:latin typeface="Arial"/>
              </a:rPr>
              <a:t>•  Lobry et al., RSVQA: Visual Question Answering for Remote Sensing Data, IEEE TGRS 2020.</a:t>
            </a:r>
          </a:p>
          <a:p>
            <a:pPr algn="l">
              <a:lnSpc>
                <a:spcPct val="105000"/>
              </a:lnSpc>
              <a:spcBef>
                <a:spcPts val="900"/>
              </a:spcBef>
            </a:pPr>
            <a:r>
              <a:rPr sz="720" b="0" i="0">
                <a:solidFill>
                  <a:srgbClr val="1A1A1A"/>
                </a:solidFill>
                <a:latin typeface="Arial"/>
              </a:rPr>
              <a:t>•  Bastani et al., SatlasPretrain: Remote Sensing Image Understanding, ICCV 2023.</a:t>
            </a:r>
          </a:p>
          <a:p>
            <a:pPr algn="l">
              <a:lnSpc>
                <a:spcPct val="105000"/>
              </a:lnSpc>
              <a:spcBef>
                <a:spcPts val="900"/>
              </a:spcBef>
            </a:pPr>
            <a:r>
              <a:rPr sz="720" b="0" i="0">
                <a:solidFill>
                  <a:srgbClr val="1A1A1A"/>
                </a:solidFill>
                <a:latin typeface="Arial"/>
              </a:rPr>
              <a:t>•  ESA, Sentinel-2 Level-2A Product Specification — Scene Classification (SCL), baseline 04.00.</a:t>
            </a:r>
          </a:p>
          <a:p>
            <a:pPr algn="l">
              <a:lnSpc>
                <a:spcPct val="105000"/>
              </a:lnSpc>
              <a:spcBef>
                <a:spcPts val="900"/>
              </a:spcBef>
            </a:pPr>
            <a:r>
              <a:rPr sz="720" b="0" i="0">
                <a:solidFill>
                  <a:srgbClr val="1A1A1A"/>
                </a:solidFill>
                <a:latin typeface="Arial"/>
              </a:rPr>
              <a:t>•  USGS, Landsat Collection 2 Level-2 — QA_PIXEL bit definitions.</a:t>
            </a:r>
          </a:p>
        </p:txBody>
      </p:sp>
      <p:sp>
        <p:nvSpPr>
          <p:cNvPr id="17431" name="Rounded Rectangle 17430"/>
          <p:cNvSpPr/>
          <p:nvPr/>
        </p:nvSpPr>
        <p:spPr>
          <a:xfrm>
            <a:off x="9265615" y="4718304"/>
            <a:ext cx="2651760" cy="1517904"/>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2" name="Rounded Rectangle 17431"/>
          <p:cNvSpPr/>
          <p:nvPr/>
        </p:nvSpPr>
        <p:spPr>
          <a:xfrm>
            <a:off x="9411919" y="4864608"/>
            <a:ext cx="914400"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50" b="1" i="0">
                <a:solidFill>
                  <a:srgbClr val="595959"/>
                </a:solidFill>
                <a:latin typeface="Arial"/>
              </a:rPr>
              <a:t>[ QR ]</a:t>
            </a:r>
          </a:p>
        </p:txBody>
      </p:sp>
      <p:sp>
        <p:nvSpPr>
          <p:cNvPr id="17433" name="TextBox 17432"/>
          <p:cNvSpPr txBox="1"/>
          <p:nvPr/>
        </p:nvSpPr>
        <p:spPr>
          <a:xfrm>
            <a:off x="10436047" y="4864608"/>
            <a:ext cx="1371600" cy="932688"/>
          </a:xfrm>
          <a:prstGeom prst="rect">
            <a:avLst/>
          </a:prstGeom>
          <a:noFill/>
        </p:spPr>
        <p:txBody>
          <a:bodyPr wrap="square" anchor="t" lIns="0" rIns="0" tIns="18288" bIns="18288">
            <a:spAutoFit/>
          </a:bodyPr>
          <a:lstStyle/>
          <a:p>
            <a:pPr algn="l"/>
            <a:r>
              <a:rPr sz="660" b="1" i="0">
                <a:solidFill>
                  <a:srgbClr val="ED7D31"/>
                </a:solidFill>
                <a:latin typeface="Arial"/>
              </a:rPr>
              <a:t>GITHUB</a:t>
            </a:r>
          </a:p>
          <a:p>
            <a:pPr algn="l">
              <a:lnSpc>
                <a:spcPct val="105000"/>
              </a:lnSpc>
            </a:pPr>
            <a:r>
              <a:rPr sz="700" b="1" i="0">
                <a:solidFill>
                  <a:srgbClr val="FFFFFF"/>
                </a:solidFill>
                <a:latin typeface="Arial"/>
              </a:rPr>
              <a:t>github.com/
VinayakGupta-1/
SatQuery-AI</a:t>
            </a:r>
          </a:p>
        </p:txBody>
      </p:sp>
      <p:sp>
        <p:nvSpPr>
          <p:cNvPr id="17434" name="TextBox 17433"/>
          <p:cNvSpPr txBox="1"/>
          <p:nvPr/>
        </p:nvSpPr>
        <p:spPr>
          <a:xfrm>
            <a:off x="9411919" y="5870448"/>
            <a:ext cx="2377440" cy="329184"/>
          </a:xfrm>
          <a:prstGeom prst="rect">
            <a:avLst/>
          </a:prstGeom>
          <a:noFill/>
        </p:spPr>
        <p:txBody>
          <a:bodyPr wrap="square" anchor="t" lIns="0" rIns="0" tIns="18288" bIns="18288">
            <a:spAutoFit/>
          </a:bodyPr>
          <a:lstStyle/>
          <a:p>
            <a:pPr algn="l"/>
            <a:r>
              <a:rPr sz="660" b="1" i="0">
                <a:solidFill>
                  <a:srgbClr val="ED7D31"/>
                </a:solidFill>
                <a:latin typeface="Arial"/>
              </a:rPr>
              <a:t>LIVE DEMO</a:t>
            </a:r>
          </a:p>
          <a:p>
            <a:pPr algn="l">
              <a:lnSpc>
                <a:spcPct val="105000"/>
              </a:lnSpc>
            </a:pPr>
            <a:r>
              <a:rPr sz="750" b="1" i="0">
                <a:solidFill>
                  <a:srgbClr val="FFFFFF"/>
                </a:solidFill>
                <a:latin typeface="Arial"/>
              </a:rPr>
              <a:t>[ INSERT WEB DEMO LINK ]</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7490</TotalTime>
  <Words>338</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Saurabh Sharma</cp:lastModifiedBy>
  <cp:revision>150</cp:revision>
  <dcterms:created xsi:type="dcterms:W3CDTF">2013-12-12T18:46:50Z</dcterms:created>
  <dcterms:modified xsi:type="dcterms:W3CDTF">2026-09-02T13:46:48Z</dcterms:modified>
  <cp:category/>
</cp:coreProperties>
</file>